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6" r:id="rId37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7" r:id="rId38"/>
    <p:sldId id="270" r:id="rId16"/>
    <p:sldId id="288" r:id="rId39"/>
    <p:sldId id="271" r:id="rId17"/>
    <p:sldId id="289" r:id="rId40"/>
    <p:sldId id="272" r:id="rId18"/>
    <p:sldId id="290" r:id="rId41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5" r:id="rId36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3E8A40E-CEB9-04EC-7776-B1AA99F9BD4B}">
          <p14:sldIdLst>
            <p14:sldId id="256"/>
            <p14:sldId id="257"/>
            <p14:sldId id="258"/>
            <p14:sldId id="259"/>
            <p14:sldId id="260"/>
          </p14:sldIdLst>
        </p14:section>
        <p14:section name="1.5.1 Elementos" id="{1E225F5E-8C0E-62EA-2270-8048E71E3DD0}">
          <p14:sldIdLst>
            <p14:sldId id="261"/>
            <p14:sldId id="262"/>
            <p14:sldId id="263"/>
          </p14:sldIdLst>
        </p14:section>
        <p14:section name="1.5.2 Importância" id="{28B87070-4078-FDD3-B437-E038E514E2B6}">
          <p14:sldIdLst>
            <p14:sldId id="264"/>
            <p14:sldId id="265"/>
            <p14:sldId id="266"/>
          </p14:sldIdLst>
        </p14:section>
        <p14:section name="1.5.3 Tipos de conexão" id="{1DF8A5B9-7983-F32A-8E69-8BCE6E24C5E3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1.5.4 Velocidade" id="{09C21D30-D98F-BF21-9418-9203BA710C24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Encerramento" id="{B257FCD5-44FE-4A12-D7DF-3EC3C0E6BEA1}">
          <p14:sldIdLst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23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30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29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4832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Tema do dia: como os aparelhos conversam entre si e como a internet chega até as nossas casas. Aula pensada para 3 períodos (≈135 min) ou 2 encontros: teoria e charadas no 1º; medição de velocidade e pesquisa no computador no 2º.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 e volte a eles no fechamento (slide de revisão).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roteiro. Combine com a turma: etiqueta laranja no topo do slide = hora de participar.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Aquecimento (5 min). Faça as perguntas e conte as mãos. Valorize as respostas: quase todos já usam redes todos os dias, mesmo sem saber o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comparação com as ruas da cidade ou com os Correios. Pergunte: 'Na sua casa, quais aparelhos usam a internet?'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objetos reais: um cabo de rede, o roteador do laboratório. Protocolo = regra combinada, como falar o mesmo idioma.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(10 min), em duplas. Aproveite para mostrar o roteador/switch do laboratório e as luzinhas piscando (sinal de dados passando).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exemplos da vida dos alunos: quem já marcou consulta pelo celular? Quem já fez Pix?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rápida (5 min). Conte as mãos e escreva o placar no quadro.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Desenhe no quadro a rede da casa de um aluno: modem/roteador no centro e os aparelhos em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ADSL usa o fio de cobre do telefone. Velocidades baixas (em geral até 10 a 20 Mbps). Pergunte se alguém lembra da internet discada ou do 'Speedy'.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possível, leve um pedaço de cabo de fibra ou mostre uma foto. Explique que a luz vai 'quicando' dentro do vidro.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símbolo 4G/5G na barra do celular. Explique franquia (mais adiante tem um slide só sobre isso). Dica: o celular pode virar roteador ('roteador Wi-Fi' / 'ancoragem').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Satélites antigos ficavam a 36 mil km: a internet demorava para responder. Os da Starlink ficam a cerca de 550 km, por isso respondem bem mais rápido. Bom exemplo para quem tem família na zona rural.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a tabela com a turma e relacione com a realidade de cada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Respostas: 1) Fibra óptica  2) 3G/4G/5G  3) ADSL  4) Satélite (ex.: Starlink).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Público da EJA é alvo frequente de golpes. Pergunte se alguém já recebeu mensagem pedindo código. Reforce: banco e WhatsApp nunca pedem código por telefone.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Ping 10 ms é ótimo; 600 ms (satélite antigo) é lento para responder. Lembre: 1 Gbps = 1.000 Mbps.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byte = 8 bits, por isso divide por 8. Exercício: 'Minha internet é de 80 Mbps. Quantos MB por segundo?' (80 ÷ 8 = 10 MB/s). 'Quanto tempo para um app de 100 MB?' (100 ÷ 10 = 10 segundos).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aproximados — variam com a qualidade do vídeo e do aplicativo. Dicas para economizar: baixar apps e atualizações só no Wi-Fi; desligar o download automático de vídeos no WhatsApp; assistir vídeo em qualidade menor nos dados móveis. Pergunte: 'Quantos GB tem o plano de vocês?'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no projetor antes. Muitos testando ao mesmo tempo dividem a internet da escola — isso também é aprendizado! Pela regra da Anatel, a operadora deve entregar em média pelo menos 80% da velocidade contratada.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Prática (15 min). Quem não quiser gastar dados do celular pode pular a última linha. No fim, monte no quadro a média da turma.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Prática (20-25 min). Ensine a digitar a pesquisa e a achar preço e velocidade nos sites das operadoras. Conta simples: preço ÷ (Mbps ÷ 100).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Revisão oral: cada aluno diz uma coisa que aprendeu. Se der tempo, repita as charadas.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Tarefa ligada à vida real. Na próxima aula, retome os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Quiz final no Kahoot (10 a 15 min). Antes da aula, importe a planilha Kahoot_Redes_EJA.xlsx no Kahoot (Criar &gt; Adicionar pergunta &gt; Importar planilha) e escreva aqui o PIN. Quem não tiver celular joga em dupla ou no computador do laboratório. Depois de cada pergunta, comente rapidamente a resposta certa.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Mostre as fotos e, se possível, os objetos reais do laboratório (cabo, roteador, switch). Pergunte: "Alguém já viu um desses no trabalho ou em casa?". A placa de rede fica dentro do computador; nos notebooks e celulares ela já vem embutida.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Pergunte quem ainda tem telefone fixo em casa ou lembra do modem ADSL. Muitos desses armários de rua hoje também guardam equipamentos de fibra.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foto das fibras acesas é de um abajur, e é o mesmo princípio da internet: a luz vai "quicando" dentro do vidro. O cabo branco com conector verde é o que o técnico passa do poste até dentro de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Pergunte se alguém já viu uma torre perto de casa. Mostre o chip do seu celular (se puder) e o símbolo 4G/5G na barra de cima da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foto dos satélites é da SpaceX (domínio público) e mostra dezenas de satélites empilhados no foguete, antes de serem soltos no espaço. Compare a antena Starlink, pequena e plana, com a parabólica, que muitos alunos conhecem da TV.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1737360" cy="6766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88036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Informática  ·  EJA  ·  Redes de computadores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1.png"/><Relationship Id="rId4" Type="http://schemas.openxmlformats.org/officeDocument/2006/relationships/image" Target="../media/image46.png"/><Relationship Id="rId5" Type="http://schemas.openxmlformats.org/officeDocument/2006/relationships/image" Target="../media/image52.png"/><Relationship Id="rId6" Type="http://schemas.openxmlformats.org/officeDocument/2006/relationships/image" Target="../media/image48.png"/><Relationship Id="rId7" Type="http://schemas.openxmlformats.org/officeDocument/2006/relationships/image" Target="../media/image5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51.png"/><Relationship Id="rId10" Type="http://schemas.openxmlformats.org/officeDocument/2006/relationships/image" Target="../media/image55.png"/><Relationship Id="rId11" Type="http://schemas.openxmlformats.org/officeDocument/2006/relationships/image" Target="../media/image57.png"/><Relationship Id="rId12" Type="http://schemas.openxmlformats.org/officeDocument/2006/relationships/image" Target="../media/image5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51.png"/><Relationship Id="rId10" Type="http://schemas.openxmlformats.org/officeDocument/2006/relationships/image" Target="../media/image63.png"/><Relationship Id="rId11" Type="http://schemas.openxmlformats.org/officeDocument/2006/relationships/image" Target="../media/image54.png"/><Relationship Id="rId12" Type="http://schemas.openxmlformats.org/officeDocument/2006/relationships/image" Target="../media/image64.png"/><Relationship Id="rId13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10.png"/><Relationship Id="rId6" Type="http://schemas.openxmlformats.org/officeDocument/2006/relationships/image" Target="../media/image25.png"/><Relationship Id="rId7" Type="http://schemas.openxmlformats.org/officeDocument/2006/relationships/image" Target="../media/image68.png"/><Relationship Id="rId8" Type="http://schemas.openxmlformats.org/officeDocument/2006/relationships/image" Target="../media/image45.png"/><Relationship Id="rId9" Type="http://schemas.openxmlformats.org/officeDocument/2006/relationships/image" Target="../media/image56.png"/><Relationship Id="rId10" Type="http://schemas.openxmlformats.org/officeDocument/2006/relationships/image" Target="../media/image6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7.png"/><Relationship Id="rId4" Type="http://schemas.openxmlformats.org/officeDocument/2006/relationships/image" Target="../media/image17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1.png"/><Relationship Id="rId9" Type="http://schemas.openxmlformats.org/officeDocument/2006/relationships/image" Target="../media/image52.png"/><Relationship Id="rId10" Type="http://schemas.openxmlformats.org/officeDocument/2006/relationships/image" Target="../media/image51.png"/><Relationship Id="rId11" Type="http://schemas.openxmlformats.org/officeDocument/2006/relationships/image" Target="../media/image55.png"/><Relationship Id="rId12" Type="http://schemas.openxmlformats.org/officeDocument/2006/relationships/image" Target="../media/image57.png"/><Relationship Id="rId13" Type="http://schemas.openxmlformats.org/officeDocument/2006/relationships/image" Target="../media/image7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Relationship Id="rId4" Type="http://schemas.openxmlformats.org/officeDocument/2006/relationships/image" Target="../media/image28.png"/><Relationship Id="rId5" Type="http://schemas.openxmlformats.org/officeDocument/2006/relationships/image" Target="../media/image17.png"/><Relationship Id="rId6" Type="http://schemas.openxmlformats.org/officeDocument/2006/relationships/image" Target="../media/image11.png"/><Relationship Id="rId7" Type="http://schemas.openxmlformats.org/officeDocument/2006/relationships/image" Target="../media/image66.png"/><Relationship Id="rId8" Type="http://schemas.openxmlformats.org/officeDocument/2006/relationships/image" Target="../media/image7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Relationship Id="rId4" Type="http://schemas.openxmlformats.org/officeDocument/2006/relationships/image" Target="../media/image11.png"/><Relationship Id="rId5" Type="http://schemas.openxmlformats.org/officeDocument/2006/relationships/image" Target="../media/image17.png"/><Relationship Id="rId6" Type="http://schemas.openxmlformats.org/officeDocument/2006/relationships/image" Target="../media/image66.png"/><Relationship Id="rId7" Type="http://schemas.openxmlformats.org/officeDocument/2006/relationships/image" Target="../media/image7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9.png"/><Relationship Id="rId4" Type="http://schemas.openxmlformats.org/officeDocument/2006/relationships/image" Target="../media/image8.png"/><Relationship Id="rId5" Type="http://schemas.openxmlformats.org/officeDocument/2006/relationships/image" Target="../media/image30.png"/><Relationship Id="rId6" Type="http://schemas.openxmlformats.org/officeDocument/2006/relationships/image" Target="../media/image11.png"/><Relationship Id="rId7" Type="http://schemas.openxmlformats.org/officeDocument/2006/relationships/image" Target="../media/image75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17.png"/><Relationship Id="rId6" Type="http://schemas.openxmlformats.org/officeDocument/2006/relationships/image" Target="../media/image11.png"/><Relationship Id="rId7" Type="http://schemas.openxmlformats.org/officeDocument/2006/relationships/image" Target="../media/image76.png"/><Relationship Id="rId8" Type="http://schemas.openxmlformats.org/officeDocument/2006/relationships/image" Target="../media/image47.png"/><Relationship Id="rId9" Type="http://schemas.openxmlformats.org/officeDocument/2006/relationships/image" Target="../media/image7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Relationship Id="rId4" Type="http://schemas.openxmlformats.org/officeDocument/2006/relationships/image" Target="../media/image7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3.png"/><Relationship Id="rId4" Type="http://schemas.openxmlformats.org/officeDocument/2006/relationships/image" Target="../media/image8.png"/><Relationship Id="rId5" Type="http://schemas.openxmlformats.org/officeDocument/2006/relationships/image" Target="../media/image34.png"/><Relationship Id="rId6" Type="http://schemas.openxmlformats.org/officeDocument/2006/relationships/image" Target="../media/image14.png"/><Relationship Id="rId7" Type="http://schemas.openxmlformats.org/officeDocument/2006/relationships/image" Target="../media/image80.png"/><Relationship Id="rId8" Type="http://schemas.openxmlformats.org/officeDocument/2006/relationships/image" Target="../media/image54.png"/><Relationship Id="rId9" Type="http://schemas.openxmlformats.org/officeDocument/2006/relationships/image" Target="../media/image81.png"/><Relationship Id="rId10" Type="http://schemas.openxmlformats.org/officeDocument/2006/relationships/image" Target="../media/image55.png"/><Relationship Id="rId11" Type="http://schemas.openxmlformats.org/officeDocument/2006/relationships/image" Target="../media/image8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4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9.png"/><Relationship Id="rId4" Type="http://schemas.openxmlformats.org/officeDocument/2006/relationships/image" Target="../media/image85.png"/><Relationship Id="rId5" Type="http://schemas.openxmlformats.org/officeDocument/2006/relationships/image" Target="../media/image4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0.png"/><Relationship Id="rId4" Type="http://schemas.openxmlformats.org/officeDocument/2006/relationships/image" Target="../media/image5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Relationship Id="rId4" Type="http://schemas.openxmlformats.org/officeDocument/2006/relationships/image" Target="../media/image78.png"/><Relationship Id="rId5" Type="http://schemas.openxmlformats.org/officeDocument/2006/relationships/image" Target="../media/image86.png"/><Relationship Id="rId6" Type="http://schemas.openxmlformats.org/officeDocument/2006/relationships/image" Target="../media/image87.png"/><Relationship Id="rId7" Type="http://schemas.openxmlformats.org/officeDocument/2006/relationships/image" Target="../media/image8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1.png"/><Relationship Id="rId4" Type="http://schemas.openxmlformats.org/officeDocument/2006/relationships/image" Target="../media/image5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2.png"/><Relationship Id="rId4" Type="http://schemas.openxmlformats.org/officeDocument/2006/relationships/image" Target="../media/image50.png"/><Relationship Id="rId5" Type="http://schemas.openxmlformats.org/officeDocument/2006/relationships/image" Target="../media/image8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3.png"/><Relationship Id="rId4" Type="http://schemas.openxmlformats.org/officeDocument/2006/relationships/image" Target="../media/image9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4.png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7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3.jpg"/><Relationship Id="rId3" Type="http://schemas.openxmlformats.org/officeDocument/2006/relationships/image" Target="../media/image94.jpg"/><Relationship Id="rId4" Type="http://schemas.openxmlformats.org/officeDocument/2006/relationships/image" Target="../media/image95.jpg"/><Relationship Id="rId5" Type="http://schemas.openxmlformats.org/officeDocument/2006/relationships/image" Target="../media/image96.jpg"/><Relationship Id="rId6" Type="http://schemas.openxmlformats.org/officeDocument/2006/relationships/image" Target="../media/image97.jpg"/><Relationship Id="rId7" Type="http://schemas.openxmlformats.org/officeDocument/2006/relationships/image" Target="../media/image98.jpg"/><Relationship Id="rId8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9.jpg"/><Relationship Id="rId3" Type="http://schemas.openxmlformats.org/officeDocument/2006/relationships/image" Target="../media/image100.jpg"/><Relationship Id="rId4" Type="http://schemas.openxmlformats.org/officeDocument/2006/relationships/image" Target="../media/image101.jp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2.jpg"/><Relationship Id="rId3" Type="http://schemas.openxmlformats.org/officeDocument/2006/relationships/image" Target="../media/image103.jpg"/><Relationship Id="rId4" Type="http://schemas.openxmlformats.org/officeDocument/2006/relationships/image" Target="../media/image104.jpg"/><Relationship Id="rId5" Type="http://schemas.openxmlformats.org/officeDocument/2006/relationships/image" Target="../media/image105.jp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9.jpg"/><Relationship Id="rId3" Type="http://schemas.openxmlformats.org/officeDocument/2006/relationships/image" Target="../media/image110.jpg"/><Relationship Id="rId4" Type="http://schemas.openxmlformats.org/officeDocument/2006/relationships/image" Target="../media/image111.jpg"/><Relationship Id="rId5" Type="http://schemas.openxmlformats.org/officeDocument/2006/relationships/image" Target="../media/image112.jpg"/><Relationship Id="rId6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1600200"/>
            <a:ext cx="2866644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28666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INFORMÁTICA · EJA</a:t>
            </a:r>
            <a:endParaRPr lang="pt-BR" sz="10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2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 de computadores</a:t>
            </a:r>
            <a:endParaRPr lang="pt-BR" sz="42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9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os aparelhos conversam entre si — e como a internet chega até você</a:t>
            </a:r>
            <a:endParaRPr lang="pt-BR" sz="1900" noProof="0" dirty="0"/>
          </a:p>
        </p:txBody>
      </p:sp>
      <p:sp>
        <p:nvSpPr>
          <p:cNvPr id="6" name="Shape 4"/>
          <p:cNvSpPr/>
          <p:nvPr/>
        </p:nvSpPr>
        <p:spPr>
          <a:xfrm>
            <a:off x="822960" y="4343400"/>
            <a:ext cx="7498080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548640" cy="54864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15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09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de </a:t>
            </a:r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rede</a:t>
            </a:r>
            <a:endParaRPr lang="pt-BR" sz="2400" noProof="0" dirty="0"/>
          </a:p>
        </p:txBody>
      </p:sp>
      <p:sp>
        <p:nvSpPr>
          <p:cNvPr id="10" name="Shape 8"/>
          <p:cNvSpPr/>
          <p:nvPr/>
        </p:nvSpPr>
        <p:spPr>
          <a:xfrm>
            <a:off x="3063240" y="406908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5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4709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de </a:t>
            </a:r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rede</a:t>
            </a:r>
            <a:endParaRPr lang="pt-BR" sz="2400" noProof="0" dirty="0"/>
          </a:p>
        </p:txBody>
      </p:sp>
      <p:sp>
        <p:nvSpPr>
          <p:cNvPr id="13" name="Shape 11"/>
          <p:cNvSpPr/>
          <p:nvPr/>
        </p:nvSpPr>
        <p:spPr>
          <a:xfrm>
            <a:off x="5577840" y="406908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50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4709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local, ADSL, </a:t>
            </a:r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fibra, 4G e satélite</a:t>
            </a:r>
            <a:endParaRPr lang="pt-BR" sz="2400" noProof="0" dirty="0"/>
          </a:p>
        </p:txBody>
      </p:sp>
      <p:sp>
        <p:nvSpPr>
          <p:cNvPr id="16" name="Shape 14"/>
          <p:cNvSpPr/>
          <p:nvPr/>
        </p:nvSpPr>
        <p:spPr>
          <a:xfrm>
            <a:off x="8092440" y="406908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80924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1500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4709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</a:t>
            </a:r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conexão</a:t>
            </a:r>
            <a:endParaRPr lang="pt-BR" sz="2400" noProof="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Douglas Camargo Carvalho</a:t>
            </a:r>
            <a:endParaRPr lang="pt-BR" sz="1400" noProof="0" dirty="0"/>
          </a:p>
          <a:p>
            <a:pPr marL="0" indent="0">
              <a:buNone/>
            </a:pPr>
            <a:r>
              <a:rPr lang="pt-BR" sz="1400" noProof="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IFSul – Câmpus Sapiranga</a:t>
            </a:r>
            <a:endParaRPr lang="pt-BR" sz="1400" noProof="0" dirty="0"/>
          </a:p>
        </p:txBody>
      </p:sp>
      <p:pic>
        <p:nvPicPr>
          <p:cNvPr id="20" name="Ilustração hero_capa" descr="Planeta conectado a casa, satélite, notebook e celul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914400"/>
            <a:ext cx="3017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 APRENDIZAGEM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final desta aula, você será capaz de…</a:t>
            </a:r>
            <a:endParaRPr lang="pt-BR" sz="3000" noProof="0" dirty="0"/>
          </a:p>
        </p:txBody>
      </p:sp>
      <p:sp>
        <p:nvSpPr>
          <p:cNvPr id="5" name="Cartão"/>
          <p:cNvSpPr/>
          <p:nvPr/>
        </p:nvSpPr>
        <p:spPr>
          <a:xfrm>
            <a:off x="548640" y="178308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208483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19202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os elementos de uma rede</a:t>
            </a:r>
            <a:endParaRPr lang="pt-BR" sz="1600" noProof="0" dirty="0"/>
          </a:p>
          <a:p>
            <a:pPr marL="0" indent="0">
              <a:buNone/>
            </a:pPr>
            <a:r>
              <a:rPr lang="pt-BR" sz="15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aparelhos, cabos, Wi-Fi, roteador e provedor</a:t>
            </a:r>
            <a:endParaRPr lang="pt-BR" sz="1600" noProof="0" dirty="0"/>
          </a:p>
        </p:txBody>
      </p:sp>
      <p:sp>
        <p:nvSpPr>
          <p:cNvPr id="9" name="Cartão"/>
          <p:cNvSpPr/>
          <p:nvPr/>
        </p:nvSpPr>
        <p:spPr>
          <a:xfrm>
            <a:off x="6126480" y="178308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7"/>
          <p:cNvSpPr/>
          <p:nvPr/>
        </p:nvSpPr>
        <p:spPr>
          <a:xfrm>
            <a:off x="6355080" y="208483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8"/>
          <p:cNvSpPr txBox="1"/>
          <p:nvPr/>
        </p:nvSpPr>
        <p:spPr>
          <a:xfrm>
            <a:off x="7178040" y="19202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por que as redes são importantes</a:t>
            </a:r>
            <a:endParaRPr lang="pt-BR" sz="1600" noProof="0" dirty="0"/>
          </a:p>
          <a:p>
            <a:pPr marL="0" indent="0">
              <a:buNone/>
            </a:pPr>
            <a:r>
              <a:rPr lang="pt-BR" sz="15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comunicação, nos serviços e no trabalho</a:t>
            </a:r>
            <a:endParaRPr lang="pt-BR" sz="1600" noProof="0" dirty="0"/>
          </a:p>
        </p:txBody>
      </p:sp>
      <p:sp>
        <p:nvSpPr>
          <p:cNvPr id="13" name="Cartão"/>
          <p:cNvSpPr/>
          <p:nvPr/>
        </p:nvSpPr>
        <p:spPr>
          <a:xfrm>
            <a:off x="548640" y="324612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Shape 10"/>
          <p:cNvSpPr/>
          <p:nvPr/>
        </p:nvSpPr>
        <p:spPr>
          <a:xfrm>
            <a:off x="777240" y="354787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1"/>
          <p:cNvSpPr txBox="1"/>
          <p:nvPr/>
        </p:nvSpPr>
        <p:spPr>
          <a:xfrm>
            <a:off x="1600200" y="33832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os tipos de conexão</a:t>
            </a:r>
            <a:endParaRPr lang="pt-BR" sz="1600" noProof="0" dirty="0"/>
          </a:p>
          <a:p>
            <a:pPr marL="0" indent="0">
              <a:buNone/>
            </a:pPr>
            <a:r>
              <a:rPr lang="pt-BR" sz="15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local, ADSL, fibra, 3G/4G/5G e satélite</a:t>
            </a:r>
            <a:endParaRPr lang="pt-BR" sz="1600" noProof="0" dirty="0"/>
          </a:p>
        </p:txBody>
      </p:sp>
      <p:sp>
        <p:nvSpPr>
          <p:cNvPr id="17" name="Cartão"/>
          <p:cNvSpPr/>
          <p:nvPr/>
        </p:nvSpPr>
        <p:spPr>
          <a:xfrm>
            <a:off x="6126480" y="324612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Shape 13"/>
          <p:cNvSpPr/>
          <p:nvPr/>
        </p:nvSpPr>
        <p:spPr>
          <a:xfrm>
            <a:off x="6355080" y="354787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4"/>
          <p:cNvSpPr txBox="1"/>
          <p:nvPr/>
        </p:nvSpPr>
        <p:spPr>
          <a:xfrm>
            <a:off x="7178040" y="33832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velocidade e franquia</a:t>
            </a:r>
            <a:endParaRPr lang="pt-BR" sz="1600" noProof="0" dirty="0"/>
          </a:p>
          <a:p>
            <a:pPr marL="0" indent="0">
              <a:buNone/>
            </a:pPr>
            <a:r>
              <a:rPr lang="pt-BR" sz="15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Mbps, download, upload, </a:t>
            </a:r>
            <a:r>
              <a:rPr lang="pt-BR" sz="1500" noProof="0" dirty="0" err="1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</a:t>
            </a:r>
            <a:r>
              <a:rPr lang="pt-BR" sz="15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GB do plano</a:t>
            </a:r>
            <a:endParaRPr lang="pt-BR" sz="1600" noProof="0" dirty="0"/>
          </a:p>
        </p:txBody>
      </p:sp>
      <p:sp>
        <p:nvSpPr>
          <p:cNvPr id="21" name="Cartão"/>
          <p:cNvSpPr/>
          <p:nvPr/>
        </p:nvSpPr>
        <p:spPr>
          <a:xfrm>
            <a:off x="548640" y="470916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Shape 16"/>
          <p:cNvSpPr/>
          <p:nvPr/>
        </p:nvSpPr>
        <p:spPr>
          <a:xfrm>
            <a:off x="777240" y="501091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4" name="Text 17"/>
          <p:cNvSpPr txBox="1"/>
          <p:nvPr/>
        </p:nvSpPr>
        <p:spPr>
          <a:xfrm>
            <a:off x="1600200" y="48463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a velocidade da internet</a:t>
            </a:r>
            <a:endParaRPr lang="pt-BR" sz="1600" noProof="0" dirty="0"/>
          </a:p>
          <a:p>
            <a:pPr marL="0" indent="0">
              <a:buNone/>
            </a:pPr>
            <a:r>
              <a:rPr lang="pt-BR" sz="15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um site de teste no navegador</a:t>
            </a:r>
            <a:endParaRPr lang="pt-BR" sz="1600" noProof="0" dirty="0"/>
          </a:p>
        </p:txBody>
      </p:sp>
      <p:sp>
        <p:nvSpPr>
          <p:cNvPr id="25" name="Cartão"/>
          <p:cNvSpPr/>
          <p:nvPr/>
        </p:nvSpPr>
        <p:spPr>
          <a:xfrm>
            <a:off x="6126480" y="470916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Shape 19"/>
          <p:cNvSpPr/>
          <p:nvPr/>
        </p:nvSpPr>
        <p:spPr>
          <a:xfrm>
            <a:off x="6355080" y="501091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8" name="Text 20"/>
          <p:cNvSpPr txBox="1"/>
          <p:nvPr/>
        </p:nvSpPr>
        <p:spPr>
          <a:xfrm>
            <a:off x="7178040" y="48463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Pesquisar e comparar planos</a:t>
            </a:r>
            <a:endParaRPr lang="pt-BR" sz="1600" noProof="0" dirty="0"/>
          </a:p>
          <a:p>
            <a:pPr marL="0" indent="0">
              <a:buNone/>
            </a:pPr>
            <a:r>
              <a:rPr lang="pt-BR" sz="15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escolher o que vale mais a pena</a:t>
            </a:r>
            <a:endParaRPr lang="pt-BR" sz="1600" noProof="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2</a:t>
            </a:fld>
            <a:endParaRPr lang="pt-BR" noProof="0" dirty="0"/>
          </a:p>
        </p:txBody>
      </p:sp>
      <p:pic>
        <p:nvPicPr>
          <p:cNvPr id="30" name="Ilustração link" descr="link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648" y="2155240"/>
            <a:ext cx="499262" cy="499262"/>
          </a:xfrm>
          <a:prstGeom prst="rect">
            <a:avLst/>
          </a:prstGeom>
        </p:spPr>
      </p:pic>
      <p:pic>
        <p:nvPicPr>
          <p:cNvPr id="31" name="Ilustração handshake" descr="handshak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5488" y="2155240"/>
            <a:ext cx="499262" cy="499262"/>
          </a:xfrm>
          <a:prstGeom prst="rect">
            <a:avLst/>
          </a:prstGeom>
        </p:spPr>
      </p:pic>
      <p:pic>
        <p:nvPicPr>
          <p:cNvPr id="32" name="Ilustração satellite_antenna" descr="satellite antenna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648" y="3618280"/>
            <a:ext cx="499262" cy="499262"/>
          </a:xfrm>
          <a:prstGeom prst="rect">
            <a:avLst/>
          </a:prstGeom>
        </p:spPr>
      </p:pic>
      <p:pic>
        <p:nvPicPr>
          <p:cNvPr id="33" name="Ilustração rocket" descr="rocke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5488" y="3618280"/>
            <a:ext cx="499262" cy="499262"/>
          </a:xfrm>
          <a:prstGeom prst="rect">
            <a:avLst/>
          </a:prstGeom>
        </p:spPr>
      </p:pic>
      <p:pic>
        <p:nvPicPr>
          <p:cNvPr id="34" name="Ilustração stopwatch" descr="stopwatch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648" y="5081320"/>
            <a:ext cx="499262" cy="499262"/>
          </a:xfrm>
          <a:prstGeom prst="rect">
            <a:avLst/>
          </a:prstGeom>
        </p:spPr>
      </p:pic>
      <p:pic>
        <p:nvPicPr>
          <p:cNvPr id="35" name="Ilustração magnifying_glass_tilted_left" descr="magnifying glass tilted left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5488" y="5081320"/>
            <a:ext cx="499262" cy="499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 aula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Partimos do que você já usa no dia a dia e avançamos um passo de cada vez.</a:t>
            </a:r>
            <a:endParaRPr lang="pt-BR" sz="1600" noProof="0" dirty="0"/>
          </a:p>
        </p:txBody>
      </p:sp>
      <p:sp>
        <p:nvSpPr>
          <p:cNvPr id="6" name="Shape 4"/>
          <p:cNvSpPr/>
          <p:nvPr/>
        </p:nvSpPr>
        <p:spPr>
          <a:xfrm>
            <a:off x="1417320" y="2697480"/>
            <a:ext cx="1527048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685800" y="2331720"/>
            <a:ext cx="731520" cy="73152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2200" noProof="0" dirty="0"/>
          </a:p>
        </p:txBody>
      </p:sp>
      <p:sp>
        <p:nvSpPr>
          <p:cNvPr id="9" name="Cartão"/>
          <p:cNvSpPr/>
          <p:nvPr/>
        </p:nvSpPr>
        <p:spPr>
          <a:xfrm>
            <a:off x="548640" y="3337560"/>
            <a:ext cx="2103120" cy="1783080"/>
          </a:xfrm>
          <a:prstGeom prst="roundRect">
            <a:avLst>
              <a:gd name="adj" fmla="val 410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4747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de uma rede</a:t>
            </a:r>
            <a:endParaRPr lang="pt-BR" noProof="0" dirty="0"/>
          </a:p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preciso para montar uma rede</a:t>
            </a:r>
            <a:endParaRPr lang="pt-BR" noProof="0" dirty="0"/>
          </a:p>
        </p:txBody>
      </p:sp>
      <p:sp>
        <p:nvSpPr>
          <p:cNvPr id="11" name="Shape 9"/>
          <p:cNvSpPr/>
          <p:nvPr/>
        </p:nvSpPr>
        <p:spPr>
          <a:xfrm>
            <a:off x="3675888" y="2697480"/>
            <a:ext cx="1527048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Shape 10"/>
          <p:cNvSpPr/>
          <p:nvPr/>
        </p:nvSpPr>
        <p:spPr>
          <a:xfrm>
            <a:off x="2944368" y="23317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2331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2200" noProof="0" dirty="0"/>
          </a:p>
        </p:txBody>
      </p:sp>
      <p:sp>
        <p:nvSpPr>
          <p:cNvPr id="14" name="Cartão"/>
          <p:cNvSpPr/>
          <p:nvPr/>
        </p:nvSpPr>
        <p:spPr>
          <a:xfrm>
            <a:off x="2807208" y="3337560"/>
            <a:ext cx="2103120" cy="1783080"/>
          </a:xfrm>
          <a:prstGeom prst="roundRect">
            <a:avLst>
              <a:gd name="adj" fmla="val 410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sz="200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34747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</a:t>
            </a:r>
            <a:endParaRPr lang="pt-BR" sz="1600" noProof="0" dirty="0"/>
          </a:p>
          <a:p>
            <a:pPr marL="0" indent="0">
              <a:buNone/>
            </a:pPr>
            <a:r>
              <a:rPr lang="pt-BR" sz="14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a rede serve no dia a dia</a:t>
            </a:r>
            <a:endParaRPr lang="pt-BR" sz="1600" noProof="0" dirty="0"/>
          </a:p>
        </p:txBody>
      </p:sp>
      <p:sp>
        <p:nvSpPr>
          <p:cNvPr id="16" name="Shape 14"/>
          <p:cNvSpPr/>
          <p:nvPr/>
        </p:nvSpPr>
        <p:spPr>
          <a:xfrm>
            <a:off x="5934456" y="2697480"/>
            <a:ext cx="1527048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Shape 15"/>
          <p:cNvSpPr/>
          <p:nvPr/>
        </p:nvSpPr>
        <p:spPr>
          <a:xfrm>
            <a:off x="5202936" y="23317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2331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2200" noProof="0" dirty="0"/>
          </a:p>
        </p:txBody>
      </p:sp>
      <p:sp>
        <p:nvSpPr>
          <p:cNvPr id="19" name="Cartão"/>
          <p:cNvSpPr/>
          <p:nvPr/>
        </p:nvSpPr>
        <p:spPr>
          <a:xfrm>
            <a:off x="5065776" y="3337560"/>
            <a:ext cx="2103120" cy="1783080"/>
          </a:xfrm>
          <a:prstGeom prst="roundRect">
            <a:avLst>
              <a:gd name="adj" fmla="val 410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5230368" y="34747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conexão</a:t>
            </a:r>
            <a:endParaRPr lang="pt-BR" noProof="0" dirty="0"/>
          </a:p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local, ADSL, fibra, 3G/4G/5G e satélite</a:t>
            </a:r>
            <a:endParaRPr lang="pt-BR" noProof="0" dirty="0"/>
          </a:p>
        </p:txBody>
      </p:sp>
      <p:sp>
        <p:nvSpPr>
          <p:cNvPr id="21" name="Shape 19"/>
          <p:cNvSpPr/>
          <p:nvPr/>
        </p:nvSpPr>
        <p:spPr>
          <a:xfrm>
            <a:off x="8193024" y="2697480"/>
            <a:ext cx="1527048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Shape 20"/>
          <p:cNvSpPr/>
          <p:nvPr/>
        </p:nvSpPr>
        <p:spPr>
          <a:xfrm>
            <a:off x="7461504" y="23317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2331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2200" noProof="0" dirty="0"/>
          </a:p>
        </p:txBody>
      </p:sp>
      <p:sp>
        <p:nvSpPr>
          <p:cNvPr id="24" name="Cartão"/>
          <p:cNvSpPr/>
          <p:nvPr/>
        </p:nvSpPr>
        <p:spPr>
          <a:xfrm>
            <a:off x="7324344" y="3337560"/>
            <a:ext cx="2103120" cy="1783080"/>
          </a:xfrm>
          <a:prstGeom prst="roundRect">
            <a:avLst>
              <a:gd name="adj" fmla="val 410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Text 23"/>
          <p:cNvSpPr txBox="1"/>
          <p:nvPr/>
        </p:nvSpPr>
        <p:spPr>
          <a:xfrm>
            <a:off x="7488936" y="34747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</a:t>
            </a:r>
            <a:endParaRPr lang="pt-BR" noProof="0" dirty="0"/>
          </a:p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Mbps, franquia e como medir</a:t>
            </a:r>
            <a:endParaRPr lang="pt-BR" noProof="0" dirty="0"/>
          </a:p>
        </p:txBody>
      </p:sp>
      <p:sp>
        <p:nvSpPr>
          <p:cNvPr id="26" name="Shape 24"/>
          <p:cNvSpPr/>
          <p:nvPr/>
        </p:nvSpPr>
        <p:spPr>
          <a:xfrm>
            <a:off x="9720072" y="23317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7" name="Text 25"/>
          <p:cNvSpPr txBox="1"/>
          <p:nvPr/>
        </p:nvSpPr>
        <p:spPr>
          <a:xfrm>
            <a:off x="9720072" y="2331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2200" noProof="0" dirty="0"/>
          </a:p>
        </p:txBody>
      </p:sp>
      <p:sp>
        <p:nvSpPr>
          <p:cNvPr id="28" name="Cartão"/>
          <p:cNvSpPr/>
          <p:nvPr/>
        </p:nvSpPr>
        <p:spPr>
          <a:xfrm>
            <a:off x="9582912" y="3337560"/>
            <a:ext cx="2103120" cy="1783080"/>
          </a:xfrm>
          <a:prstGeom prst="roundRect">
            <a:avLst>
              <a:gd name="adj" fmla="val 410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9" name="Text 27"/>
          <p:cNvSpPr txBox="1"/>
          <p:nvPr/>
        </p:nvSpPr>
        <p:spPr>
          <a:xfrm>
            <a:off x="9747504" y="34747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na massa</a:t>
            </a:r>
            <a:endParaRPr lang="pt-BR" noProof="0" dirty="0"/>
          </a:p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 velocidade e pesquisa no computador</a:t>
            </a:r>
            <a:endParaRPr lang="pt-BR" noProof="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3</a:t>
            </a:fld>
            <a:endParaRPr lang="pt-BR" noProof="0" dirty="0"/>
          </a:p>
        </p:txBody>
      </p:sp>
      <p:pic>
        <p:nvPicPr>
          <p:cNvPr id="34" name="Ilustração laptop" descr="lapt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391" y="4480559"/>
            <a:ext cx="566928" cy="566928"/>
          </a:xfrm>
          <a:prstGeom prst="rect">
            <a:avLst/>
          </a:prstGeom>
        </p:spPr>
      </p:pic>
      <p:pic>
        <p:nvPicPr>
          <p:cNvPr id="35" name="Ilustração handshake" descr="handshak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480559"/>
            <a:ext cx="566928" cy="566928"/>
          </a:xfrm>
          <a:prstGeom prst="rect">
            <a:avLst/>
          </a:prstGeom>
        </p:spPr>
      </p:pic>
      <p:pic>
        <p:nvPicPr>
          <p:cNvPr id="36" name="Ilustração globe_showing_americas" descr="globe showing america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8" y="4480559"/>
            <a:ext cx="566928" cy="566928"/>
          </a:xfrm>
          <a:prstGeom prst="rect">
            <a:avLst/>
          </a:prstGeom>
        </p:spPr>
      </p:pic>
      <p:pic>
        <p:nvPicPr>
          <p:cNvPr id="37" name="Ilustração rocket" descr="rocke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9096" y="4480559"/>
            <a:ext cx="566928" cy="566928"/>
          </a:xfrm>
          <a:prstGeom prst="rect">
            <a:avLst/>
          </a:prstGeom>
        </p:spPr>
      </p:pic>
      <p:pic>
        <p:nvPicPr>
          <p:cNvPr id="38" name="Ilustração technologist" descr="technologis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27664" y="4480559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CONVERSA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conversar?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Levante a mão se a resposta for sim.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4290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BR" sz="24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 tem Wi-Fi em casa?</a:t>
            </a:r>
            <a:endParaRPr lang="pt-BR" sz="2400" noProof="0" dirty="0"/>
          </a:p>
        </p:txBody>
      </p:sp>
      <p:sp>
        <p:nvSpPr>
          <p:cNvPr id="10" name="Cartão"/>
          <p:cNvSpPr/>
          <p:nvPr/>
        </p:nvSpPr>
        <p:spPr>
          <a:xfrm>
            <a:off x="4297680" y="20574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4290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BR" sz="24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 manda áudios e fotos pelo celular?</a:t>
            </a:r>
            <a:endParaRPr lang="pt-BR" sz="2400" noProof="0" dirty="0"/>
          </a:p>
        </p:txBody>
      </p:sp>
      <p:sp>
        <p:nvSpPr>
          <p:cNvPr id="14" name="Cartão"/>
          <p:cNvSpPr/>
          <p:nvPr/>
        </p:nvSpPr>
        <p:spPr>
          <a:xfrm>
            <a:off x="8046720" y="20574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4290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BR" sz="24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Já usou banco, Gov.br ou Meu INSS pelo celular?</a:t>
            </a:r>
            <a:endParaRPr lang="pt-BR" sz="2400" noProof="0" dirty="0"/>
          </a:p>
        </p:txBody>
      </p:sp>
      <p:sp>
        <p:nvSpPr>
          <p:cNvPr id="18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pt-BR" sz="1450" noProof="0" dirty="0"/>
          </a:p>
          <a:p>
            <a:pPr marL="0" indent="0">
              <a:buNone/>
            </a:pPr>
            <a:r>
              <a:rPr lang="pt-BR" sz="14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isso só funciona porque existe uma rede ligando os aparelhos.</a:t>
            </a:r>
            <a:endParaRPr lang="pt-BR" sz="145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4</a:t>
            </a:fld>
            <a:endParaRPr lang="pt-BR" noProof="0" dirty="0"/>
          </a:p>
        </p:txBody>
      </p:sp>
      <p:pic>
        <p:nvPicPr>
          <p:cNvPr id="26" name="Ilustração wireless" descr="wireles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60220" y="2263139"/>
            <a:ext cx="1051560" cy="1051560"/>
          </a:xfrm>
          <a:prstGeom prst="rect">
            <a:avLst/>
          </a:prstGeom>
        </p:spPr>
      </p:pic>
      <p:pic>
        <p:nvPicPr>
          <p:cNvPr id="27" name="Ilustração mobile_phone" descr="mobile pho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9259" y="2263139"/>
            <a:ext cx="1051560" cy="1051560"/>
          </a:xfrm>
          <a:prstGeom prst="rect">
            <a:avLst/>
          </a:prstGeom>
        </p:spPr>
      </p:pic>
      <p:pic>
        <p:nvPicPr>
          <p:cNvPr id="28" name="Ilustração bank" descr="bank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58300" y="2263139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uma rede de computadores?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4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quando dois ou mais aparelhos estão </a:t>
            </a:r>
            <a:r>
              <a:rPr lang="pt-BR" sz="240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ligados entre si</a:t>
            </a:r>
            <a:r>
              <a:rPr lang="pt-BR" sz="24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pt-BR" sz="240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informações</a:t>
            </a:r>
            <a:r>
              <a:rPr lang="pt-BR" sz="24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pt-BR" sz="240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recursos</a:t>
            </a:r>
            <a:r>
              <a:rPr lang="pt-BR" sz="24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pt-BR" sz="24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374904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E8F0FA"/>
          </a:solidFill>
          <a:ln w="12700">
            <a:solidFill>
              <a:srgbClr val="C5D6E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8"/>
            <a:ext cx="384048" cy="384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395020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2A5A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Pense assim</a:t>
            </a:r>
            <a:endParaRPr lang="pt-BR" sz="1800" noProof="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4805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5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rede é como as ruas de uma cidade: as casas são os aparelhos, as ruas são os cabos ou o Wi-Fi, e as informações são as cartas que vão de um lugar para outro.</a:t>
            </a:r>
            <a:endParaRPr lang="pt-BR" sz="1550" noProof="0" dirty="0"/>
          </a:p>
        </p:txBody>
      </p:sp>
      <p:sp>
        <p:nvSpPr>
          <p:cNvPr id="10" name="Cartão"/>
          <p:cNvSpPr/>
          <p:nvPr/>
        </p:nvSpPr>
        <p:spPr>
          <a:xfrm>
            <a:off x="6309360" y="1783080"/>
            <a:ext cx="530352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7315200" y="2514600"/>
            <a:ext cx="1645920" cy="1207008"/>
          </a:xfrm>
          <a:prstGeom prst="line">
            <a:avLst/>
          </a:prstGeom>
          <a:noFill/>
          <a:ln w="254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Shape 9"/>
          <p:cNvSpPr/>
          <p:nvPr/>
        </p:nvSpPr>
        <p:spPr>
          <a:xfrm flipV="1">
            <a:off x="8961120" y="2514600"/>
            <a:ext cx="1645920" cy="1207008"/>
          </a:xfrm>
          <a:prstGeom prst="line">
            <a:avLst/>
          </a:prstGeom>
          <a:noFill/>
          <a:ln w="254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Shape 10"/>
          <p:cNvSpPr/>
          <p:nvPr/>
        </p:nvSpPr>
        <p:spPr>
          <a:xfrm flipV="1">
            <a:off x="7315200" y="3721608"/>
            <a:ext cx="1645920" cy="1216152"/>
          </a:xfrm>
          <a:prstGeom prst="line">
            <a:avLst/>
          </a:prstGeom>
          <a:noFill/>
          <a:ln w="254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Shape 11"/>
          <p:cNvSpPr/>
          <p:nvPr/>
        </p:nvSpPr>
        <p:spPr>
          <a:xfrm>
            <a:off x="8961120" y="3721608"/>
            <a:ext cx="1645920" cy="1216152"/>
          </a:xfrm>
          <a:prstGeom prst="line">
            <a:avLst/>
          </a:prstGeom>
          <a:noFill/>
          <a:ln w="254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Shape 16"/>
          <p:cNvSpPr/>
          <p:nvPr/>
        </p:nvSpPr>
        <p:spPr>
          <a:xfrm>
            <a:off x="8458200" y="3218688"/>
            <a:ext cx="1005840" cy="1005840"/>
          </a:xfrm>
          <a:prstGeom prst="ellipse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9660" y="3470148"/>
            <a:ext cx="502920" cy="5029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046720" y="42702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BR" sz="1300" noProof="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roteador</a:t>
            </a:r>
            <a:endParaRPr lang="pt-BR" sz="1300" noProof="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5</a:t>
            </a:fld>
            <a:endParaRPr lang="pt-BR" noProof="0" dirty="0"/>
          </a:p>
        </p:txBody>
      </p:sp>
      <p:pic>
        <p:nvPicPr>
          <p:cNvPr id="27" name="Ilustração laptop" descr="laptop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0" y="2057400"/>
            <a:ext cx="914400" cy="914400"/>
          </a:xfrm>
          <a:prstGeom prst="rect">
            <a:avLst/>
          </a:prstGeom>
        </p:spPr>
      </p:pic>
      <p:pic>
        <p:nvPicPr>
          <p:cNvPr id="28" name="Ilustração mobile_phone" descr="mobile phon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9840" y="2057400"/>
            <a:ext cx="914400" cy="914400"/>
          </a:xfrm>
          <a:prstGeom prst="rect">
            <a:avLst/>
          </a:prstGeom>
        </p:spPr>
      </p:pic>
      <p:pic>
        <p:nvPicPr>
          <p:cNvPr id="29" name="Ilustração printer" descr="printer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0" y="4480560"/>
            <a:ext cx="914400" cy="914400"/>
          </a:xfrm>
          <a:prstGeom prst="rect">
            <a:avLst/>
          </a:prstGeom>
        </p:spPr>
      </p:pic>
      <p:pic>
        <p:nvPicPr>
          <p:cNvPr id="30" name="Ilustração television" descr="television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49840" y="448056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9600" b="1" noProof="0" dirty="0">
                <a:solidFill>
                  <a:srgbClr val="7CB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pt-BR" sz="9600" noProof="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880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4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Elementos de uma rede</a:t>
            </a:r>
            <a:endParaRPr lang="pt-BR" sz="40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8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preciso para uma rede funcionar?</a:t>
            </a:r>
            <a:endParaRPr lang="pt-BR" sz="1800" noProof="0" dirty="0"/>
          </a:p>
        </p:txBody>
      </p:sp>
      <p:sp>
        <p:nvSpPr>
          <p:cNvPr id="5" name="Etiqueta"/>
          <p:cNvSpPr/>
          <p:nvPr/>
        </p:nvSpPr>
        <p:spPr>
          <a:xfrm>
            <a:off x="8229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APARELHOS</a:t>
            </a:r>
            <a:endParaRPr lang="pt-BR" noProof="0" dirty="0"/>
          </a:p>
        </p:txBody>
      </p:sp>
      <p:sp>
        <p:nvSpPr>
          <p:cNvPr id="7" name="Etiqueta"/>
          <p:cNvSpPr/>
          <p:nvPr/>
        </p:nvSpPr>
        <p:spPr>
          <a:xfrm>
            <a:off x="28803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CABOS E WI-FI</a:t>
            </a:r>
            <a:endParaRPr lang="pt-BR" noProof="0" dirty="0"/>
          </a:p>
        </p:txBody>
      </p:sp>
      <p:sp>
        <p:nvSpPr>
          <p:cNvPr id="9" name="Etiqueta"/>
          <p:cNvSpPr/>
          <p:nvPr/>
        </p:nvSpPr>
        <p:spPr>
          <a:xfrm>
            <a:off x="49377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ROTEADOR</a:t>
            </a:r>
            <a:endParaRPr lang="pt-BR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6</a:t>
            </a:fld>
            <a:endParaRPr lang="pt-BR" noProof="0" dirty="0"/>
          </a:p>
        </p:txBody>
      </p:sp>
      <p:pic>
        <p:nvPicPr>
          <p:cNvPr id="26" name="Ilustração hero_01" descr="hero 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74320"/>
            <a:ext cx="265176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1.5.1 · ELEMENTOS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peças de uma rede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rede, pequena ou grande, tem estas partes.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303520" cy="11887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23317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1671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Aparelhos</a:t>
            </a:r>
            <a:endParaRPr lang="pt-BR" sz="2000" noProof="0" dirty="0"/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computador, celular, TV, impressora</a:t>
            </a:r>
            <a:endParaRPr lang="pt-BR" sz="2000" noProof="0" dirty="0"/>
          </a:p>
        </p:txBody>
      </p:sp>
      <p:sp>
        <p:nvSpPr>
          <p:cNvPr id="10" name="Cartão"/>
          <p:cNvSpPr/>
          <p:nvPr/>
        </p:nvSpPr>
        <p:spPr>
          <a:xfrm>
            <a:off x="6126480" y="2057400"/>
            <a:ext cx="5303520" cy="11887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6355080" y="23317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1671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de ligação</a:t>
            </a:r>
            <a:endParaRPr lang="pt-BR" sz="2000" noProof="0" dirty="0"/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cabo de rede ou sem fio (Wi-Fi)</a:t>
            </a:r>
            <a:endParaRPr lang="pt-BR" sz="2000" noProof="0" dirty="0"/>
          </a:p>
        </p:txBody>
      </p:sp>
      <p:sp>
        <p:nvSpPr>
          <p:cNvPr id="14" name="Cartão"/>
          <p:cNvSpPr/>
          <p:nvPr/>
        </p:nvSpPr>
        <p:spPr>
          <a:xfrm>
            <a:off x="548640" y="3429000"/>
            <a:ext cx="5303520" cy="11887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1"/>
          <p:cNvSpPr/>
          <p:nvPr/>
        </p:nvSpPr>
        <p:spPr>
          <a:xfrm>
            <a:off x="777240" y="37033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5387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Equipamentos</a:t>
            </a:r>
            <a:endParaRPr lang="pt-BR" sz="2000" noProof="0" dirty="0"/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roteador, modem e switch</a:t>
            </a:r>
            <a:endParaRPr lang="pt-BR" sz="2000" noProof="0" dirty="0"/>
          </a:p>
        </p:txBody>
      </p:sp>
      <p:sp>
        <p:nvSpPr>
          <p:cNvPr id="18" name="Cartão"/>
          <p:cNvSpPr/>
          <p:nvPr/>
        </p:nvSpPr>
        <p:spPr>
          <a:xfrm>
            <a:off x="6126480" y="3429000"/>
            <a:ext cx="5303520" cy="11887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4"/>
          <p:cNvSpPr/>
          <p:nvPr/>
        </p:nvSpPr>
        <p:spPr>
          <a:xfrm>
            <a:off x="6355080" y="37033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5"/>
          <p:cNvSpPr txBox="1"/>
          <p:nvPr/>
        </p:nvSpPr>
        <p:spPr>
          <a:xfrm>
            <a:off x="7178040" y="35387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(protocolos)</a:t>
            </a:r>
            <a:endParaRPr lang="pt-BR" sz="2000" noProof="0" dirty="0"/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"idioma" que todos os aparelhos entendem</a:t>
            </a:r>
            <a:endParaRPr lang="pt-BR" sz="2000" noProof="0" dirty="0"/>
          </a:p>
        </p:txBody>
      </p:sp>
      <p:sp>
        <p:nvSpPr>
          <p:cNvPr id="22" name="Cartão"/>
          <p:cNvSpPr/>
          <p:nvPr/>
        </p:nvSpPr>
        <p:spPr>
          <a:xfrm>
            <a:off x="548640" y="4800600"/>
            <a:ext cx="5303520" cy="11887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Shape 17"/>
          <p:cNvSpPr/>
          <p:nvPr/>
        </p:nvSpPr>
        <p:spPr>
          <a:xfrm>
            <a:off x="777240" y="5074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Text 18"/>
          <p:cNvSpPr txBox="1"/>
          <p:nvPr/>
        </p:nvSpPr>
        <p:spPr>
          <a:xfrm>
            <a:off x="1600200" y="4910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pt-BR" sz="2000" noProof="0" dirty="0"/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mensagens, fotos, vídeos e arquivos</a:t>
            </a:r>
            <a:endParaRPr lang="pt-BR" sz="2000" noProof="0" dirty="0"/>
          </a:p>
        </p:txBody>
      </p:sp>
      <p:sp>
        <p:nvSpPr>
          <p:cNvPr id="26" name="Cartão"/>
          <p:cNvSpPr/>
          <p:nvPr/>
        </p:nvSpPr>
        <p:spPr>
          <a:xfrm>
            <a:off x="6126480" y="4800600"/>
            <a:ext cx="5303520" cy="11887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7" name="Shape 20"/>
          <p:cNvSpPr/>
          <p:nvPr/>
        </p:nvSpPr>
        <p:spPr>
          <a:xfrm>
            <a:off x="6355080" y="5074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9" name="Text 21"/>
          <p:cNvSpPr txBox="1"/>
          <p:nvPr/>
        </p:nvSpPr>
        <p:spPr>
          <a:xfrm>
            <a:off x="7178040" y="4910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Provedor</a:t>
            </a:r>
            <a:endParaRPr lang="pt-BR" sz="2000" noProof="0" dirty="0"/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que leva a internet até você</a:t>
            </a:r>
            <a:endParaRPr lang="pt-BR" sz="2000" noProof="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7</a:t>
            </a:fld>
            <a:endParaRPr lang="pt-BR" noProof="0" dirty="0"/>
          </a:p>
        </p:txBody>
      </p:sp>
      <p:pic>
        <p:nvPicPr>
          <p:cNvPr id="31" name="Ilustração laptop" descr="laptop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648" y="2402128"/>
            <a:ext cx="499262" cy="499262"/>
          </a:xfrm>
          <a:prstGeom prst="rect">
            <a:avLst/>
          </a:prstGeom>
        </p:spPr>
      </p:pic>
      <p:pic>
        <p:nvPicPr>
          <p:cNvPr id="32" name="Ilustração electric_plug" descr="electric plu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5488" y="2402128"/>
            <a:ext cx="499262" cy="499262"/>
          </a:xfrm>
          <a:prstGeom prst="rect">
            <a:avLst/>
          </a:prstGeom>
        </p:spPr>
      </p:pic>
      <p:pic>
        <p:nvPicPr>
          <p:cNvPr id="33" name="Ilustração wireless" descr="wireless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648" y="3773728"/>
            <a:ext cx="499262" cy="499262"/>
          </a:xfrm>
          <a:prstGeom prst="rect">
            <a:avLst/>
          </a:prstGeom>
        </p:spPr>
      </p:pic>
      <p:pic>
        <p:nvPicPr>
          <p:cNvPr id="34" name="Ilustração open_book" descr="open book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5488" y="3773728"/>
            <a:ext cx="499262" cy="499262"/>
          </a:xfrm>
          <a:prstGeom prst="rect">
            <a:avLst/>
          </a:prstGeom>
        </p:spPr>
      </p:pic>
      <p:pic>
        <p:nvPicPr>
          <p:cNvPr id="35" name="Ilustração envelope" descr="envelop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648" y="5145328"/>
            <a:ext cx="499262" cy="499262"/>
          </a:xfrm>
          <a:prstGeom prst="rect">
            <a:avLst/>
          </a:prstGeom>
        </p:spPr>
      </p:pic>
      <p:pic>
        <p:nvPicPr>
          <p:cNvPr id="36" name="Ilustração office_building" descr="office buildi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5488" y="5145328"/>
            <a:ext cx="499262" cy="4992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CAÇA AOS ELEMENTOS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Encontre as peças da rede na sala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duplas, olhem em volta do laboratório.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731520" y="2240280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15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057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Olhe em volta  </a:t>
            </a: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sala ou do laboratório</a:t>
            </a:r>
            <a:endParaRPr lang="pt-BR" noProof="0" dirty="0"/>
          </a:p>
        </p:txBody>
      </p:sp>
      <p:sp>
        <p:nvSpPr>
          <p:cNvPr id="10" name="Cartão"/>
          <p:cNvSpPr/>
          <p:nvPr/>
        </p:nvSpPr>
        <p:spPr>
          <a:xfrm>
            <a:off x="548640" y="292608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9"/>
          <p:cNvSpPr/>
          <p:nvPr/>
        </p:nvSpPr>
        <p:spPr>
          <a:xfrm>
            <a:off x="731520" y="3108960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5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260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Encontre  </a:t>
            </a: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itens da lista ao lado</a:t>
            </a:r>
            <a:endParaRPr lang="pt-BR" noProof="0" dirty="0"/>
          </a:p>
        </p:txBody>
      </p:sp>
      <p:sp>
        <p:nvSpPr>
          <p:cNvPr id="14" name="Cartão"/>
          <p:cNvSpPr/>
          <p:nvPr/>
        </p:nvSpPr>
        <p:spPr>
          <a:xfrm>
            <a:off x="548640" y="379476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3"/>
          <p:cNvSpPr/>
          <p:nvPr/>
        </p:nvSpPr>
        <p:spPr>
          <a:xfrm>
            <a:off x="731520" y="3977640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500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7947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  </a:t>
            </a: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turma onde achou cada um</a:t>
            </a:r>
            <a:endParaRPr lang="pt-BR" noProof="0" dirty="0"/>
          </a:p>
        </p:txBody>
      </p:sp>
      <p:sp>
        <p:nvSpPr>
          <p:cNvPr id="18" name="Cartão"/>
          <p:cNvSpPr/>
          <p:nvPr/>
        </p:nvSpPr>
        <p:spPr>
          <a:xfrm>
            <a:off x="548640" y="466344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7"/>
          <p:cNvSpPr/>
          <p:nvPr/>
        </p:nvSpPr>
        <p:spPr>
          <a:xfrm>
            <a:off x="731520" y="4846320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1500" noProof="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6634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 </a:t>
            </a: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o nome da rede Wi-Fi da escola?</a:t>
            </a:r>
            <a:endParaRPr lang="pt-BR" noProof="0" dirty="0"/>
          </a:p>
        </p:txBody>
      </p:sp>
      <p:sp>
        <p:nvSpPr>
          <p:cNvPr id="22" name="Cartão"/>
          <p:cNvSpPr/>
          <p:nvPr/>
        </p:nvSpPr>
        <p:spPr>
          <a:xfrm>
            <a:off x="6035040" y="2057400"/>
            <a:ext cx="557784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Etiqueta"/>
          <p:cNvSpPr/>
          <p:nvPr/>
        </p:nvSpPr>
        <p:spPr>
          <a:xfrm>
            <a:off x="6263640" y="2240280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2240280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BUSCA</a:t>
            </a:r>
            <a:endParaRPr lang="pt-BR" sz="1000" noProof="0" dirty="0"/>
          </a:p>
        </p:txBody>
      </p:sp>
      <p:sp>
        <p:nvSpPr>
          <p:cNvPr id="25" name="Shape 23"/>
          <p:cNvSpPr/>
          <p:nvPr/>
        </p:nvSpPr>
        <p:spPr>
          <a:xfrm>
            <a:off x="6309360" y="28072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274320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computador ou celular</a:t>
            </a:r>
            <a:endParaRPr lang="pt-BR" noProof="0" dirty="0"/>
          </a:p>
        </p:txBody>
      </p:sp>
      <p:sp>
        <p:nvSpPr>
          <p:cNvPr id="27" name="Shape 25"/>
          <p:cNvSpPr/>
          <p:nvPr/>
        </p:nvSpPr>
        <p:spPr>
          <a:xfrm>
            <a:off x="6309360" y="331012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324612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cabo de rede</a:t>
            </a:r>
            <a:endParaRPr lang="pt-BR" noProof="0" dirty="0"/>
          </a:p>
        </p:txBody>
      </p:sp>
      <p:sp>
        <p:nvSpPr>
          <p:cNvPr id="29" name="Shape 27"/>
          <p:cNvSpPr/>
          <p:nvPr/>
        </p:nvSpPr>
        <p:spPr>
          <a:xfrm>
            <a:off x="6309360" y="381304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374904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roteador ou ponto de Wi-Fi</a:t>
            </a:r>
            <a:endParaRPr lang="pt-BR" noProof="0" dirty="0"/>
          </a:p>
        </p:txBody>
      </p:sp>
      <p:sp>
        <p:nvSpPr>
          <p:cNvPr id="31" name="Shape 29"/>
          <p:cNvSpPr/>
          <p:nvPr/>
        </p:nvSpPr>
        <p:spPr>
          <a:xfrm>
            <a:off x="6309360" y="431596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5196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impressora ligada na rede</a:t>
            </a:r>
            <a:endParaRPr lang="pt-BR" noProof="0" dirty="0"/>
          </a:p>
        </p:txBody>
      </p:sp>
      <p:sp>
        <p:nvSpPr>
          <p:cNvPr id="33" name="Shape 31"/>
          <p:cNvSpPr/>
          <p:nvPr/>
        </p:nvSpPr>
        <p:spPr>
          <a:xfrm>
            <a:off x="6309360" y="48188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47548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tomada de rede na parede</a:t>
            </a:r>
            <a:endParaRPr lang="pt-BR" noProof="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8</a:t>
            </a:fld>
            <a:endParaRPr lang="pt-BR" noProof="0" dirty="0"/>
          </a:p>
        </p:txBody>
      </p:sp>
      <p:pic>
        <p:nvPicPr>
          <p:cNvPr id="36" name="Ilustração detective" descr="detect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92608"/>
            <a:ext cx="132588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9600" b="1" noProof="0" dirty="0">
                <a:solidFill>
                  <a:srgbClr val="7CB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pt-BR" sz="9600" noProof="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880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4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Importância de uma rede</a:t>
            </a:r>
            <a:endParaRPr lang="pt-BR" sz="40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8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 uma rede no nosso dia a dia?</a:t>
            </a:r>
            <a:endParaRPr lang="pt-BR" sz="1800" noProof="0" dirty="0"/>
          </a:p>
        </p:txBody>
      </p:sp>
      <p:sp>
        <p:nvSpPr>
          <p:cNvPr id="5" name="Etiqueta"/>
          <p:cNvSpPr/>
          <p:nvPr/>
        </p:nvSpPr>
        <p:spPr>
          <a:xfrm>
            <a:off x="8229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</a:t>
            </a:r>
            <a:endParaRPr lang="pt-BR" sz="1000" noProof="0" dirty="0"/>
          </a:p>
        </p:txBody>
      </p:sp>
      <p:sp>
        <p:nvSpPr>
          <p:cNvPr id="7" name="Etiqueta"/>
          <p:cNvSpPr/>
          <p:nvPr/>
        </p:nvSpPr>
        <p:spPr>
          <a:xfrm>
            <a:off x="28803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</a:t>
            </a:r>
            <a:endParaRPr lang="pt-BR" sz="1000" noProof="0" dirty="0"/>
          </a:p>
        </p:txBody>
      </p:sp>
      <p:sp>
        <p:nvSpPr>
          <p:cNvPr id="9" name="Etiqueta"/>
          <p:cNvSpPr/>
          <p:nvPr/>
        </p:nvSpPr>
        <p:spPr>
          <a:xfrm>
            <a:off x="49377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pt-BR" sz="100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9</a:t>
            </a:fld>
            <a:endParaRPr lang="pt-BR" noProof="0" dirty="0"/>
          </a:p>
        </p:txBody>
      </p:sp>
      <p:pic>
        <p:nvPicPr>
          <p:cNvPr id="26" name="Ilustração hero_02" descr="hero 0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74320"/>
            <a:ext cx="265176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933956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9339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 serve uma rede?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Hoje, quase tudo o que fazemos passa por uma rede.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244144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21945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</a:t>
            </a:r>
            <a:endParaRPr lang="pt-BR" sz="2000" noProof="0" dirty="0"/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e-mail e chamada de vídeo com a família</a:t>
            </a:r>
            <a:endParaRPr lang="pt-BR" sz="2000" noProof="0" dirty="0"/>
          </a:p>
        </p:txBody>
      </p:sp>
      <p:sp>
        <p:nvSpPr>
          <p:cNvPr id="10" name="Cartão"/>
          <p:cNvSpPr/>
          <p:nvPr/>
        </p:nvSpPr>
        <p:spPr>
          <a:xfrm>
            <a:off x="6126480" y="205740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6355080" y="244144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9"/>
          <p:cNvSpPr txBox="1"/>
          <p:nvPr/>
        </p:nvSpPr>
        <p:spPr>
          <a:xfrm>
            <a:off x="7269480" y="21945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Compartilhar</a:t>
            </a:r>
            <a:endParaRPr lang="pt-BR" sz="2000" noProof="0" dirty="0"/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impressora e uma internet para vários aparelhos</a:t>
            </a:r>
            <a:endParaRPr lang="pt-BR" sz="2000" noProof="0" dirty="0"/>
          </a:p>
        </p:txBody>
      </p:sp>
      <p:sp>
        <p:nvSpPr>
          <p:cNvPr id="14" name="Cartão"/>
          <p:cNvSpPr/>
          <p:nvPr/>
        </p:nvSpPr>
        <p:spPr>
          <a:xfrm>
            <a:off x="548640" y="37490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1"/>
          <p:cNvSpPr/>
          <p:nvPr/>
        </p:nvSpPr>
        <p:spPr>
          <a:xfrm>
            <a:off x="777240" y="41330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38862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Acessar serviços</a:t>
            </a:r>
            <a:endParaRPr lang="pt-BR" sz="2000" noProof="0" dirty="0"/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banco, Pix, Gov.br, Meu INSS, matrícula, consultas no SUS</a:t>
            </a:r>
            <a:endParaRPr lang="pt-BR" sz="2000" noProof="0" dirty="0"/>
          </a:p>
        </p:txBody>
      </p:sp>
      <p:sp>
        <p:nvSpPr>
          <p:cNvPr id="18" name="Cartão"/>
          <p:cNvSpPr/>
          <p:nvPr/>
        </p:nvSpPr>
        <p:spPr>
          <a:xfrm>
            <a:off x="6126480" y="37490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4"/>
          <p:cNvSpPr/>
          <p:nvPr/>
        </p:nvSpPr>
        <p:spPr>
          <a:xfrm>
            <a:off x="6355080" y="41330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5"/>
          <p:cNvSpPr txBox="1"/>
          <p:nvPr/>
        </p:nvSpPr>
        <p:spPr>
          <a:xfrm>
            <a:off x="7269480" y="38862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Estudar e trabalhar</a:t>
            </a:r>
            <a:endParaRPr lang="pt-BR" sz="2000" noProof="0" dirty="0"/>
          </a:p>
          <a:p>
            <a:pPr marL="0" indent="0">
              <a:buNone/>
            </a:pPr>
            <a:r>
              <a:rPr lang="pt-BR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 online, vagas de emprego, vender pela internet</a:t>
            </a:r>
            <a:endParaRPr lang="pt-BR" sz="200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10</a:t>
            </a:fld>
            <a:endParaRPr lang="pt-BR" noProof="0" dirty="0"/>
          </a:p>
        </p:txBody>
      </p:sp>
      <p:pic>
        <p:nvPicPr>
          <p:cNvPr id="26" name="Ilustração speech_balloon" descr="speech ballo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683" y="2517891"/>
            <a:ext cx="542056" cy="542056"/>
          </a:xfrm>
          <a:prstGeom prst="rect">
            <a:avLst/>
          </a:prstGeom>
        </p:spPr>
      </p:pic>
      <p:pic>
        <p:nvPicPr>
          <p:cNvPr id="27" name="Ilustração link" descr="lin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1523" y="2517891"/>
            <a:ext cx="542056" cy="542056"/>
          </a:xfrm>
          <a:prstGeom prst="rect">
            <a:avLst/>
          </a:prstGeom>
        </p:spPr>
      </p:pic>
      <p:pic>
        <p:nvPicPr>
          <p:cNvPr id="28" name="Ilustração bank" descr="bank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683" y="4209531"/>
            <a:ext cx="542056" cy="542056"/>
          </a:xfrm>
          <a:prstGeom prst="rect">
            <a:avLst/>
          </a:prstGeom>
        </p:spPr>
      </p:pic>
      <p:pic>
        <p:nvPicPr>
          <p:cNvPr id="29" name="Ilustração briefcase" descr="briefca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1523" y="4209531"/>
            <a:ext cx="542056" cy="5420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555748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25557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PLACAR DA TURMA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meu dia a dia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Levante a mão se hoje você já…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640080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205740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mandou ou recebeu uma mensagem</a:t>
            </a:r>
            <a:endParaRPr lang="pt-BR" sz="1600" noProof="0" dirty="0"/>
          </a:p>
        </p:txBody>
      </p:sp>
      <p:sp>
        <p:nvSpPr>
          <p:cNvPr id="9" name="Cartão"/>
          <p:cNvSpPr/>
          <p:nvPr/>
        </p:nvSpPr>
        <p:spPr>
          <a:xfrm>
            <a:off x="548640" y="2788920"/>
            <a:ext cx="640080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278892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viu um vídeo ou ouviu música online</a:t>
            </a:r>
            <a:endParaRPr lang="pt-BR" sz="1600" noProof="0" dirty="0"/>
          </a:p>
        </p:txBody>
      </p:sp>
      <p:sp>
        <p:nvSpPr>
          <p:cNvPr id="12" name="Cartão"/>
          <p:cNvSpPr/>
          <p:nvPr/>
        </p:nvSpPr>
        <p:spPr>
          <a:xfrm>
            <a:off x="548640" y="3520440"/>
            <a:ext cx="640080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352044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olhou a previsão do tempo ou notícias</a:t>
            </a:r>
            <a:endParaRPr lang="pt-BR" sz="1600" noProof="0" dirty="0"/>
          </a:p>
        </p:txBody>
      </p:sp>
      <p:sp>
        <p:nvSpPr>
          <p:cNvPr id="15" name="Cartão"/>
          <p:cNvSpPr/>
          <p:nvPr/>
        </p:nvSpPr>
        <p:spPr>
          <a:xfrm>
            <a:off x="548640" y="4251960"/>
            <a:ext cx="640080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1"/>
          <p:cNvSpPr txBox="1"/>
          <p:nvPr/>
        </p:nvSpPr>
        <p:spPr>
          <a:xfrm>
            <a:off x="1280160" y="425196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fez Pix ou pagou uma conta</a:t>
            </a:r>
            <a:endParaRPr lang="pt-BR" sz="1600" noProof="0" dirty="0"/>
          </a:p>
        </p:txBody>
      </p:sp>
      <p:sp>
        <p:nvSpPr>
          <p:cNvPr id="18" name="Cartão"/>
          <p:cNvSpPr/>
          <p:nvPr/>
        </p:nvSpPr>
        <p:spPr>
          <a:xfrm>
            <a:off x="548640" y="4983480"/>
            <a:ext cx="640080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3"/>
          <p:cNvSpPr txBox="1"/>
          <p:nvPr/>
        </p:nvSpPr>
        <p:spPr>
          <a:xfrm>
            <a:off x="1280160" y="498348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usou o GPS ou chamou transporte por aplicativo</a:t>
            </a:r>
            <a:endParaRPr lang="pt-BR" sz="1600" noProof="0" dirty="0"/>
          </a:p>
        </p:txBody>
      </p:sp>
      <p:sp>
        <p:nvSpPr>
          <p:cNvPr id="21" name="Cartão"/>
          <p:cNvSpPr/>
          <p:nvPr/>
        </p:nvSpPr>
        <p:spPr>
          <a:xfrm>
            <a:off x="7315200" y="2057400"/>
            <a:ext cx="4297680" cy="3529584"/>
          </a:xfrm>
          <a:prstGeom prst="roundRect">
            <a:avLst>
              <a:gd name="adj" fmla="val 2073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15"/>
          <p:cNvSpPr txBox="1"/>
          <p:nvPr/>
        </p:nvSpPr>
        <p:spPr>
          <a:xfrm>
            <a:off x="7498080" y="22860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BR" sz="2000" b="1" noProof="0" dirty="0">
                <a:solidFill>
                  <a:srgbClr val="D35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Placar da turma</a:t>
            </a:r>
            <a:endParaRPr lang="pt-BR" sz="2000" noProof="0" dirty="0"/>
          </a:p>
        </p:txBody>
      </p:sp>
      <p:sp>
        <p:nvSpPr>
          <p:cNvPr id="23" name="Text 16"/>
          <p:cNvSpPr txBox="1"/>
          <p:nvPr/>
        </p:nvSpPr>
        <p:spPr>
          <a:xfrm>
            <a:off x="7498080" y="29260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5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 de ___</a:t>
            </a:r>
            <a:endParaRPr lang="pt-BR" sz="5000" noProof="0" dirty="0"/>
          </a:p>
        </p:txBody>
      </p:sp>
      <p:sp>
        <p:nvSpPr>
          <p:cNvPr id="24" name="Text 17"/>
          <p:cNvSpPr txBox="1"/>
          <p:nvPr/>
        </p:nvSpPr>
        <p:spPr>
          <a:xfrm>
            <a:off x="7498080" y="42976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usaram uma rede hoje</a:t>
            </a:r>
            <a:endParaRPr lang="pt-BR" sz="160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11</a:t>
            </a:fld>
            <a:endParaRPr lang="pt-BR" noProof="0" dirty="0"/>
          </a:p>
        </p:txBody>
      </p:sp>
      <p:pic>
        <p:nvPicPr>
          <p:cNvPr id="26" name="Ilustração raised_hand" descr="raised ha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" y="2136952"/>
            <a:ext cx="444398" cy="444398"/>
          </a:xfrm>
          <a:prstGeom prst="rect">
            <a:avLst/>
          </a:prstGeom>
        </p:spPr>
      </p:pic>
      <p:pic>
        <p:nvPicPr>
          <p:cNvPr id="27" name="Ilustração raised_hand" descr="raised ha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" y="2868472"/>
            <a:ext cx="444398" cy="444398"/>
          </a:xfrm>
          <a:prstGeom prst="rect">
            <a:avLst/>
          </a:prstGeom>
        </p:spPr>
      </p:pic>
      <p:pic>
        <p:nvPicPr>
          <p:cNvPr id="28" name="Ilustração raised_hand" descr="raised ha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" y="3599992"/>
            <a:ext cx="444398" cy="444398"/>
          </a:xfrm>
          <a:prstGeom prst="rect">
            <a:avLst/>
          </a:prstGeom>
        </p:spPr>
      </p:pic>
      <p:pic>
        <p:nvPicPr>
          <p:cNvPr id="29" name="Ilustração raised_hand" descr="raised ha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" y="4331512"/>
            <a:ext cx="444398" cy="444398"/>
          </a:xfrm>
          <a:prstGeom prst="rect">
            <a:avLst/>
          </a:prstGeom>
        </p:spPr>
      </p:pic>
      <p:pic>
        <p:nvPicPr>
          <p:cNvPr id="30" name="Ilustração raised_hand" descr="raised ha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" y="5063032"/>
            <a:ext cx="444398" cy="444398"/>
          </a:xfrm>
          <a:prstGeom prst="rect">
            <a:avLst/>
          </a:prstGeom>
        </p:spPr>
      </p:pic>
      <p:pic>
        <p:nvPicPr>
          <p:cNvPr id="31" name="Ilustração raising_hands" descr="raising hand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0" y="292608"/>
            <a:ext cx="132588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9600" b="1" noProof="0" dirty="0">
                <a:solidFill>
                  <a:srgbClr val="7CB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pt-BR" sz="9600" noProof="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880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4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 uma rede</a:t>
            </a:r>
            <a:endParaRPr lang="pt-BR" sz="40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8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rede de casa até a internet: cabo, telefone, luz, ar e satélite.</a:t>
            </a:r>
            <a:endParaRPr lang="pt-BR" sz="1800" noProof="0" dirty="0"/>
          </a:p>
        </p:txBody>
      </p:sp>
      <p:sp>
        <p:nvSpPr>
          <p:cNvPr id="5" name="Etiqueta"/>
          <p:cNvSpPr/>
          <p:nvPr/>
        </p:nvSpPr>
        <p:spPr>
          <a:xfrm>
            <a:off x="8229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</a:t>
            </a:r>
            <a:endParaRPr lang="pt-BR" sz="1000" noProof="0" dirty="0"/>
          </a:p>
        </p:txBody>
      </p:sp>
      <p:sp>
        <p:nvSpPr>
          <p:cNvPr id="7" name="Etiqueta"/>
          <p:cNvSpPr/>
          <p:nvPr/>
        </p:nvSpPr>
        <p:spPr>
          <a:xfrm>
            <a:off x="28803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ADSL</a:t>
            </a:r>
            <a:endParaRPr lang="pt-BR" sz="1000" noProof="0" dirty="0"/>
          </a:p>
        </p:txBody>
      </p:sp>
      <p:sp>
        <p:nvSpPr>
          <p:cNvPr id="9" name="Etiqueta"/>
          <p:cNvSpPr/>
          <p:nvPr/>
        </p:nvSpPr>
        <p:spPr>
          <a:xfrm>
            <a:off x="49377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FIBRA</a:t>
            </a:r>
            <a:endParaRPr lang="pt-BR" sz="1000" noProof="0" dirty="0"/>
          </a:p>
        </p:txBody>
      </p:sp>
      <p:sp>
        <p:nvSpPr>
          <p:cNvPr id="11" name="Etiqueta"/>
          <p:cNvSpPr/>
          <p:nvPr/>
        </p:nvSpPr>
        <p:spPr>
          <a:xfrm>
            <a:off x="69951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3G · 4G · 5G</a:t>
            </a:r>
            <a:endParaRPr lang="pt-BR" sz="1000" noProof="0" dirty="0"/>
          </a:p>
        </p:txBody>
      </p:sp>
      <p:sp>
        <p:nvSpPr>
          <p:cNvPr id="13" name="Etiqueta"/>
          <p:cNvSpPr/>
          <p:nvPr/>
        </p:nvSpPr>
        <p:spPr>
          <a:xfrm>
            <a:off x="90525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</a:t>
            </a:r>
            <a:endParaRPr lang="pt-BR" sz="100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12</a:t>
            </a:fld>
            <a:endParaRPr lang="pt-BR" noProof="0" dirty="0"/>
          </a:p>
        </p:txBody>
      </p:sp>
      <p:pic>
        <p:nvPicPr>
          <p:cNvPr id="26" name="Ilustração hero_03" descr="hero 0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74320"/>
            <a:ext cx="265176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856232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 local: a rede da casa ou da escola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chamada de LAN. O roteador é o centro de tudo.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4846320" cy="3246120"/>
          </a:xfrm>
          <a:prstGeom prst="roundRect">
            <a:avLst>
              <a:gd name="adj" fmla="val 2254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4480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7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 aparelhos de um mesmo lugar: casa, escola, empresa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7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roteador é o "centro" da rede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7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ligação pode ser por cabo ou por Wi-Fi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7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roteador também divide a internet com todos</a:t>
            </a:r>
            <a:endParaRPr lang="pt-BR" sz="1600" noProof="0" dirty="0"/>
          </a:p>
        </p:txBody>
      </p:sp>
      <p:sp>
        <p:nvSpPr>
          <p:cNvPr id="8" name="Cartão"/>
          <p:cNvSpPr/>
          <p:nvPr/>
        </p:nvSpPr>
        <p:spPr>
          <a:xfrm>
            <a:off x="5760720" y="2057400"/>
            <a:ext cx="585216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41148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BR" sz="1300" noProof="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pt-BR" sz="1300" noProof="0" dirty="0"/>
          </a:p>
        </p:txBody>
      </p:sp>
      <p:sp>
        <p:nvSpPr>
          <p:cNvPr id="12" name="Shape 9"/>
          <p:cNvSpPr/>
          <p:nvPr/>
        </p:nvSpPr>
        <p:spPr>
          <a:xfrm>
            <a:off x="6949440" y="3639312"/>
            <a:ext cx="822960" cy="914"/>
          </a:xfrm>
          <a:prstGeom prst="line">
            <a:avLst/>
          </a:prstGeom>
          <a:noFill/>
          <a:ln w="254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Shape 10"/>
          <p:cNvSpPr/>
          <p:nvPr/>
        </p:nvSpPr>
        <p:spPr>
          <a:xfrm>
            <a:off x="7772400" y="3108960"/>
            <a:ext cx="1051560" cy="1051560"/>
          </a:xfrm>
          <a:prstGeom prst="ellipse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90" y="3371850"/>
            <a:ext cx="525780" cy="5257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635240" y="42062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BR" sz="1300" noProof="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roteador</a:t>
            </a:r>
            <a:endParaRPr lang="pt-BR" sz="1300" noProof="0" dirty="0"/>
          </a:p>
        </p:txBody>
      </p:sp>
      <p:sp>
        <p:nvSpPr>
          <p:cNvPr id="16" name="Shape 12"/>
          <p:cNvSpPr/>
          <p:nvPr/>
        </p:nvSpPr>
        <p:spPr>
          <a:xfrm flipV="1">
            <a:off x="8823960" y="2624328"/>
            <a:ext cx="1600200" cy="1014984"/>
          </a:xfrm>
          <a:prstGeom prst="line">
            <a:avLst/>
          </a:prstGeom>
          <a:noFill/>
          <a:ln w="254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4"/>
          <p:cNvSpPr txBox="1"/>
          <p:nvPr/>
        </p:nvSpPr>
        <p:spPr>
          <a:xfrm>
            <a:off x="11247120" y="24688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cabo</a:t>
            </a:r>
            <a:endParaRPr lang="pt-BR" sz="1200" noProof="0" dirty="0"/>
          </a:p>
        </p:txBody>
      </p:sp>
      <p:sp>
        <p:nvSpPr>
          <p:cNvPr id="20" name="Shape 15"/>
          <p:cNvSpPr/>
          <p:nvPr/>
        </p:nvSpPr>
        <p:spPr>
          <a:xfrm flipV="1">
            <a:off x="8823960" y="3630168"/>
            <a:ext cx="1600200" cy="9144"/>
          </a:xfrm>
          <a:prstGeom prst="line">
            <a:avLst/>
          </a:prstGeom>
          <a:noFill/>
          <a:ln w="25400">
            <a:solidFill>
              <a:srgbClr val="7CB342"/>
            </a:solidFill>
            <a:prstDash val="dash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Text 17"/>
          <p:cNvSpPr txBox="1"/>
          <p:nvPr/>
        </p:nvSpPr>
        <p:spPr>
          <a:xfrm>
            <a:off x="11247120" y="34747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</a:t>
            </a:r>
            <a:endParaRPr lang="pt-BR" sz="1200" noProof="0" dirty="0"/>
          </a:p>
        </p:txBody>
      </p:sp>
      <p:sp>
        <p:nvSpPr>
          <p:cNvPr id="24" name="Shape 18"/>
          <p:cNvSpPr/>
          <p:nvPr/>
        </p:nvSpPr>
        <p:spPr>
          <a:xfrm>
            <a:off x="8823960" y="3639312"/>
            <a:ext cx="1600200" cy="996696"/>
          </a:xfrm>
          <a:prstGeom prst="line">
            <a:avLst/>
          </a:prstGeom>
          <a:noFill/>
          <a:ln w="25400">
            <a:solidFill>
              <a:srgbClr val="7CB342"/>
            </a:solidFill>
            <a:prstDash val="dash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7" name="Text 20"/>
          <p:cNvSpPr txBox="1"/>
          <p:nvPr/>
        </p:nvSpPr>
        <p:spPr>
          <a:xfrm>
            <a:off x="11247120" y="44805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</a:t>
            </a:r>
            <a:endParaRPr lang="pt-BR" sz="1200" noProof="0" dirty="0"/>
          </a:p>
        </p:txBody>
      </p:sp>
      <p:sp>
        <p:nvSpPr>
          <p:cNvPr id="28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cheia = cabo de rede  ·  linha tracejada = Wi-Fi (sem fio).</a:t>
            </a:r>
            <a:endParaRPr lang="pt-BR" sz="1550" noProof="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13</a:t>
            </a:fld>
            <a:endParaRPr lang="pt-BR" noProof="0" dirty="0"/>
          </a:p>
        </p:txBody>
      </p:sp>
      <p:pic>
        <p:nvPicPr>
          <p:cNvPr id="32" name="Ilustração globe_showing_americas" descr="globe showing america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0760" y="3200400"/>
            <a:ext cx="868680" cy="868680"/>
          </a:xfrm>
          <a:prstGeom prst="rect">
            <a:avLst/>
          </a:prstGeom>
        </p:spPr>
      </p:pic>
      <p:pic>
        <p:nvPicPr>
          <p:cNvPr id="33" name="Ilustração laptop" descr="laptop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24159" y="2240280"/>
            <a:ext cx="777240" cy="777240"/>
          </a:xfrm>
          <a:prstGeom prst="rect">
            <a:avLst/>
          </a:prstGeom>
        </p:spPr>
      </p:pic>
      <p:pic>
        <p:nvPicPr>
          <p:cNvPr id="34" name="Ilustração mobile_phone" descr="mobile phon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24159" y="3246120"/>
            <a:ext cx="777240" cy="777240"/>
          </a:xfrm>
          <a:prstGeom prst="rect">
            <a:avLst/>
          </a:prstGeom>
        </p:spPr>
      </p:pic>
      <p:pic>
        <p:nvPicPr>
          <p:cNvPr id="35" name="Ilustração printer" descr="printer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24159" y="4251960"/>
            <a:ext cx="777240" cy="777240"/>
          </a:xfrm>
          <a:prstGeom prst="rect">
            <a:avLst/>
          </a:prstGeom>
        </p:spPr>
      </p:pic>
      <p:pic>
        <p:nvPicPr>
          <p:cNvPr id="36" name="Ilustração house_with_garden" descr="house with garde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9080" y="393192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ADSL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ADSL: internet pelo fio do telefone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mais antiga, muito usada nos anos 2000 e 2010.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486400" cy="3200400"/>
          </a:xfrm>
          <a:prstGeom prst="roundRect">
            <a:avLst>
              <a:gd name="adj" fmla="val 228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12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9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</a:t>
            </a:r>
            <a:endParaRPr lang="pt-BR" sz="19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24912"/>
            <a:ext cx="5074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a linha do telefone fixo (fio de cobre)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falar ao telefone e navegar ao mesmo tempo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mais longe da central, mais lenta fica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está sendo trocada pela fibra óptica</a:t>
            </a:r>
            <a:endParaRPr lang="pt-BR" sz="1600" noProof="0" dirty="0"/>
          </a:p>
        </p:txBody>
      </p:sp>
      <p:sp>
        <p:nvSpPr>
          <p:cNvPr id="9" name="Cartão"/>
          <p:cNvSpPr/>
          <p:nvPr/>
        </p:nvSpPr>
        <p:spPr>
          <a:xfrm>
            <a:off x="6309360" y="20574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1284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9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da internet</a:t>
            </a:r>
            <a:endParaRPr lang="pt-BR" sz="1900" noProof="0" dirty="0"/>
          </a:p>
        </p:txBody>
      </p:sp>
      <p:sp>
        <p:nvSpPr>
          <p:cNvPr id="11" name="Shape 9"/>
          <p:cNvSpPr/>
          <p:nvPr/>
        </p:nvSpPr>
        <p:spPr>
          <a:xfrm>
            <a:off x="6885432" y="343814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Shape 10"/>
          <p:cNvSpPr/>
          <p:nvPr/>
        </p:nvSpPr>
        <p:spPr>
          <a:xfrm>
            <a:off x="6537960" y="274320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74320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da companhia telefônica</a:t>
            </a:r>
            <a:endParaRPr lang="pt-BR" sz="1600" noProof="0" dirty="0"/>
          </a:p>
        </p:txBody>
      </p:sp>
      <p:sp>
        <p:nvSpPr>
          <p:cNvPr id="15" name="Shape 12"/>
          <p:cNvSpPr/>
          <p:nvPr/>
        </p:nvSpPr>
        <p:spPr>
          <a:xfrm>
            <a:off x="6885432" y="426110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3"/>
          <p:cNvSpPr/>
          <p:nvPr/>
        </p:nvSpPr>
        <p:spPr>
          <a:xfrm>
            <a:off x="6537960" y="356616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4"/>
          <p:cNvSpPr txBox="1"/>
          <p:nvPr/>
        </p:nvSpPr>
        <p:spPr>
          <a:xfrm>
            <a:off x="7406640" y="356616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 do telefone (cobre)</a:t>
            </a:r>
            <a:endParaRPr lang="pt-BR" sz="1600" noProof="0" dirty="0"/>
          </a:p>
        </p:txBody>
      </p:sp>
      <p:sp>
        <p:nvSpPr>
          <p:cNvPr id="19" name="Shape 15"/>
          <p:cNvSpPr/>
          <p:nvPr/>
        </p:nvSpPr>
        <p:spPr>
          <a:xfrm>
            <a:off x="6537960" y="4389120"/>
            <a:ext cx="694944" cy="694944"/>
          </a:xfrm>
          <a:prstGeom prst="ellipse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562856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06640" y="438912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Modem ADSL na sua casa</a:t>
            </a:r>
            <a:endParaRPr lang="pt-BR" sz="1600" noProof="0" dirty="0"/>
          </a:p>
        </p:txBody>
      </p:sp>
      <p:sp>
        <p:nvSpPr>
          <p:cNvPr id="22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lembra?</a:t>
            </a:r>
            <a:endParaRPr lang="pt-BR" sz="1450" noProof="0" dirty="0"/>
          </a:p>
          <a:p>
            <a:pPr marL="0" indent="0">
              <a:buNone/>
            </a:pPr>
            <a:r>
              <a:rPr lang="pt-BR" sz="14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ADSL existia a internet discada: ocupava o telefone e fazia aquele barulho ao conectar.</a:t>
            </a:r>
            <a:endParaRPr lang="pt-BR" sz="145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14</a:t>
            </a:fld>
            <a:endParaRPr lang="pt-BR" noProof="0" dirty="0"/>
          </a:p>
        </p:txBody>
      </p:sp>
      <p:pic>
        <p:nvPicPr>
          <p:cNvPr id="26" name="Ilustração office_building" descr="office buildi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4403" y="2819643"/>
            <a:ext cx="542056" cy="542056"/>
          </a:xfrm>
          <a:prstGeom prst="rect">
            <a:avLst/>
          </a:prstGeom>
        </p:spPr>
      </p:pic>
      <p:pic>
        <p:nvPicPr>
          <p:cNvPr id="27" name="Ilustração telephone" descr="telepho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4403" y="3642603"/>
            <a:ext cx="542056" cy="542056"/>
          </a:xfrm>
          <a:prstGeom prst="rect">
            <a:avLst/>
          </a:prstGeom>
        </p:spPr>
      </p:pic>
      <p:pic>
        <p:nvPicPr>
          <p:cNvPr id="28" name="Ilustração telephone" descr="telepho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42062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FIBRA ÓPTICA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Fibra óptica: internet pela luz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conexão mais moderna e mais usada hoje nas cidades.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486400" cy="3200400"/>
          </a:xfrm>
          <a:prstGeom prst="roundRect">
            <a:avLst>
              <a:gd name="adj" fmla="val 228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12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9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</a:t>
            </a:r>
            <a:endParaRPr lang="pt-BR" sz="19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24912"/>
            <a:ext cx="5074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fio de vidro bem fininho leva a informação em forma de luz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conexão mais rápida e estável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sofre com chuva, raios ou distância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que a empresa passe o cabo na sua rua</a:t>
            </a:r>
            <a:endParaRPr lang="pt-BR" sz="1600" noProof="0" dirty="0"/>
          </a:p>
        </p:txBody>
      </p:sp>
      <p:sp>
        <p:nvSpPr>
          <p:cNvPr id="9" name="Cartão"/>
          <p:cNvSpPr/>
          <p:nvPr/>
        </p:nvSpPr>
        <p:spPr>
          <a:xfrm>
            <a:off x="6309360" y="20574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1284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9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da internet</a:t>
            </a:r>
            <a:endParaRPr lang="pt-BR" sz="1900" noProof="0" dirty="0"/>
          </a:p>
        </p:txBody>
      </p:sp>
      <p:sp>
        <p:nvSpPr>
          <p:cNvPr id="11" name="Shape 9"/>
          <p:cNvSpPr/>
          <p:nvPr/>
        </p:nvSpPr>
        <p:spPr>
          <a:xfrm>
            <a:off x="6885432" y="343814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Shape 10"/>
          <p:cNvSpPr/>
          <p:nvPr/>
        </p:nvSpPr>
        <p:spPr>
          <a:xfrm>
            <a:off x="6537960" y="274320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74320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Provedor de internet</a:t>
            </a:r>
            <a:endParaRPr lang="pt-BR" sz="1600" noProof="0" dirty="0"/>
          </a:p>
        </p:txBody>
      </p:sp>
      <p:sp>
        <p:nvSpPr>
          <p:cNvPr id="15" name="Shape 12"/>
          <p:cNvSpPr/>
          <p:nvPr/>
        </p:nvSpPr>
        <p:spPr>
          <a:xfrm>
            <a:off x="6885432" y="426110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3"/>
          <p:cNvSpPr/>
          <p:nvPr/>
        </p:nvSpPr>
        <p:spPr>
          <a:xfrm>
            <a:off x="6537960" y="356616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4"/>
          <p:cNvSpPr txBox="1"/>
          <p:nvPr/>
        </p:nvSpPr>
        <p:spPr>
          <a:xfrm>
            <a:off x="7406640" y="356616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Cabo de fibra pelos postes</a:t>
            </a:r>
            <a:endParaRPr lang="pt-BR" sz="1600" noProof="0" dirty="0"/>
          </a:p>
        </p:txBody>
      </p:sp>
      <p:sp>
        <p:nvSpPr>
          <p:cNvPr id="19" name="Shape 15"/>
          <p:cNvSpPr/>
          <p:nvPr/>
        </p:nvSpPr>
        <p:spPr>
          <a:xfrm>
            <a:off x="6537960" y="4389120"/>
            <a:ext cx="694944" cy="694944"/>
          </a:xfrm>
          <a:prstGeom prst="ellipse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562856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06640" y="438912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 da operadora (ONU) e roteador Wi-Fi</a:t>
            </a:r>
            <a:endParaRPr lang="pt-BR" sz="1600" noProof="0" dirty="0"/>
          </a:p>
        </p:txBody>
      </p:sp>
      <p:sp>
        <p:nvSpPr>
          <p:cNvPr id="22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Planos comuns</a:t>
            </a:r>
            <a:endParaRPr lang="pt-BR" sz="1450" noProof="0" dirty="0"/>
          </a:p>
          <a:p>
            <a:pPr marL="0" indent="0">
              <a:buNone/>
            </a:pPr>
            <a:r>
              <a:rPr lang="pt-BR" sz="14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Mbps, 500 Mbps ou 1 Gbps (1 Gbps = 1.000 Mbps).</a:t>
            </a:r>
            <a:endParaRPr lang="pt-BR" sz="145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15</a:t>
            </a:fld>
            <a:endParaRPr lang="pt-BR" noProof="0" dirty="0"/>
          </a:p>
        </p:txBody>
      </p:sp>
      <p:pic>
        <p:nvPicPr>
          <p:cNvPr id="26" name="Ilustração office_building" descr="office build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4403" y="2819643"/>
            <a:ext cx="542056" cy="542056"/>
          </a:xfrm>
          <a:prstGeom prst="rect">
            <a:avLst/>
          </a:prstGeom>
        </p:spPr>
      </p:pic>
      <p:pic>
        <p:nvPicPr>
          <p:cNvPr id="27" name="Ilustração light_bulb" descr="light bulb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4403" y="3642603"/>
            <a:ext cx="542056" cy="542056"/>
          </a:xfrm>
          <a:prstGeom prst="rect">
            <a:avLst/>
          </a:prstGeom>
        </p:spPr>
      </p:pic>
      <p:pic>
        <p:nvPicPr>
          <p:cNvPr id="28" name="Ilustração light_bulb" descr="light bulb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2062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856232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MÓVEL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3G, 4G e 5G: internet pelo ar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internet do celular, que vai com você para qualquer lugar com sinal.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486400" cy="3200400"/>
          </a:xfrm>
          <a:prstGeom prst="roundRect">
            <a:avLst>
              <a:gd name="adj" fmla="val 228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12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9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</a:t>
            </a:r>
            <a:endParaRPr lang="pt-BR" sz="19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24912"/>
            <a:ext cx="5074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internet chega pelas antenas das operadoras de celular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chip e de um plano de dados (franquia)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na rua, no ônibus e em casa — onde houver sinal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3G é lento, 4G é rápido e 5G é ainda mais rápido</a:t>
            </a:r>
            <a:endParaRPr lang="pt-BR" sz="1600" noProof="0" dirty="0"/>
          </a:p>
        </p:txBody>
      </p:sp>
      <p:sp>
        <p:nvSpPr>
          <p:cNvPr id="9" name="Cartão"/>
          <p:cNvSpPr/>
          <p:nvPr/>
        </p:nvSpPr>
        <p:spPr>
          <a:xfrm>
            <a:off x="6309360" y="20574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1284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9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da internet</a:t>
            </a:r>
            <a:endParaRPr lang="pt-BR" sz="1900" noProof="0" dirty="0"/>
          </a:p>
        </p:txBody>
      </p:sp>
      <p:sp>
        <p:nvSpPr>
          <p:cNvPr id="11" name="Shape 9"/>
          <p:cNvSpPr/>
          <p:nvPr/>
        </p:nvSpPr>
        <p:spPr>
          <a:xfrm>
            <a:off x="6885432" y="343814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Shape 10"/>
          <p:cNvSpPr/>
          <p:nvPr/>
        </p:nvSpPr>
        <p:spPr>
          <a:xfrm>
            <a:off x="6537960" y="274320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74320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Antena (torre) da operadora</a:t>
            </a:r>
            <a:endParaRPr lang="pt-BR" sz="1600" noProof="0" dirty="0"/>
          </a:p>
        </p:txBody>
      </p:sp>
      <p:sp>
        <p:nvSpPr>
          <p:cNvPr id="15" name="Shape 12"/>
          <p:cNvSpPr/>
          <p:nvPr/>
        </p:nvSpPr>
        <p:spPr>
          <a:xfrm>
            <a:off x="6885432" y="426110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3"/>
          <p:cNvSpPr/>
          <p:nvPr/>
        </p:nvSpPr>
        <p:spPr>
          <a:xfrm>
            <a:off x="6537960" y="356616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4"/>
          <p:cNvSpPr txBox="1"/>
          <p:nvPr/>
        </p:nvSpPr>
        <p:spPr>
          <a:xfrm>
            <a:off x="7406640" y="356616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Ondas de rádio pelo ar</a:t>
            </a:r>
            <a:endParaRPr lang="pt-BR" sz="1600" noProof="0" dirty="0"/>
          </a:p>
        </p:txBody>
      </p:sp>
      <p:sp>
        <p:nvSpPr>
          <p:cNvPr id="19" name="Shape 15"/>
          <p:cNvSpPr/>
          <p:nvPr/>
        </p:nvSpPr>
        <p:spPr>
          <a:xfrm>
            <a:off x="6537960" y="4389120"/>
            <a:ext cx="694944" cy="694944"/>
          </a:xfrm>
          <a:prstGeom prst="ellipse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562856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06640" y="438912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com chip</a:t>
            </a:r>
            <a:endParaRPr lang="pt-BR" sz="1600" noProof="0" dirty="0"/>
          </a:p>
        </p:txBody>
      </p:sp>
      <p:sp>
        <p:nvSpPr>
          <p:cNvPr id="22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"G"?</a:t>
            </a:r>
            <a:endParaRPr lang="pt-BR" sz="1450" noProof="0" dirty="0"/>
          </a:p>
          <a:p>
            <a:pPr marL="0" indent="0">
              <a:buNone/>
            </a:pPr>
            <a:r>
              <a:rPr lang="pt-BR" sz="14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quer dizer geração: o 5G é a 5ª geração da internet do celular.</a:t>
            </a:r>
            <a:endParaRPr lang="pt-BR" sz="145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16</a:t>
            </a:fld>
            <a:endParaRPr lang="pt-BR" noProof="0" dirty="0"/>
          </a:p>
        </p:txBody>
      </p:sp>
      <p:pic>
        <p:nvPicPr>
          <p:cNvPr id="26" name="Ilustração antenna_bars" descr="antenna bar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4403" y="2819643"/>
            <a:ext cx="542056" cy="542056"/>
          </a:xfrm>
          <a:prstGeom prst="rect">
            <a:avLst/>
          </a:prstGeom>
        </p:spPr>
      </p:pic>
      <p:pic>
        <p:nvPicPr>
          <p:cNvPr id="27" name="Ilustração wireless" descr="wireles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4403" y="3642603"/>
            <a:ext cx="542056" cy="542056"/>
          </a:xfrm>
          <a:prstGeom prst="rect">
            <a:avLst/>
          </a:prstGeom>
        </p:spPr>
      </p:pic>
      <p:pic>
        <p:nvPicPr>
          <p:cNvPr id="28" name="Ilustração mobile_phone" descr="mobile phon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0" y="4315968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Satélite: internet que vem do céu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para onde o cabo e o sinal de celular não chegam.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486400" cy="3200400"/>
          </a:xfrm>
          <a:prstGeom prst="roundRect">
            <a:avLst>
              <a:gd name="adj" fmla="val 228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12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9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</a:t>
            </a:r>
            <a:endParaRPr lang="pt-BR" sz="19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24912"/>
            <a:ext cx="5074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internet vem de satélites que estão no espaço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antena na casa "conversa" com o satélite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 ao interior, à zona rural e até a barcos</a:t>
            </a:r>
            <a:endParaRPr lang="pt-BR" sz="1600" noProof="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pt-BR" sz="16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moderno: Starlink, com milhares de satélites mais perto da Terra</a:t>
            </a:r>
            <a:endParaRPr lang="pt-BR" sz="1600" noProof="0" dirty="0"/>
          </a:p>
        </p:txBody>
      </p:sp>
      <p:sp>
        <p:nvSpPr>
          <p:cNvPr id="9" name="Cartão"/>
          <p:cNvSpPr/>
          <p:nvPr/>
        </p:nvSpPr>
        <p:spPr>
          <a:xfrm>
            <a:off x="6309360" y="20574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1284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9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da internet</a:t>
            </a:r>
            <a:endParaRPr lang="pt-BR" sz="1900" noProof="0" dirty="0"/>
          </a:p>
        </p:txBody>
      </p:sp>
      <p:sp>
        <p:nvSpPr>
          <p:cNvPr id="11" name="Shape 9"/>
          <p:cNvSpPr/>
          <p:nvPr/>
        </p:nvSpPr>
        <p:spPr>
          <a:xfrm>
            <a:off x="6885432" y="343814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Shape 10"/>
          <p:cNvSpPr/>
          <p:nvPr/>
        </p:nvSpPr>
        <p:spPr>
          <a:xfrm>
            <a:off x="6537960" y="274320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74320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no espaço</a:t>
            </a:r>
            <a:endParaRPr lang="pt-BR" sz="1600" noProof="0" dirty="0"/>
          </a:p>
        </p:txBody>
      </p:sp>
      <p:sp>
        <p:nvSpPr>
          <p:cNvPr id="15" name="Shape 12"/>
          <p:cNvSpPr/>
          <p:nvPr/>
        </p:nvSpPr>
        <p:spPr>
          <a:xfrm>
            <a:off x="6885432" y="426110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3"/>
          <p:cNvSpPr/>
          <p:nvPr/>
        </p:nvSpPr>
        <p:spPr>
          <a:xfrm>
            <a:off x="6537960" y="356616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4"/>
          <p:cNvSpPr txBox="1"/>
          <p:nvPr/>
        </p:nvSpPr>
        <p:spPr>
          <a:xfrm>
            <a:off x="7406640" y="356616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Antena no telhado</a:t>
            </a:r>
            <a:endParaRPr lang="pt-BR" sz="1600" noProof="0" dirty="0"/>
          </a:p>
        </p:txBody>
      </p:sp>
      <p:sp>
        <p:nvSpPr>
          <p:cNvPr id="19" name="Shape 15"/>
          <p:cNvSpPr/>
          <p:nvPr/>
        </p:nvSpPr>
        <p:spPr>
          <a:xfrm>
            <a:off x="6537960" y="4389120"/>
            <a:ext cx="694944" cy="694944"/>
          </a:xfrm>
          <a:prstGeom prst="ellipse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562856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06640" y="438912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Roteador Wi-Fi na casa</a:t>
            </a:r>
            <a:endParaRPr lang="pt-BR" sz="1600" noProof="0" dirty="0"/>
          </a:p>
        </p:txBody>
      </p:sp>
      <p:sp>
        <p:nvSpPr>
          <p:cNvPr id="22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e cuidado</a:t>
            </a:r>
            <a:endParaRPr lang="pt-BR" sz="1450" noProof="0" dirty="0"/>
          </a:p>
          <a:p>
            <a:pPr marL="0" indent="0">
              <a:buNone/>
            </a:pPr>
            <a:r>
              <a:rPr lang="pt-BR" sz="14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 a quase qualquer lugar, mas o equipamento e a mensalidade ainda são caros. Chuva forte pode atrapalhar.</a:t>
            </a:r>
            <a:endParaRPr lang="pt-BR" sz="145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17</a:t>
            </a:fld>
            <a:endParaRPr lang="pt-BR" noProof="0" dirty="0"/>
          </a:p>
        </p:txBody>
      </p:sp>
      <p:pic>
        <p:nvPicPr>
          <p:cNvPr id="26" name="Ilustração satellite" descr="satellit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4403" y="2819643"/>
            <a:ext cx="542056" cy="542056"/>
          </a:xfrm>
          <a:prstGeom prst="rect">
            <a:avLst/>
          </a:prstGeom>
        </p:spPr>
      </p:pic>
      <p:pic>
        <p:nvPicPr>
          <p:cNvPr id="27" name="Ilustração satellite_antenna" descr="satellite antenn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4403" y="3642603"/>
            <a:ext cx="542056" cy="542056"/>
          </a:xfrm>
          <a:prstGeom prst="rect">
            <a:avLst/>
          </a:prstGeom>
        </p:spPr>
      </p:pic>
      <p:pic>
        <p:nvPicPr>
          <p:cNvPr id="28" name="Ilustração tractor" descr="tracto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42062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conexão é qual?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tem seu lugar — o importante é saber escolher.</a:t>
            </a:r>
            <a:endParaRPr lang="pt-BR" sz="1600" noProof="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3053523"/>
              </p:ext>
            </p:extLst>
          </p:nvPr>
        </p:nvGraphicFramePr>
        <p:xfrm>
          <a:off x="548640" y="2057400"/>
          <a:ext cx="11064240" cy="3182112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chega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funciona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Destaque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local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Cabo ou Wi-Fi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de casa ou da escola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 tudo num lugar só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ADSL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Fio do telefone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Cidades (cada vez menos)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Lenta e antiga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Fibra óptica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Luz em um cabo de vidro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Cidades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Muito rápida e estável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3G / 4G / 5G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Ondas pelo ar (antenas)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tem sinal de celular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Vai no bolso; tem franquia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Satélite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espaço até a antena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Qualquer lugar, até a zona rural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Chega longe; mais cara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a turma: qual dessas você usa em casa? E no celular?</a:t>
            </a:r>
            <a:endParaRPr lang="pt-BR" sz="155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18</a:t>
            </a:fld>
            <a:endParaRPr lang="pt-BR" noProof="0" dirty="0"/>
          </a:p>
        </p:txBody>
      </p:sp>
      <p:pic>
        <p:nvPicPr>
          <p:cNvPr id="26" name="Ilustração globe_with_meridians" descr="globe with meridian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29260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933956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9339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DESAFIO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sou eu?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 a charada e responda em voz alta. Pode ser em equipes!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822960" y="2423160"/>
            <a:ext cx="731520" cy="73152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22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21945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levo a internet pela luz, dentro de um fio de vidro.</a:t>
            </a:r>
            <a:endParaRPr lang="pt-BR" sz="1800" noProof="0" dirty="0"/>
          </a:p>
        </p:txBody>
      </p:sp>
      <p:sp>
        <p:nvSpPr>
          <p:cNvPr id="10" name="Cartão"/>
          <p:cNvSpPr/>
          <p:nvPr/>
        </p:nvSpPr>
        <p:spPr>
          <a:xfrm>
            <a:off x="6126480" y="205740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9"/>
          <p:cNvSpPr/>
          <p:nvPr/>
        </p:nvSpPr>
        <p:spPr>
          <a:xfrm>
            <a:off x="6400800" y="2423160"/>
            <a:ext cx="731520" cy="73152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22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1945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chego pelo ar, através das antenas, e preciso de um chip.</a:t>
            </a:r>
            <a:endParaRPr lang="pt-BR" sz="1800" noProof="0" dirty="0"/>
          </a:p>
        </p:txBody>
      </p:sp>
      <p:sp>
        <p:nvSpPr>
          <p:cNvPr id="14" name="Cartão"/>
          <p:cNvSpPr/>
          <p:nvPr/>
        </p:nvSpPr>
        <p:spPr>
          <a:xfrm>
            <a:off x="548640" y="37490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3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2200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388620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uso o fio do telefone fixo e já estou ficando velho.</a:t>
            </a:r>
            <a:endParaRPr lang="pt-BR" sz="1800" noProof="0" dirty="0"/>
          </a:p>
        </p:txBody>
      </p:sp>
      <p:sp>
        <p:nvSpPr>
          <p:cNvPr id="18" name="Cartão"/>
          <p:cNvSpPr/>
          <p:nvPr/>
        </p:nvSpPr>
        <p:spPr>
          <a:xfrm>
            <a:off x="6126480" y="37490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7"/>
          <p:cNvSpPr/>
          <p:nvPr/>
        </p:nvSpPr>
        <p:spPr>
          <a:xfrm>
            <a:off x="6400800" y="4114800"/>
            <a:ext cx="731520" cy="73152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2200" noProof="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388620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venho do espaço e chego até a zona rural.</a:t>
            </a:r>
            <a:endParaRPr lang="pt-BR" sz="180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19</a:t>
            </a:fld>
            <a:endParaRPr lang="pt-BR" noProof="0" dirty="0"/>
          </a:p>
        </p:txBody>
      </p:sp>
      <p:pic>
        <p:nvPicPr>
          <p:cNvPr id="26" name="Ilustração thinking_face" descr="thinking fa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92608"/>
            <a:ext cx="132588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001268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0012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Cuidados ao usar a rede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também faz parte de usar bem a internet.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244144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21945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Coloque senha no Wi-Fi de casa</a:t>
            </a:r>
            <a:endParaRPr lang="pt-BR" sz="1600" noProof="0" dirty="0"/>
          </a:p>
          <a:p>
            <a:pPr marL="0" indent="0">
              <a:buNone/>
            </a:pPr>
            <a:r>
              <a:rPr lang="pt-BR" sz="155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letras, números e símbolos — nada de 12345678</a:t>
            </a:r>
            <a:endParaRPr lang="pt-BR" sz="1600" noProof="0" dirty="0"/>
          </a:p>
        </p:txBody>
      </p:sp>
      <p:sp>
        <p:nvSpPr>
          <p:cNvPr id="10" name="Cartão"/>
          <p:cNvSpPr/>
          <p:nvPr/>
        </p:nvSpPr>
        <p:spPr>
          <a:xfrm>
            <a:off x="6126480" y="205740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6355080" y="244144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9"/>
          <p:cNvSpPr txBox="1"/>
          <p:nvPr/>
        </p:nvSpPr>
        <p:spPr>
          <a:xfrm>
            <a:off x="7269480" y="21945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com Wi-Fi público</a:t>
            </a:r>
            <a:endParaRPr lang="pt-BR" sz="1600" noProof="0" dirty="0"/>
          </a:p>
          <a:p>
            <a:pPr marL="0" indent="0">
              <a:buNone/>
            </a:pPr>
            <a:r>
              <a:rPr lang="pt-BR" sz="155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praça ou na rodoviária, não entre no banco nem faça Pix</a:t>
            </a:r>
            <a:endParaRPr lang="pt-BR" sz="1600" noProof="0" dirty="0"/>
          </a:p>
        </p:txBody>
      </p:sp>
      <p:sp>
        <p:nvSpPr>
          <p:cNvPr id="14" name="Cartão"/>
          <p:cNvSpPr/>
          <p:nvPr/>
        </p:nvSpPr>
        <p:spPr>
          <a:xfrm>
            <a:off x="548640" y="37490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1"/>
          <p:cNvSpPr/>
          <p:nvPr/>
        </p:nvSpPr>
        <p:spPr>
          <a:xfrm>
            <a:off x="777240" y="41330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38862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passe códigos</a:t>
            </a:r>
            <a:endParaRPr lang="pt-BR" sz="1600" noProof="0" dirty="0"/>
          </a:p>
          <a:p>
            <a:pPr marL="0" indent="0">
              <a:buNone/>
            </a:pPr>
            <a:r>
              <a:rPr lang="pt-BR" sz="155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do WhatsApp ou do banco que chega por SMS é só seu</a:t>
            </a:r>
            <a:endParaRPr lang="pt-BR" sz="1600" noProof="0" dirty="0"/>
          </a:p>
        </p:txBody>
      </p:sp>
      <p:sp>
        <p:nvSpPr>
          <p:cNvPr id="18" name="Cartão"/>
          <p:cNvSpPr/>
          <p:nvPr/>
        </p:nvSpPr>
        <p:spPr>
          <a:xfrm>
            <a:off x="6126480" y="37490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4"/>
          <p:cNvSpPr/>
          <p:nvPr/>
        </p:nvSpPr>
        <p:spPr>
          <a:xfrm>
            <a:off x="6355080" y="41330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5"/>
          <p:cNvSpPr txBox="1"/>
          <p:nvPr/>
        </p:nvSpPr>
        <p:spPr>
          <a:xfrm>
            <a:off x="7269480" y="38862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Mantenha o celular atualizado</a:t>
            </a:r>
            <a:endParaRPr lang="pt-BR" sz="1600" noProof="0" dirty="0"/>
          </a:p>
          <a:p>
            <a:pPr marL="0" indent="0">
              <a:buNone/>
            </a:pPr>
            <a:r>
              <a:rPr lang="pt-BR" sz="155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atualizações corrigem falhas de segurança</a:t>
            </a:r>
            <a:endParaRPr lang="pt-BR" sz="160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20</a:t>
            </a:fld>
            <a:endParaRPr lang="pt-BR" noProof="0" dirty="0"/>
          </a:p>
        </p:txBody>
      </p:sp>
      <p:pic>
        <p:nvPicPr>
          <p:cNvPr id="26" name="Ilustração locked" descr="lock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683" y="2517891"/>
            <a:ext cx="542056" cy="542056"/>
          </a:xfrm>
          <a:prstGeom prst="rect">
            <a:avLst/>
          </a:prstGeom>
        </p:spPr>
      </p:pic>
      <p:pic>
        <p:nvPicPr>
          <p:cNvPr id="27" name="Ilustração wireless" descr="wireles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1523" y="2517891"/>
            <a:ext cx="542056" cy="542056"/>
          </a:xfrm>
          <a:prstGeom prst="rect">
            <a:avLst/>
          </a:prstGeom>
        </p:spPr>
      </p:pic>
      <p:pic>
        <p:nvPicPr>
          <p:cNvPr id="28" name="Ilustração shield" descr="shiel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683" y="4209531"/>
            <a:ext cx="542056" cy="542056"/>
          </a:xfrm>
          <a:prstGeom prst="rect">
            <a:avLst/>
          </a:prstGeom>
        </p:spPr>
      </p:pic>
      <p:pic>
        <p:nvPicPr>
          <p:cNvPr id="29" name="Ilustração mobile_phone" descr="mobile phon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1523" y="4209531"/>
            <a:ext cx="542056" cy="542056"/>
          </a:xfrm>
          <a:prstGeom prst="rect">
            <a:avLst/>
          </a:prstGeom>
        </p:spPr>
      </p:pic>
      <p:pic>
        <p:nvPicPr>
          <p:cNvPr id="30" name="Ilustração warning" descr="warni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69880" y="292608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9600" b="1" noProof="0" dirty="0">
                <a:solidFill>
                  <a:srgbClr val="7CB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pt-BR" sz="9600" noProof="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880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4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medir a velocidade da sua conexão</a:t>
            </a:r>
            <a:endParaRPr lang="pt-BR" sz="40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8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internet entrega o que você paga?</a:t>
            </a:r>
            <a:endParaRPr lang="pt-BR" sz="1800" noProof="0" dirty="0"/>
          </a:p>
        </p:txBody>
      </p:sp>
      <p:sp>
        <p:nvSpPr>
          <p:cNvPr id="5" name="Etiqueta"/>
          <p:cNvSpPr/>
          <p:nvPr/>
        </p:nvSpPr>
        <p:spPr>
          <a:xfrm>
            <a:off x="8229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MBPS</a:t>
            </a:r>
            <a:endParaRPr lang="pt-BR" sz="1000" noProof="0" dirty="0"/>
          </a:p>
        </p:txBody>
      </p:sp>
      <p:sp>
        <p:nvSpPr>
          <p:cNvPr id="7" name="Etiqueta"/>
          <p:cNvSpPr/>
          <p:nvPr/>
        </p:nvSpPr>
        <p:spPr>
          <a:xfrm>
            <a:off x="28803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 UPLOAD</a:t>
            </a:r>
            <a:endParaRPr lang="pt-BR" sz="1000" noProof="0" dirty="0"/>
          </a:p>
        </p:txBody>
      </p:sp>
      <p:sp>
        <p:nvSpPr>
          <p:cNvPr id="9" name="Etiqueta"/>
          <p:cNvSpPr/>
          <p:nvPr/>
        </p:nvSpPr>
        <p:spPr>
          <a:xfrm>
            <a:off x="49377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FRANQUIA</a:t>
            </a:r>
            <a:endParaRPr lang="pt-BR" sz="100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21</a:t>
            </a:fld>
            <a:endParaRPr lang="pt-BR" noProof="0" dirty="0"/>
          </a:p>
        </p:txBody>
      </p:sp>
      <p:pic>
        <p:nvPicPr>
          <p:cNvPr id="26" name="Ilustração hero_04" descr="hero 0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74320"/>
            <a:ext cx="265176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856232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1.5.4 · VELOCIDADE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Entendendo a velocidade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em Mbps (megabits por segundo): quanta informação passa a cada segundo.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822960" y="228600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2286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</a:t>
            </a:r>
            <a:endParaRPr lang="pt-BR" sz="1600" noProof="0" dirty="0"/>
          </a:p>
          <a:p>
            <a:pPr marL="0" indent="0">
              <a:buNone/>
            </a:pPr>
            <a:r>
              <a:rPr lang="pt-BR" sz="15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baixar / receber</a:t>
            </a:r>
            <a:endParaRPr lang="pt-BR" sz="1600" noProof="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vídeo, abrir site, receber foto.</a:t>
            </a:r>
            <a:endParaRPr lang="pt-BR" sz="1600" noProof="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5720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maior, melhor</a:t>
            </a:r>
            <a:endParaRPr lang="pt-BR" sz="1600" noProof="0" dirty="0"/>
          </a:p>
        </p:txBody>
      </p:sp>
      <p:sp>
        <p:nvSpPr>
          <p:cNvPr id="12" name="Cartão"/>
          <p:cNvSpPr/>
          <p:nvPr/>
        </p:nvSpPr>
        <p:spPr>
          <a:xfrm>
            <a:off x="4297680" y="20574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E8F0FA"/>
          </a:solidFill>
          <a:ln w="12700">
            <a:solidFill>
              <a:srgbClr val="C5D6E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Shape 10"/>
          <p:cNvSpPr/>
          <p:nvPr/>
        </p:nvSpPr>
        <p:spPr>
          <a:xfrm>
            <a:off x="4572000" y="228600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1"/>
          <p:cNvSpPr txBox="1"/>
          <p:nvPr/>
        </p:nvSpPr>
        <p:spPr>
          <a:xfrm>
            <a:off x="5440680" y="2286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2A5A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</a:t>
            </a:r>
            <a:endParaRPr lang="pt-BR" sz="1600" noProof="0" dirty="0"/>
          </a:p>
          <a:p>
            <a:pPr marL="0" indent="0">
              <a:buNone/>
            </a:pPr>
            <a:r>
              <a:rPr lang="pt-BR" sz="15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</a:t>
            </a:r>
            <a:endParaRPr lang="pt-BR" sz="1600" noProof="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 foto ou vídeo, fazer chamada de vídeo.</a:t>
            </a:r>
            <a:endParaRPr lang="pt-BR" sz="1600" noProof="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45720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2A5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maior, melhor</a:t>
            </a:r>
            <a:endParaRPr lang="pt-BR" sz="1600" noProof="0" dirty="0"/>
          </a:p>
        </p:txBody>
      </p:sp>
      <p:sp>
        <p:nvSpPr>
          <p:cNvPr id="18" name="Cartão"/>
          <p:cNvSpPr/>
          <p:nvPr/>
        </p:nvSpPr>
        <p:spPr>
          <a:xfrm>
            <a:off x="8046720" y="20574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5"/>
          <p:cNvSpPr/>
          <p:nvPr/>
        </p:nvSpPr>
        <p:spPr>
          <a:xfrm>
            <a:off x="8321040" y="228600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D35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Ping (latência)</a:t>
            </a:r>
            <a:endParaRPr lang="pt-BR" sz="1600" noProof="0" dirty="0"/>
          </a:p>
          <a:p>
            <a:pPr marL="0" indent="0">
              <a:buNone/>
            </a:pPr>
            <a:r>
              <a:rPr lang="pt-BR" sz="15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de resposta</a:t>
            </a:r>
            <a:endParaRPr lang="pt-BR" sz="1600" noProof="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 em chamadas e jogos online. Medido em ms.</a:t>
            </a:r>
            <a:endParaRPr lang="pt-BR" sz="1600" noProof="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45720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MENOR, melhor</a:t>
            </a:r>
            <a:endParaRPr lang="pt-BR" sz="1600" noProof="0" dirty="0"/>
          </a:p>
        </p:txBody>
      </p:sp>
      <p:sp>
        <p:nvSpPr>
          <p:cNvPr id="24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Pense num cano d'água</a:t>
            </a:r>
            <a:endParaRPr lang="pt-BR" sz="1450" noProof="0" dirty="0"/>
          </a:p>
          <a:p>
            <a:pPr marL="0" indent="0">
              <a:buNone/>
            </a:pPr>
            <a:r>
              <a:rPr lang="pt-BR" sz="14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mais largo o cano (mais Mbps), mais água (informação) passa ao mesmo tempo.</a:t>
            </a:r>
            <a:endParaRPr lang="pt-BR" sz="1450" noProof="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22</a:t>
            </a:fld>
            <a:endParaRPr lang="pt-BR" noProof="0" dirty="0"/>
          </a:p>
        </p:txBody>
      </p:sp>
      <p:pic>
        <p:nvPicPr>
          <p:cNvPr id="28" name="Ilustração inbox_tray" descr="inbox tray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427" y="2366467"/>
            <a:ext cx="570585" cy="570585"/>
          </a:xfrm>
          <a:prstGeom prst="rect">
            <a:avLst/>
          </a:prstGeom>
        </p:spPr>
      </p:pic>
      <p:pic>
        <p:nvPicPr>
          <p:cNvPr id="29" name="Ilustração outbox_tray" descr="outbox tray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2467" y="2366467"/>
            <a:ext cx="570585" cy="570585"/>
          </a:xfrm>
          <a:prstGeom prst="rect">
            <a:avLst/>
          </a:prstGeom>
        </p:spPr>
      </p:pic>
      <p:pic>
        <p:nvPicPr>
          <p:cNvPr id="30" name="Ilustração stopwatch" descr="stopwatch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1507" y="2366467"/>
            <a:ext cx="570585" cy="5705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633472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1.5.4 · VELOCIDADE × ARQUIVO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tempo leva para baixar?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internet é medida em megabits (Mbps); os arquivos, em megabytes (MB).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1168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C5D6EC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12848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2011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A5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prática:  </a:t>
            </a:r>
            <a:r>
              <a:rPr lang="pt-BR" sz="2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Mbps ÷ 8 = MB por segundo</a:t>
            </a:r>
            <a:r>
              <a:rPr lang="pt-BR" sz="15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ex.: 100 Mbps baixam cerca de 12 MB a cada segundo</a:t>
            </a:r>
            <a:endParaRPr lang="pt-BR" sz="1700" noProof="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246395"/>
              </p:ext>
            </p:extLst>
          </p:nvPr>
        </p:nvGraphicFramePr>
        <p:xfrm>
          <a:off x="548640" y="2971800"/>
          <a:ext cx="11064240" cy="237744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vou baixar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Mbps (4G fraco)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Mbps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Mbps (fibra)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do WhatsApp (0,2 MB)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hora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hora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hora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Aplicativo (100 MB)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 e 20 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segundos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segundos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Filme (2 GB)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minutos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e 40 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segundos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do celular (3 GB)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minutos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minutos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segundos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440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200" i="1" noProof="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Tempos aproximados, em condições ideais. Na vida real costuma demorar um pouco mais.</a:t>
            </a:r>
            <a:endParaRPr lang="pt-BR" sz="120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23</a:t>
            </a:fld>
            <a:endParaRPr lang="pt-BR" noProof="0" dirty="0"/>
          </a:p>
        </p:txBody>
      </p:sp>
      <p:pic>
        <p:nvPicPr>
          <p:cNvPr id="26" name="Ilustração snail" descr="sna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365760"/>
            <a:ext cx="1051560" cy="1051560"/>
          </a:xfrm>
          <a:prstGeom prst="rect">
            <a:avLst/>
          </a:prstGeom>
        </p:spPr>
      </p:pic>
      <p:pic>
        <p:nvPicPr>
          <p:cNvPr id="27" name="Ilustração rocket" descr="rocke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0" y="36576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1.5.4 · FRANQUIA DE DADOS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cabe em 10 GB por mês?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dados móveis (3G/4G/5G), o plano tem um limite: a franquia.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plano de celular</a:t>
            </a:r>
            <a:endParaRPr lang="pt-BR" sz="15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60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GB</a:t>
            </a:r>
            <a:endParaRPr lang="pt-BR" sz="60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57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mês</a:t>
            </a:r>
            <a:endParaRPr lang="pt-BR" sz="1600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20624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GB = 1.000 MB</a:t>
            </a:r>
            <a:endParaRPr lang="pt-BR" sz="1600" noProof="0" dirty="0"/>
          </a:p>
          <a:p>
            <a:pPr marL="0" indent="0" algn="ctr">
              <a:buNone/>
            </a:pPr>
            <a:r>
              <a:rPr lang="pt-BR" sz="14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Acabou a franquia? A internet para ou fica bem lenta.</a:t>
            </a:r>
            <a:endParaRPr lang="pt-BR" sz="1600" noProof="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5844948"/>
              </p:ext>
            </p:extLst>
          </p:nvPr>
        </p:nvGraphicFramePr>
        <p:xfrm>
          <a:off x="4389120" y="2057400"/>
          <a:ext cx="7223760" cy="323697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Cabe em 10 GB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foto no WhatsApp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0,2 MB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50.000 fotos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minuto de áudio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0,1 MB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100.000 minutos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Baixar 1 aplicativo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 MB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 aplicativos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hora de vídeo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0,5 a 1 GB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 a 20 horas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hora de videochamada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0,5 GB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noProof="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20 horas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confunda</a:t>
            </a:r>
            <a:endParaRPr lang="pt-BR" sz="1450" noProof="0" dirty="0"/>
          </a:p>
          <a:p>
            <a:pPr marL="0" indent="0">
              <a:buNone/>
            </a:pPr>
            <a:r>
              <a:rPr lang="pt-BR" sz="14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é a largura do cano; franquia é o tamanho da caixa d'água. Vídeo é o que mais gasta!</a:t>
            </a:r>
            <a:endParaRPr lang="pt-BR" sz="1450" noProof="0" dirty="0"/>
          </a:p>
        </p:txBody>
      </p:sp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24</a:t>
            </a:fld>
            <a:endParaRPr lang="pt-BR" noProof="0" dirty="0"/>
          </a:p>
        </p:txBody>
      </p:sp>
      <p:pic>
        <p:nvPicPr>
          <p:cNvPr id="26" name="Ilustração mobile_phone" descr="mobile pho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292608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1.5.4 · TUTORIAL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para medir a velocidade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no computador e no celular.</a:t>
            </a:r>
            <a:endParaRPr lang="pt-BR" sz="1600" noProof="0" dirty="0"/>
          </a:p>
        </p:txBody>
      </p:sp>
      <p:sp>
        <p:nvSpPr>
          <p:cNvPr id="6" name="Shape 4"/>
          <p:cNvSpPr/>
          <p:nvPr/>
        </p:nvSpPr>
        <p:spPr>
          <a:xfrm>
            <a:off x="2240280" y="2423160"/>
            <a:ext cx="2034540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1463040" y="2057400"/>
            <a:ext cx="731520" cy="73152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2200" noProof="0" dirty="0"/>
          </a:p>
        </p:txBody>
      </p:sp>
      <p:sp>
        <p:nvSpPr>
          <p:cNvPr id="9" name="Cartão"/>
          <p:cNvSpPr/>
          <p:nvPr/>
        </p:nvSpPr>
        <p:spPr>
          <a:xfrm>
            <a:off x="548640" y="306324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2461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navegador</a:t>
            </a:r>
            <a:endParaRPr lang="pt-BR" sz="1600" noProof="0" dirty="0"/>
          </a:p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 ou Firefox</a:t>
            </a:r>
            <a:endParaRPr lang="pt-BR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052060" y="2423160"/>
            <a:ext cx="2034540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Shape 10"/>
          <p:cNvSpPr/>
          <p:nvPr/>
        </p:nvSpPr>
        <p:spPr>
          <a:xfrm>
            <a:off x="4274820" y="205740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427482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2200" noProof="0" dirty="0"/>
          </a:p>
        </p:txBody>
      </p:sp>
      <p:sp>
        <p:nvSpPr>
          <p:cNvPr id="14" name="Cartão"/>
          <p:cNvSpPr/>
          <p:nvPr/>
        </p:nvSpPr>
        <p:spPr>
          <a:xfrm>
            <a:off x="3360420" y="306324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3543300" y="32461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o endereço</a:t>
            </a:r>
            <a:endParaRPr lang="pt-BR" sz="1600" noProof="0" dirty="0"/>
          </a:p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fast.com  ou  speedtest.net</a:t>
            </a:r>
            <a:endParaRPr lang="pt-BR" sz="1600" noProof="0" dirty="0"/>
          </a:p>
        </p:txBody>
      </p:sp>
      <p:sp>
        <p:nvSpPr>
          <p:cNvPr id="16" name="Shape 14"/>
          <p:cNvSpPr/>
          <p:nvPr/>
        </p:nvSpPr>
        <p:spPr>
          <a:xfrm>
            <a:off x="7863840" y="2423160"/>
            <a:ext cx="2034540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Shape 15"/>
          <p:cNvSpPr/>
          <p:nvPr/>
        </p:nvSpPr>
        <p:spPr>
          <a:xfrm>
            <a:off x="7086600" y="205740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2200" noProof="0" dirty="0"/>
          </a:p>
        </p:txBody>
      </p:sp>
      <p:sp>
        <p:nvSpPr>
          <p:cNvPr id="19" name="Cartão"/>
          <p:cNvSpPr/>
          <p:nvPr/>
        </p:nvSpPr>
        <p:spPr>
          <a:xfrm>
            <a:off x="6172200" y="306324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32461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iniciar</a:t>
            </a:r>
            <a:endParaRPr lang="pt-BR" sz="1600" noProof="0" dirty="0"/>
          </a:p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"Iniciar" ou "Go" e espere uns 30 segundos</a:t>
            </a:r>
            <a:endParaRPr lang="pt-BR" sz="1600" noProof="0" dirty="0"/>
          </a:p>
        </p:txBody>
      </p:sp>
      <p:sp>
        <p:nvSpPr>
          <p:cNvPr id="21" name="Shape 19"/>
          <p:cNvSpPr/>
          <p:nvPr/>
        </p:nvSpPr>
        <p:spPr>
          <a:xfrm>
            <a:off x="9898380" y="205740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 txBox="1"/>
          <p:nvPr/>
        </p:nvSpPr>
        <p:spPr>
          <a:xfrm>
            <a:off x="989838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2200" noProof="0" dirty="0"/>
          </a:p>
        </p:txBody>
      </p:sp>
      <p:sp>
        <p:nvSpPr>
          <p:cNvPr id="23" name="Cartão"/>
          <p:cNvSpPr/>
          <p:nvPr/>
        </p:nvSpPr>
        <p:spPr>
          <a:xfrm>
            <a:off x="8983980" y="306324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4" name="Text 22"/>
          <p:cNvSpPr txBox="1"/>
          <p:nvPr/>
        </p:nvSpPr>
        <p:spPr>
          <a:xfrm>
            <a:off x="9166860" y="32461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Anote os números</a:t>
            </a:r>
            <a:endParaRPr lang="pt-BR" sz="1600" noProof="0" dirty="0"/>
          </a:p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download, upload e </a:t>
            </a:r>
            <a:r>
              <a:rPr lang="pt-BR" sz="1600" noProof="0" dirty="0" err="1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</a:t>
            </a:r>
            <a:endParaRPr lang="pt-BR" sz="1600" noProof="0" dirty="0"/>
          </a:p>
        </p:txBody>
      </p:sp>
      <p:sp>
        <p:nvSpPr>
          <p:cNvPr id="25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</a:t>
            </a:r>
            <a:endParaRPr lang="pt-BR" sz="1450" noProof="0" dirty="0"/>
          </a:p>
          <a:p>
            <a:pPr marL="0" indent="0">
              <a:buNone/>
            </a:pPr>
            <a:r>
              <a:rPr lang="pt-BR" sz="14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Faça o teste perto e longe do roteador e compare com a velocidade do plano que aparece na conta.</a:t>
            </a:r>
            <a:endParaRPr lang="pt-BR" sz="1450" noProof="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25</a:t>
            </a:fld>
            <a:endParaRPr lang="pt-BR" noProof="0" dirty="0"/>
          </a:p>
        </p:txBody>
      </p:sp>
      <p:pic>
        <p:nvPicPr>
          <p:cNvPr id="29" name="Ilustração globe_with_meridians" descr="globe with meridian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19" y="4160520"/>
            <a:ext cx="868680" cy="868680"/>
          </a:xfrm>
          <a:prstGeom prst="rect">
            <a:avLst/>
          </a:prstGeom>
        </p:spPr>
      </p:pic>
      <p:pic>
        <p:nvPicPr>
          <p:cNvPr id="30" name="Ilustração keyboard" descr="keybo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4160520"/>
            <a:ext cx="868680" cy="868680"/>
          </a:xfrm>
          <a:prstGeom prst="rect">
            <a:avLst/>
          </a:prstGeom>
        </p:spPr>
      </p:pic>
      <p:pic>
        <p:nvPicPr>
          <p:cNvPr id="31" name="Ilustração computer_mouse" descr="computer mou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0" y="4160520"/>
            <a:ext cx="868680" cy="868680"/>
          </a:xfrm>
          <a:prstGeom prst="rect">
            <a:avLst/>
          </a:prstGeom>
        </p:spPr>
      </p:pic>
      <p:pic>
        <p:nvPicPr>
          <p:cNvPr id="32" name="Ilustração memo" descr="mem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2660" y="41605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 1 · NO COMPUTADOR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 a sua conexão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duplas: façam o teste e anotem no caderno.</a:t>
            </a:r>
            <a:endParaRPr lang="pt-BR" sz="1600" noProof="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8334709"/>
              </p:ext>
            </p:extLst>
          </p:nvPr>
        </p:nvGraphicFramePr>
        <p:xfrm>
          <a:off x="548640" y="2057400"/>
          <a:ext cx="11064240" cy="2852928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testei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 (Mbps)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(Mbps)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Ping (</a:t>
                      </a:r>
                      <a:r>
                        <a:rPr lang="pt-BR" sz="1600" b="1" noProof="0" dirty="0" err="1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</a:t>
                      </a: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Computador da escola (cabo)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Celular no Wi-Fi da escola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Celular no 4G/5G (dados)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Pense</a:t>
            </a:r>
            <a:endParaRPr lang="pt-BR" sz="1450" noProof="0" dirty="0"/>
          </a:p>
          <a:p>
            <a:pPr marL="0" indent="0">
              <a:buNone/>
            </a:pPr>
            <a:r>
              <a:rPr lang="pt-BR" sz="14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foi a mais rápida? Por que você acha que deu diferença?</a:t>
            </a:r>
            <a:endParaRPr lang="pt-BR" sz="145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26</a:t>
            </a:fld>
            <a:endParaRPr lang="pt-BR" noProof="0" dirty="0"/>
          </a:p>
        </p:txBody>
      </p:sp>
      <p:pic>
        <p:nvPicPr>
          <p:cNvPr id="28" name="Ilustração technologist" descr="technologis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0" y="292608"/>
            <a:ext cx="132588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 2 · NO COMPUTADOR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Pesquisa: qual plano vale mais a pena?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 Google para comparar planos de internet da sua cidade.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731520" y="2221992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15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057400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Pesquise  </a:t>
            </a:r>
            <a:r>
              <a:rPr lang="pt-BR" sz="155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fibra + nome da sua cidade</a:t>
            </a:r>
            <a:endParaRPr lang="pt-BR" sz="1550" noProof="0" dirty="0"/>
          </a:p>
        </p:txBody>
      </p:sp>
      <p:sp>
        <p:nvSpPr>
          <p:cNvPr id="10" name="Cartão"/>
          <p:cNvSpPr/>
          <p:nvPr/>
        </p:nvSpPr>
        <p:spPr>
          <a:xfrm>
            <a:off x="548640" y="288036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9"/>
          <p:cNvSpPr/>
          <p:nvPr/>
        </p:nvSpPr>
        <p:spPr>
          <a:xfrm>
            <a:off x="731520" y="3044952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044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5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80360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 </a:t>
            </a:r>
            <a:r>
              <a:rPr lang="pt-BR" sz="155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empresas e anote um plano de cada</a:t>
            </a:r>
            <a:endParaRPr lang="pt-BR" sz="1550" noProof="0" dirty="0"/>
          </a:p>
        </p:txBody>
      </p:sp>
      <p:sp>
        <p:nvSpPr>
          <p:cNvPr id="14" name="Cartão"/>
          <p:cNvSpPr/>
          <p:nvPr/>
        </p:nvSpPr>
        <p:spPr>
          <a:xfrm>
            <a:off x="548640" y="370332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3"/>
          <p:cNvSpPr/>
          <p:nvPr/>
        </p:nvSpPr>
        <p:spPr>
          <a:xfrm>
            <a:off x="731520" y="3867912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867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500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703320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Pesquise também  </a:t>
            </a:r>
            <a:r>
              <a:rPr lang="pt-BR" sz="155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plano via satélite (ex.: Starlink)</a:t>
            </a:r>
            <a:endParaRPr lang="pt-BR" sz="1550" noProof="0" dirty="0"/>
          </a:p>
        </p:txBody>
      </p:sp>
      <p:sp>
        <p:nvSpPr>
          <p:cNvPr id="18" name="Cartão"/>
          <p:cNvSpPr/>
          <p:nvPr/>
        </p:nvSpPr>
        <p:spPr>
          <a:xfrm>
            <a:off x="548640" y="452628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7"/>
          <p:cNvSpPr/>
          <p:nvPr/>
        </p:nvSpPr>
        <p:spPr>
          <a:xfrm>
            <a:off x="731520" y="4690872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690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1500" noProof="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526280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 </a:t>
            </a:r>
            <a:r>
              <a:rPr lang="pt-BR" sz="155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plano você escolheria?</a:t>
            </a:r>
            <a:endParaRPr lang="pt-BR" sz="1550" noProof="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116534"/>
              </p:ext>
            </p:extLst>
          </p:nvPr>
        </p:nvGraphicFramePr>
        <p:xfrm>
          <a:off x="5852160" y="2057400"/>
          <a:ext cx="5760720" cy="292608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Mbps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600" b="1" noProof="0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R$/mês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responder</a:t>
            </a:r>
            <a:endParaRPr lang="pt-BR" sz="1450" noProof="0" dirty="0"/>
          </a:p>
          <a:p>
            <a:pPr marL="0" indent="0">
              <a:buNone/>
            </a:pPr>
            <a:r>
              <a:rPr lang="pt-BR" sz="145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custa cada 100 Mbps? O mais barato é sempre o melhor? A empresa atende o seu bairro?</a:t>
            </a:r>
            <a:endParaRPr lang="pt-BR" sz="1450" noProof="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27</a:t>
            </a:fld>
            <a:endParaRPr lang="pt-BR" noProof="0" dirty="0"/>
          </a:p>
        </p:txBody>
      </p:sp>
      <p:pic>
        <p:nvPicPr>
          <p:cNvPr id="29" name="Ilustração magnifying_glass_tilted_left" descr="magnifying glass tilted lef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365760"/>
            <a:ext cx="1051560" cy="1051560"/>
          </a:xfrm>
          <a:prstGeom prst="rect">
            <a:avLst/>
          </a:prstGeom>
        </p:spPr>
      </p:pic>
      <p:pic>
        <p:nvPicPr>
          <p:cNvPr id="30" name="Ilustração money_bag" descr="money ba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0" y="36576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001268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10012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pt-BR" sz="1000" noProof="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aprendemos hoje</a:t>
            </a:r>
            <a:endParaRPr lang="pt-BR" sz="30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Voltando aos objetivos do início da aula.</a:t>
            </a:r>
            <a:endParaRPr lang="pt-BR" sz="1600" noProof="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1945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2057400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 </a:t>
            </a:r>
            <a:r>
              <a:rPr lang="pt-BR" sz="17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aparelhos ligados para trocar informações e dividir recursos</a:t>
            </a:r>
            <a:endParaRPr lang="pt-BR" sz="1700" noProof="0" dirty="0"/>
          </a:p>
        </p:txBody>
      </p:sp>
      <p:sp>
        <p:nvSpPr>
          <p:cNvPr id="9" name="Cartão"/>
          <p:cNvSpPr/>
          <p:nvPr/>
        </p:nvSpPr>
        <p:spPr>
          <a:xfrm>
            <a:off x="548640" y="2788920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92608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2788920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 </a:t>
            </a:r>
            <a:r>
              <a:rPr lang="pt-BR" sz="17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aparelhos, cabos/Wi-Fi, roteador, regras, informação e provedor</a:t>
            </a:r>
            <a:endParaRPr lang="pt-BR" sz="1700" noProof="0" dirty="0"/>
          </a:p>
        </p:txBody>
      </p:sp>
      <p:sp>
        <p:nvSpPr>
          <p:cNvPr id="12" name="Cartão"/>
          <p:cNvSpPr/>
          <p:nvPr/>
        </p:nvSpPr>
        <p:spPr>
          <a:xfrm>
            <a:off x="548640" y="3520440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65760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520440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Conexões  </a:t>
            </a:r>
            <a:r>
              <a:rPr lang="pt-BR" sz="17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local, ADSL, fibra, 3G/4G/5G e satélite</a:t>
            </a:r>
            <a:endParaRPr lang="pt-BR" sz="1700" noProof="0" dirty="0"/>
          </a:p>
        </p:txBody>
      </p:sp>
      <p:sp>
        <p:nvSpPr>
          <p:cNvPr id="15" name="Cartão"/>
          <p:cNvSpPr/>
          <p:nvPr/>
        </p:nvSpPr>
        <p:spPr>
          <a:xfrm>
            <a:off x="548640" y="4251960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389120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251960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 </a:t>
            </a:r>
            <a:r>
              <a:rPr lang="pt-BR" sz="17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em Mbps: download, upload e </a:t>
            </a:r>
            <a:r>
              <a:rPr lang="pt-BR" sz="1700" noProof="0" dirty="0" err="1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</a:t>
            </a:r>
            <a:r>
              <a:rPr lang="pt-BR" sz="17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(Mbps ÷ 8 = MB/s)</a:t>
            </a:r>
            <a:endParaRPr lang="pt-BR" sz="1700" noProof="0" dirty="0"/>
          </a:p>
        </p:txBody>
      </p:sp>
      <p:sp>
        <p:nvSpPr>
          <p:cNvPr id="18" name="Cartão"/>
          <p:cNvSpPr/>
          <p:nvPr/>
        </p:nvSpPr>
        <p:spPr>
          <a:xfrm>
            <a:off x="548640" y="4983480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120640"/>
            <a:ext cx="329184" cy="32918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983480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Franquia  </a:t>
            </a:r>
            <a:r>
              <a:rPr lang="pt-BR" sz="1700" noProof="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limite de dados do mês — vídeo é o que mais gasta</a:t>
            </a:r>
            <a:endParaRPr lang="pt-BR" sz="1700" noProof="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28</a:t>
            </a:fld>
            <a:endParaRPr lang="pt-BR" noProof="0" dirty="0"/>
          </a:p>
        </p:txBody>
      </p:sp>
      <p:pic>
        <p:nvPicPr>
          <p:cNvPr id="26" name="Ilustração graduation_cap" descr="graduation ca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0" y="292608"/>
            <a:ext cx="132588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do Kahoot!</a:t>
            </a:r>
            <a:endParaRPr lang="pt-BR" sz="3000" noProof="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3</a:t>
            </a:fld>
            <a:endParaRPr lang="pt-BR" noProof="0" dirty="0"/>
          </a:p>
        </p:txBody>
      </p:sp>
      <p:sp>
        <p:nvSpPr>
          <p:cNvPr id="34" name="Rounded Rectangle 33"/>
          <p:cNvSpPr/>
          <p:nvPr/>
        </p:nvSpPr>
        <p:spPr>
          <a:xfrm>
            <a:off x="548640" y="38404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404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spc="100">
                <a:solidFill>
                  <a:srgbClr val="D35400"/>
                </a:solidFill>
                <a:latin typeface="Calibri"/>
              </a:rPr>
              <a:t>ATIVIDADE · QUIZ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1481328"/>
            <a:ext cx="8686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4A5548"/>
                </a:solidFill>
                <a:latin typeface="Calibri"/>
              </a:rPr>
              <a:t>Vamos ver o que você aprendeu? Pode jogar sozinho ou em dupla, pelo celular ou pelo computador.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2194560"/>
            <a:ext cx="2286000" cy="2103120"/>
          </a:xfrm>
          <a:prstGeom prst="roundRect">
            <a:avLst>
              <a:gd name="adj" fmla="val 4000"/>
            </a:avLst>
          </a:prstGeom>
          <a:solidFill>
            <a:srgbClr val="F5FAF3"/>
          </a:solidFill>
          <a:ln w="12700">
            <a:solidFill>
              <a:srgbClr val="D8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7240" y="2395728"/>
            <a:ext cx="566928" cy="566928"/>
          </a:xfrm>
          <a:prstGeom prst="ellipse">
            <a:avLst/>
          </a:prstGeom>
          <a:solidFill>
            <a:srgbClr val="D3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23957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3154680"/>
            <a:ext cx="187451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32323"/>
                </a:solidFill>
                <a:latin typeface="Calibri"/>
              </a:rPr>
              <a:t>Abra o navegador</a:t>
            </a:r>
          </a:p>
          <a:p>
            <a:pPr algn="l"/>
            <a:r>
              <a:rPr sz="1500" b="0">
                <a:solidFill>
                  <a:srgbClr val="4A5548"/>
                </a:solidFill>
                <a:latin typeface="Calibri"/>
              </a:rPr>
              <a:t>e entre no site kahoot.it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63240" y="2194560"/>
            <a:ext cx="2286000" cy="2103120"/>
          </a:xfrm>
          <a:prstGeom prst="roundRect">
            <a:avLst>
              <a:gd name="adj" fmla="val 4000"/>
            </a:avLst>
          </a:prstGeom>
          <a:solidFill>
            <a:srgbClr val="F5FAF3"/>
          </a:solidFill>
          <a:ln w="12700">
            <a:solidFill>
              <a:srgbClr val="D8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91840" y="2395728"/>
            <a:ext cx="566928" cy="566928"/>
          </a:xfrm>
          <a:prstGeom prst="ellipse">
            <a:avLst/>
          </a:prstGeom>
          <a:solidFill>
            <a:srgbClr val="D3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1840" y="23957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91840" y="3154680"/>
            <a:ext cx="187451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32323"/>
                </a:solidFill>
                <a:latin typeface="Calibri"/>
              </a:rPr>
              <a:t>Digite o PIN</a:t>
            </a:r>
          </a:p>
          <a:p>
            <a:pPr algn="l"/>
            <a:r>
              <a:rPr sz="1500" b="0">
                <a:solidFill>
                  <a:srgbClr val="4A5548"/>
                </a:solidFill>
                <a:latin typeface="Calibri"/>
              </a:rPr>
              <a:t>o número que aparece no telão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77840" y="2194560"/>
            <a:ext cx="2286000" cy="2103120"/>
          </a:xfrm>
          <a:prstGeom prst="roundRect">
            <a:avLst>
              <a:gd name="adj" fmla="val 4000"/>
            </a:avLst>
          </a:prstGeom>
          <a:solidFill>
            <a:srgbClr val="F5FAF3"/>
          </a:solidFill>
          <a:ln w="12700">
            <a:solidFill>
              <a:srgbClr val="D8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06440" y="2395728"/>
            <a:ext cx="566928" cy="566928"/>
          </a:xfrm>
          <a:prstGeom prst="ellipse">
            <a:avLst/>
          </a:prstGeom>
          <a:solidFill>
            <a:srgbClr val="D3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06440" y="23957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06440" y="3154680"/>
            <a:ext cx="187451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32323"/>
                </a:solidFill>
                <a:latin typeface="Calibri"/>
              </a:rPr>
              <a:t>Escreva seu nome</a:t>
            </a:r>
          </a:p>
          <a:p>
            <a:pPr algn="l"/>
            <a:r>
              <a:rPr sz="1500" b="0">
                <a:solidFill>
                  <a:srgbClr val="4A5548"/>
                </a:solidFill>
                <a:latin typeface="Calibri"/>
              </a:rPr>
              <a:t>ou um apelido e espere começar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83879" y="2194560"/>
            <a:ext cx="3429000" cy="2103120"/>
          </a:xfrm>
          <a:prstGeom prst="roundRect">
            <a:avLst>
              <a:gd name="adj" fmla="val 4000"/>
            </a:avLst>
          </a:prstGeom>
          <a:solidFill>
            <a:srgbClr val="EAF4E4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66760" y="23774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3E7B3F"/>
                </a:solidFill>
                <a:latin typeface="Calibri"/>
              </a:rPr>
              <a:t>PIN DO JOGO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66760" y="2788920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3E7B3F"/>
                </a:solidFill>
                <a:latin typeface="Cambria"/>
              </a:rPr>
              <a:t>_ _ _ _ _ _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3749039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232323"/>
                </a:solidFill>
                <a:latin typeface="Calibri"/>
              </a:rPr>
              <a:t>kahoot.it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461772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EAF4E4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754880"/>
            <a:ext cx="457200" cy="4572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371600" y="461772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E7B3F"/>
                </a:solidFill>
                <a:latin typeface="Calibri"/>
              </a:rPr>
              <a:t>Dica: </a:t>
            </a:r>
            <a:r>
              <a:rPr sz="1500" b="0">
                <a:solidFill>
                  <a:srgbClr val="232323"/>
                </a:solidFill>
                <a:latin typeface="Calibri"/>
              </a:rPr>
              <a:t>vale mais acertar do que ser o mais rápido. Leia a pergunta com calma — são 22 perguntas sobre tudo o que vimos hoje.</a:t>
            </a:r>
          </a:p>
        </p:txBody>
      </p:sp>
      <p:pic>
        <p:nvPicPr>
          <p:cNvPr id="56" name="Ilustração trophy" descr="trop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365760"/>
            <a:ext cx="1051560" cy="1051560"/>
          </a:xfrm>
          <a:prstGeom prst="rect">
            <a:avLst/>
          </a:prstGeom>
        </p:spPr>
      </p:pic>
      <p:pic>
        <p:nvPicPr>
          <p:cNvPr id="57" name="Ilustração video_game" descr="video_g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1320" y="36576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Dúvidas?</a:t>
            </a:r>
            <a:endParaRPr lang="pt-BR" sz="5400" noProof="0" dirty="0"/>
          </a:p>
        </p:txBody>
      </p:sp>
      <p:sp>
        <p:nvSpPr>
          <p:cNvPr id="3" name="Cartão"/>
          <p:cNvSpPr/>
          <p:nvPr/>
        </p:nvSpPr>
        <p:spPr>
          <a:xfrm>
            <a:off x="548640" y="3063240"/>
            <a:ext cx="7863840" cy="1737360"/>
          </a:xfrm>
          <a:prstGeom prst="roundRect">
            <a:avLst>
              <a:gd name="adj" fmla="val 4211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7406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kern="0" spc="100" noProof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CASA</a:t>
            </a:r>
            <a:endParaRPr lang="pt-BR" sz="1600" noProof="0" dirty="0"/>
          </a:p>
          <a:p>
            <a:pPr marL="0" indent="0">
              <a:buNone/>
            </a:pPr>
            <a:r>
              <a:rPr lang="pt-BR" sz="1700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Descubra que tipo de internet você usa (fibra, 4G, satélite…) e meça a velocidade dela. Traga os números na próxima aula!</a:t>
            </a:r>
            <a:endParaRPr lang="pt-BR" sz="16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Douglas Camargo Carvalho</a:t>
            </a:r>
            <a:endParaRPr lang="pt-BR" sz="1400" noProof="0" dirty="0"/>
          </a:p>
          <a:p>
            <a:pPr marL="0" indent="0">
              <a:buNone/>
            </a:pPr>
            <a:r>
              <a:rPr lang="pt-BR" sz="1400" noProof="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IFSul – Câmpus Sapiranga</a:t>
            </a:r>
            <a:endParaRPr lang="pt-BR" sz="1400" noProof="0" dirty="0"/>
          </a:p>
        </p:txBody>
      </p:sp>
      <p:pic>
        <p:nvPicPr>
          <p:cNvPr id="6" name="Ilustração thinking_face" descr="thinking fa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463040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6446520"/>
            <a:ext cx="52578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7A867A"/>
                </a:solidFill>
                <a:latin typeface="Calibri"/>
              </a:rPr>
              <a:t>Ilustrações: Fluent Emoji (Microsoft) — licença MIT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peças de verdade</a:t>
            </a:r>
            <a:endParaRPr lang="pt-BR" sz="3000" noProof="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3</a:t>
            </a:fld>
            <a:endParaRPr lang="pt-BR" noProof="0" dirty="0"/>
          </a:p>
        </p:txBody>
      </p:sp>
      <p:sp>
        <p:nvSpPr>
          <p:cNvPr id="34" name="Rounded Rectangle 33"/>
          <p:cNvSpPr/>
          <p:nvPr/>
        </p:nvSpPr>
        <p:spPr>
          <a:xfrm>
            <a:off x="548640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404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100">
                <a:solidFill>
                  <a:srgbClr val="3E7B3F"/>
                </a:solidFill>
                <a:latin typeface="Calibri"/>
              </a:rPr>
              <a:t>1.5.1 · NA VIDA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5548"/>
                </a:solidFill>
                <a:latin typeface="Calibri"/>
              </a:rPr>
              <a:t>É assim que esses equipamentos aparecem na escola, no trabalho e em casa.</a:t>
            </a:r>
          </a:p>
        </p:txBody>
      </p:sp>
      <p:pic>
        <p:nvPicPr>
          <p:cNvPr id="37" name="Foto Cabo de rede" descr="Foto real: Cabo de re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3505200" cy="141732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548640" y="3474720"/>
            <a:ext cx="350520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32323"/>
                </a:solidFill>
                <a:latin typeface="Calibri"/>
              </a:rPr>
              <a:t>Cabo de rede</a:t>
            </a:r>
          </a:p>
          <a:p>
            <a:pPr algn="l"/>
            <a:r>
              <a:rPr sz="1250" b="0" i="0">
                <a:solidFill>
                  <a:srgbClr val="4A5548"/>
                </a:solidFill>
                <a:latin typeface="Calibri"/>
              </a:rPr>
              <a:t>com o conector RJ45 na ponta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922776"/>
            <a:ext cx="350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www.heimnetzwerke.net · CC BY 4.0 · Wikimedia Commons</a:t>
            </a:r>
          </a:p>
        </p:txBody>
      </p:sp>
      <p:pic>
        <p:nvPicPr>
          <p:cNvPr id="40" name="Foto Tomada de rede (por dentro)" descr="Foto real: Tomada de rede (por dentr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60" y="1965960"/>
            <a:ext cx="3505200" cy="141732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4328160" y="3474720"/>
            <a:ext cx="350520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32323"/>
                </a:solidFill>
                <a:latin typeface="Calibri"/>
              </a:rPr>
              <a:t>Tomada de rede (por dentro)</a:t>
            </a:r>
          </a:p>
          <a:p>
            <a:pPr algn="l"/>
            <a:r>
              <a:rPr sz="1250" b="0" i="0">
                <a:solidFill>
                  <a:srgbClr val="4A5548"/>
                </a:solidFill>
                <a:latin typeface="Calibri"/>
              </a:rPr>
              <a:t>onde o cabo da parede se encaixa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8160" y="3922776"/>
            <a:ext cx="350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2pem · CC BY-SA 4.0 · Wikimedia Commons</a:t>
            </a:r>
          </a:p>
        </p:txBody>
      </p:sp>
      <p:pic>
        <p:nvPicPr>
          <p:cNvPr id="43" name="Foto Placa de rede" descr="Foto real: Placa de re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680" y="1965960"/>
            <a:ext cx="3505200" cy="141732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8107680" y="3474720"/>
            <a:ext cx="350520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32323"/>
                </a:solidFill>
                <a:latin typeface="Calibri"/>
              </a:rPr>
              <a:t>Placa de rede</a:t>
            </a:r>
          </a:p>
          <a:p>
            <a:pPr algn="l"/>
            <a:r>
              <a:rPr sz="1250" b="0" i="0">
                <a:solidFill>
                  <a:srgbClr val="4A5548"/>
                </a:solidFill>
                <a:latin typeface="Calibri"/>
              </a:rPr>
              <a:t>peça do computador onde o cabo entra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7680" y="3922776"/>
            <a:ext cx="350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Sub · Public domain · Wikimedia Commons</a:t>
            </a:r>
          </a:p>
        </p:txBody>
      </p:sp>
      <p:pic>
        <p:nvPicPr>
          <p:cNvPr id="46" name="Foto Roteador Wi-Fi" descr="Foto real: Roteador Wi-F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2816"/>
            <a:ext cx="3505200" cy="141732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7" name="TextBox 46"/>
          <p:cNvSpPr txBox="1"/>
          <p:nvPr/>
        </p:nvSpPr>
        <p:spPr>
          <a:xfrm>
            <a:off x="548640" y="5751576"/>
            <a:ext cx="350520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32323"/>
                </a:solidFill>
                <a:latin typeface="Calibri"/>
              </a:rPr>
              <a:t>Roteador Wi-Fi</a:t>
            </a:r>
          </a:p>
          <a:p>
            <a:pPr algn="l"/>
            <a:r>
              <a:rPr sz="1250" b="0" i="0">
                <a:solidFill>
                  <a:srgbClr val="4A5548"/>
                </a:solidFill>
                <a:latin typeface="Calibri"/>
              </a:rPr>
              <a:t>espalha a internet sem fio pela casa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199632"/>
            <a:ext cx="350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Dinkun Chen · CC BY-SA 4.0 · Wikimedia Commons</a:t>
            </a:r>
          </a:p>
        </p:txBody>
      </p:sp>
      <p:pic>
        <p:nvPicPr>
          <p:cNvPr id="49" name="Foto Switch" descr="Foto real: Swit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8160" y="4242816"/>
            <a:ext cx="3505200" cy="141732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50" name="TextBox 49"/>
          <p:cNvSpPr txBox="1"/>
          <p:nvPr/>
        </p:nvSpPr>
        <p:spPr>
          <a:xfrm>
            <a:off x="4328160" y="5751576"/>
            <a:ext cx="350520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32323"/>
                </a:solidFill>
                <a:latin typeface="Calibri"/>
              </a:rPr>
              <a:t>Switch</a:t>
            </a:r>
          </a:p>
          <a:p>
            <a:pPr algn="l"/>
            <a:r>
              <a:rPr sz="1250" b="0" i="0">
                <a:solidFill>
                  <a:srgbClr val="4A5548"/>
                </a:solidFill>
                <a:latin typeface="Calibri"/>
              </a:rPr>
              <a:t>liga vários cabos de rede juntos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28160" y="6199632"/>
            <a:ext cx="350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Simon A. Eugster · CC BY-SA 3.0 · Wikimedia Commons</a:t>
            </a:r>
          </a:p>
        </p:txBody>
      </p:sp>
      <p:pic>
        <p:nvPicPr>
          <p:cNvPr id="52" name="Foto Impressora em rede" descr="Foto real: Impressora em red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7680" y="4242816"/>
            <a:ext cx="3505200" cy="141732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53" name="TextBox 52"/>
          <p:cNvSpPr txBox="1"/>
          <p:nvPr/>
        </p:nvSpPr>
        <p:spPr>
          <a:xfrm>
            <a:off x="8107680" y="5751576"/>
            <a:ext cx="350520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32323"/>
                </a:solidFill>
                <a:latin typeface="Calibri"/>
              </a:rPr>
              <a:t>Impressora em rede</a:t>
            </a:r>
          </a:p>
          <a:p>
            <a:pPr algn="l"/>
            <a:r>
              <a:rPr sz="1250" b="0" i="0">
                <a:solidFill>
                  <a:srgbClr val="4A5548"/>
                </a:solidFill>
                <a:latin typeface="Calibri"/>
              </a:rPr>
              <a:t>várias pessoas imprimem nela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07680" y="6199632"/>
            <a:ext cx="350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Baron Maddock · CC BY 4.0 · Wikimedia Commons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ADSL: como é na vida real</a:t>
            </a:r>
            <a:endParaRPr lang="pt-BR" sz="3000" noProof="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3</a:t>
            </a:fld>
            <a:endParaRPr lang="pt-BR" noProof="0" dirty="0"/>
          </a:p>
        </p:txBody>
      </p:sp>
      <p:sp>
        <p:nvSpPr>
          <p:cNvPr id="34" name="Rounded Rectangle 33"/>
          <p:cNvSpPr/>
          <p:nvPr/>
        </p:nvSpPr>
        <p:spPr>
          <a:xfrm>
            <a:off x="548640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4048"/>
            <a:ext cx="24003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100">
                <a:solidFill>
                  <a:srgbClr val="3E7B3F"/>
                </a:solidFill>
                <a:latin typeface="Calibri"/>
              </a:rPr>
              <a:t>1.5.3 · ADSL NA VIDA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5548"/>
                </a:solidFill>
                <a:latin typeface="Calibri"/>
              </a:rPr>
              <a:t>A internet chegava pelo mesmo fio do telefone fixo.</a:t>
            </a:r>
          </a:p>
        </p:txBody>
      </p:sp>
      <p:pic>
        <p:nvPicPr>
          <p:cNvPr id="37" name="Foto Armário da operadora" descr="Foto real: Armário da operador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3505200" cy="30632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548640" y="5166360"/>
            <a:ext cx="350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Armário da operadora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na rua, liga as linhas telefônicas do bairro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824728"/>
            <a:ext cx="350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Charliechancc · CC BY-SA 4.0 · Wikimedia Commons</a:t>
            </a:r>
          </a:p>
        </p:txBody>
      </p:sp>
      <p:pic>
        <p:nvPicPr>
          <p:cNvPr id="40" name="Foto Tomada de telefone" descr="Foto real: Tomada de telefo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60" y="2011680"/>
            <a:ext cx="3505200" cy="30632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4328160" y="5166360"/>
            <a:ext cx="350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Tomada de telefone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o fio do telefone também levava a internet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8160" y="5824728"/>
            <a:ext cx="350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AlgernonNS · Public domain · Wikimedia Commons</a:t>
            </a:r>
          </a:p>
        </p:txBody>
      </p:sp>
      <p:pic>
        <p:nvPicPr>
          <p:cNvPr id="43" name="Foto Modem ADSL" descr="Foto real: Modem ADS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680" y="2011680"/>
            <a:ext cx="3505200" cy="30632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8107680" y="5166360"/>
            <a:ext cx="350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Modem ADSL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transforma o sinal do telefone em internet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7680" y="5824728"/>
            <a:ext cx="350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Reise Reise · CC BY-SA 4.0 · Wikimedia Commons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Fibra óptica: como é na vida real</a:t>
            </a:r>
            <a:endParaRPr lang="pt-BR" sz="3000" noProof="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3</a:t>
            </a:fld>
            <a:endParaRPr lang="pt-BR" noProof="0" dirty="0"/>
          </a:p>
        </p:txBody>
      </p:sp>
      <p:sp>
        <p:nvSpPr>
          <p:cNvPr id="34" name="Rounded Rectangle 33"/>
          <p:cNvSpPr/>
          <p:nvPr/>
        </p:nvSpPr>
        <p:spPr>
          <a:xfrm>
            <a:off x="548640" y="384048"/>
            <a:ext cx="2478024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4048"/>
            <a:ext cx="24780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100">
                <a:solidFill>
                  <a:srgbClr val="3E7B3F"/>
                </a:solidFill>
                <a:latin typeface="Calibri"/>
              </a:rPr>
              <a:t>1.5.3 · FIBRA NA VIDA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5548"/>
                </a:solidFill>
                <a:latin typeface="Calibri"/>
              </a:rPr>
              <a:t>Luz viajando por fios de vidro — do poste até dentro de casa.</a:t>
            </a:r>
          </a:p>
        </p:txBody>
      </p:sp>
      <p:pic>
        <p:nvPicPr>
          <p:cNvPr id="37" name="Foto Fibras acesas" descr="Foto real: Fibras aces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2560320" cy="23774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548640" y="448056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Fibras acesas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a luz passa por dentro de cada fio de vidro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413248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Rickyrab · CC BY-SA 3.0 · Wikimedia Commons</a:t>
            </a:r>
          </a:p>
        </p:txBody>
      </p:sp>
      <p:pic>
        <p:nvPicPr>
          <p:cNvPr id="40" name="Foto Cabos no poste" descr="Foto real: Cabos no pos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79" y="2011680"/>
            <a:ext cx="2560320" cy="23774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3383279" y="448056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Cabos no poste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a fibra chega pelo poste da rua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79" y="5413248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NotAnAstronaut · CC BY 4.0 · Wikimedia Commons</a:t>
            </a:r>
          </a:p>
        </p:txBody>
      </p:sp>
      <p:pic>
        <p:nvPicPr>
          <p:cNvPr id="43" name="Foto Cabo de fibra" descr="Foto real: Cabo de fib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19" y="2011680"/>
            <a:ext cx="2560320" cy="23774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6217919" y="448056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Cabo de fibra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fino e branco, com conector verde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19" y="5413248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Alexceltare2 · CC BY-SA 4.0 · Wikimedia Commons</a:t>
            </a:r>
          </a:p>
        </p:txBody>
      </p:sp>
      <p:pic>
        <p:nvPicPr>
          <p:cNvPr id="46" name="Foto Roteador em casa" descr="Foto real: Roteador em cas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59" y="2011680"/>
            <a:ext cx="2560320" cy="23774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7" name="TextBox 46"/>
          <p:cNvSpPr txBox="1"/>
          <p:nvPr/>
        </p:nvSpPr>
        <p:spPr>
          <a:xfrm>
            <a:off x="9052559" y="448056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Roteador em casa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recebe a fibra e espalha o Wi-Fi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59" y="5413248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Solijon Solayev · CC BY-SA 4.0 · Wikimedia Commons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3G, 4G e 5G: como é na vida real</a:t>
            </a:r>
            <a:endParaRPr lang="pt-BR" sz="3000" noProof="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3</a:t>
            </a:fld>
            <a:endParaRPr lang="pt-BR" noProof="0" dirty="0"/>
          </a:p>
        </p:txBody>
      </p:sp>
      <p:sp>
        <p:nvSpPr>
          <p:cNvPr id="34" name="Rounded Rectangle 33"/>
          <p:cNvSpPr/>
          <p:nvPr/>
        </p:nvSpPr>
        <p:spPr>
          <a:xfrm>
            <a:off x="548640" y="384048"/>
            <a:ext cx="2866644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4048"/>
            <a:ext cx="28666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100">
                <a:solidFill>
                  <a:srgbClr val="3E7B3F"/>
                </a:solidFill>
                <a:latin typeface="Calibri"/>
              </a:rPr>
              <a:t>1.5.3 · REDE MÓVEL NA VIDA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5548"/>
                </a:solidFill>
                <a:latin typeface="Calibri"/>
              </a:rPr>
              <a:t>As antenas espalhadas pela cidade levam a internet até o seu celular.</a:t>
            </a:r>
          </a:p>
        </p:txBody>
      </p:sp>
      <p:pic>
        <p:nvPicPr>
          <p:cNvPr id="37" name="Foto Torre de celular" descr="Foto real: Torre de celul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3505200" cy="30632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548640" y="5166360"/>
            <a:ext cx="350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Torre de celular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cada torre cobre um pedaço da cidade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824728"/>
            <a:ext cx="350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J.smith (Wikipedia) · CC BY-SA 2.5 · Wikimedia Commons</a:t>
            </a:r>
          </a:p>
        </p:txBody>
      </p:sp>
      <p:pic>
        <p:nvPicPr>
          <p:cNvPr id="40" name="Foto Antenas no alto de prédios" descr="Foto real: Antenas no alto de prédi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60" y="2011680"/>
            <a:ext cx="3505200" cy="30632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4328160" y="5166360"/>
            <a:ext cx="350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Antenas no alto de prédios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comuns nos centros das cidades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8160" y="5824728"/>
            <a:ext cx="350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Mnalis · CC BY-SA 4.0 · Wikimedia Commons</a:t>
            </a:r>
          </a:p>
        </p:txBody>
      </p:sp>
      <p:pic>
        <p:nvPicPr>
          <p:cNvPr id="43" name="Foto Chip (cartão SIM)" descr="Foto real: Chip (cartão SIM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680" y="2011680"/>
            <a:ext cx="3505200" cy="30632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8107680" y="5166360"/>
            <a:ext cx="350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Chip (cartão SIM)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tamanhos: normal, micro e nano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7680" y="5824728"/>
            <a:ext cx="350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Bidouille82 · CC BY-SA 3.0 · Wikimedia Commons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3000" b="1" noProof="0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Satélite: como é na vida real</a:t>
            </a:r>
            <a:endParaRPr lang="pt-BR" sz="3000" noProof="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lang="pt-BR" b="0" noProof="0" smtClean="0"/>
              <a:t>3</a:t>
            </a:fld>
            <a:endParaRPr lang="pt-BR" noProof="0" dirty="0"/>
          </a:p>
        </p:txBody>
      </p:sp>
      <p:sp>
        <p:nvSpPr>
          <p:cNvPr id="34" name="Rounded Rectangle 33"/>
          <p:cNvSpPr/>
          <p:nvPr/>
        </p:nvSpPr>
        <p:spPr>
          <a:xfrm>
            <a:off x="548640" y="384048"/>
            <a:ext cx="2711196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4048"/>
            <a:ext cx="27111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100">
                <a:solidFill>
                  <a:srgbClr val="3E7B3F"/>
                </a:solidFill>
                <a:latin typeface="Calibri"/>
              </a:rPr>
              <a:t>1.5.3 · SATÉLITE NA VIDA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5548"/>
                </a:solidFill>
                <a:latin typeface="Calibri"/>
              </a:rPr>
              <a:t>Do espaço até a antena — inclusive em barcos e na zona rural.</a:t>
            </a:r>
          </a:p>
        </p:txBody>
      </p:sp>
      <p:pic>
        <p:nvPicPr>
          <p:cNvPr id="37" name="Foto Satélites Starlink" descr="Foto real: Satélites Starlin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2560320" cy="23774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548640" y="448056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Satélites Starlink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empilhados antes de ir para o espaço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413248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Official SpaceX Photos · CC0 · Wikimedia Commons</a:t>
            </a:r>
          </a:p>
        </p:txBody>
      </p:sp>
      <p:pic>
        <p:nvPicPr>
          <p:cNvPr id="40" name="Foto Antena Starlink" descr="Foto real: Antena Starli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79" y="2011680"/>
            <a:ext cx="2560320" cy="23774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3383279" y="448056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Antena Starlink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pequena, aponta para o céu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79" y="5413248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SWinxy · CC BY-SA 4.0 · Wikimedia Commons</a:t>
            </a:r>
          </a:p>
        </p:txBody>
      </p:sp>
      <p:pic>
        <p:nvPicPr>
          <p:cNvPr id="43" name="Foto Antena em barco" descr="Foto real: Antena em barc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19" y="2011680"/>
            <a:ext cx="2560320" cy="23774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6217919" y="448056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Antena em barco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internet até no meio do rio ou do mar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19" y="5413248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Ka23 13 · CC BY 4.0 · Wikimedia Commons</a:t>
            </a:r>
          </a:p>
        </p:txBody>
      </p:sp>
      <p:pic>
        <p:nvPicPr>
          <p:cNvPr id="46" name="Foto Antena parabólica" descr="Foto real: Antena parabólic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59" y="2011680"/>
            <a:ext cx="2560320" cy="2377440"/>
          </a:xfrm>
          <a:prstGeom prst="rect">
            <a:avLst/>
          </a:prstGeom>
          <a:ln w="12700">
            <a:solidFill>
              <a:srgbClr val="D8E4D3"/>
            </a:solidFill>
          </a:ln>
        </p:spPr>
      </p:pic>
      <p:sp>
        <p:nvSpPr>
          <p:cNvPr id="47" name="TextBox 46"/>
          <p:cNvSpPr txBox="1"/>
          <p:nvPr/>
        </p:nvSpPr>
        <p:spPr>
          <a:xfrm>
            <a:off x="9052559" y="448056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32323"/>
                </a:solidFill>
                <a:latin typeface="Calibri"/>
              </a:rPr>
              <a:t>Antena parabólica</a:t>
            </a:r>
          </a:p>
          <a:p>
            <a:pPr algn="l"/>
            <a:r>
              <a:rPr sz="1400" b="0" i="0">
                <a:solidFill>
                  <a:srgbClr val="4A5548"/>
                </a:solidFill>
                <a:latin typeface="Calibri"/>
              </a:rPr>
              <a:t>tipo mais antigo, também usado para TV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59" y="5413248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A867A"/>
                </a:solidFill>
                <a:latin typeface="Calibri"/>
              </a:rPr>
              <a:t>Foto: Daniel Case · CC BY-SA 3.0 · Wikimedia Commons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FSul - Aulas">
  <a:themeElements>
    <a:clrScheme name="IFSul - Aulas">
      <a:dk1>
        <a:srgbClr val="232323"/>
      </a:dk1>
      <a:lt1>
        <a:srgbClr val="FFFFFF"/>
      </a:lt1>
      <a:dk2>
        <a:srgbClr val="3E7B3F"/>
      </a:dk2>
      <a:lt2>
        <a:srgbClr val="F5FAF3"/>
      </a:lt2>
      <a:accent1>
        <a:srgbClr val="7CB342"/>
      </a:accent1>
      <a:accent2>
        <a:srgbClr val="3E7B3F"/>
      </a:accent2>
      <a:accent3>
        <a:srgbClr val="2A5A96"/>
      </a:accent3>
      <a:accent4>
        <a:srgbClr val="D35400"/>
      </a:accent4>
      <a:accent5>
        <a:srgbClr val="7A867A"/>
      </a:accent5>
      <a:accent6>
        <a:srgbClr val="D8E4D3"/>
      </a:accent6>
      <a:hlink>
        <a:srgbClr val="2A5A96"/>
      </a:hlink>
      <a:folHlink>
        <a:srgbClr val="8E44AD"/>
      </a:folHlink>
    </a:clrScheme>
    <a:fontScheme name="IFSul - Au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3044</Words>
  <Application>Microsoft Office PowerPoint</Application>
  <PresentationFormat>Widescreen</PresentationFormat>
  <Paragraphs>472</Paragraphs>
  <Slides>29</Slides>
  <Notes>29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Cambria</vt:lpstr>
      <vt:lpstr>IFSul - Aulas</vt:lpstr>
      <vt:lpstr>Apresentação do PowerPoint</vt:lpstr>
      <vt:lpstr>Ao final desta aula, você será capaz de…</vt:lpstr>
      <vt:lpstr>Roteiro da aula</vt:lpstr>
      <vt:lpstr>Vamos conversar?</vt:lpstr>
      <vt:lpstr>O que é uma rede de computadores?</vt:lpstr>
      <vt:lpstr>Elementos de uma rede</vt:lpstr>
      <vt:lpstr>As peças de uma rede</vt:lpstr>
      <vt:lpstr>Encontre as peças da rede na sala</vt:lpstr>
      <vt:lpstr>Importância de uma rede</vt:lpstr>
      <vt:lpstr>Para que serve uma rede?</vt:lpstr>
      <vt:lpstr>No meu dia a dia</vt:lpstr>
      <vt:lpstr>Como funciona uma rede</vt:lpstr>
      <vt:lpstr>Rede local: a rede da casa ou da escola</vt:lpstr>
      <vt:lpstr>ADSL: internet pelo fio do telefone</vt:lpstr>
      <vt:lpstr>Fibra óptica: internet pela luz</vt:lpstr>
      <vt:lpstr>3G, 4G e 5G: internet pelo ar</vt:lpstr>
      <vt:lpstr>Satélite: internet que vem do céu</vt:lpstr>
      <vt:lpstr>Qual conexão é qual?</vt:lpstr>
      <vt:lpstr>Quem sou eu?</vt:lpstr>
      <vt:lpstr>Cuidados ao usar a rede</vt:lpstr>
      <vt:lpstr>Como medir a velocidade da sua conexão</vt:lpstr>
      <vt:lpstr>Entendendo a velocidade</vt:lpstr>
      <vt:lpstr>Quanto tempo leva para baixar?</vt:lpstr>
      <vt:lpstr>O que cabe em 10 GB por mês?</vt:lpstr>
      <vt:lpstr>Passo a passo para medir a velocidade</vt:lpstr>
      <vt:lpstr>Teste a sua conexão</vt:lpstr>
      <vt:lpstr>Pesquisa: qual plano vale mais a pena?</vt:lpstr>
      <vt:lpstr>O que aprendemos hoje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Redes de computadores - Informática EJA</dc:title>
  <dc:subject>PptxGenJS Presentation</dc:subject>
  <dc:creator>Prof. Douglas Camargo Carvalho</dc:creator>
  <cp:lastModifiedBy>Douglas Camargo Carvalho</cp:lastModifiedBy>
  <cp:revision>2</cp:revision>
  <dcterms:created xsi:type="dcterms:W3CDTF">2026-10-09T23:51:00Z</dcterms:created>
  <dcterms:modified xsi:type="dcterms:W3CDTF">2026-10-09T23:59:57Z</dcterms:modified>
</cp:coreProperties>
</file>