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6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3E8A40E-CEB9-04EC-7776-B1AA99F9BD4B}">
          <p14:sldIdLst>
            <p14:sldId id="256"/>
            <p14:sldId id="257"/>
            <p14:sldId id="258"/>
            <p14:sldId id="259"/>
            <p14:sldId id="260"/>
          </p14:sldIdLst>
        </p14:section>
        <p14:section name="1.5.1 Elementos" id="{1E225F5E-8C0E-62EA-2270-8048E71E3DD0}">
          <p14:sldIdLst>
            <p14:sldId id="261"/>
            <p14:sldId id="262"/>
            <p14:sldId id="263"/>
          </p14:sldIdLst>
        </p14:section>
        <p14:section name="1.5.2 Importância" id="{28B87070-4078-FDD3-B437-E038E514E2B6}">
          <p14:sldIdLst>
            <p14:sldId id="264"/>
            <p14:sldId id="265"/>
            <p14:sldId id="266"/>
          </p14:sldIdLst>
        </p14:section>
        <p14:section name="1.5.3 Tipos de conexão" id="{1DF8A5B9-7983-F32A-8E69-8BCE6E24C5E3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1.5.4 Velocidade" id="{09C21D30-D98F-BF21-9418-9203BA710C24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Encerramento" id="{B257FCD5-44FE-4A12-D7DF-3EC3C0E6BEA1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83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Tema do dia: como os aparelhos conversam entre si e como a internet chega até as nossas casas. Aula pensada para 3 períodos (≈135 min) ou 2 encontros: teoria e charadas no 1º; medição de velocidade e pesquisa no computador no 2º.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 e volte a eles no fechamento (slide de revisão).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roteiro. Combine com a turma: etiqueta laranja no topo do slide = hora de participar.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Aquecimento (5 min). Faça as perguntas e conte as mãos. Valorize as respostas: quase todos já usam redes todos os dias, mesmo sem saber 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comparação com as ruas da cidade ou com os Correios. Pergunte: 'Na sua casa, quais aparelhos usam a internet?'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objetos reais: um cabo de rede, o roteador do laboratório. Protocolo = regra combinada, como falar o mesmo idioma.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(10 min), em duplas. Aproveite para mostrar o roteador/switch do laboratório e as luzinhas piscando (sinal de dados passando).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da vida dos alunos: quem já marcou consulta pelo celular? Quem já fez Pix?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rápida (5 min). Conte as mãos e escreva o placar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no quadro a rede da casa de um aluno: modem/roteador no centro e os aparelhos em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ADSL usa o fio de cobre do telefone. Velocidades baixas (em geral até 10 a 20 Mbps). Pergunte se alguém lembra da internet discada ou do 'Speedy'.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possível, leve um pedaço de cabo de fibra ou mostre uma foto. Explique que a luz vai 'quicando' dentro do vidro.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símbolo 4G/5G na barra do celular. Explique franquia (mais adiante tem um slide só sobre isso). Dica: o celular pode virar roteador ('roteador Wi-Fi' / 'ancoragem').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Satélites antigos ficavam a 36 mil km: a internet demorava para responder. Os da Starlink ficam a cerca de 550 km, por isso respondem bem mais rápido. Bom exemplo para quem tem família na zona rural.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tabela com a turma e relacione com a realidade de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Respostas: 1) Fibra óptica  2) 3G/4G/5G  3) ADSL  4) Satélite (ex.: Starlink).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 da EJA é alvo frequente de golpes. Pergunte se alguém já recebeu mensagem pedindo código. Reforce: banco e WhatsApp nunca pedem código por telefone.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Ping 10 ms é ótimo; 600 ms (satélite antigo) é lento para responder. Lembre: 1 Gbps = 1.000 Mbps.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byte = 8 bits, por isso divide por 8. Exercício: 'Minha internet é de 80 Mbps. Quantos MB por segundo?' (80 ÷ 8 = 10 MB/s). 'Quanto tempo para um app de 100 MB?' (100 ÷ 10 = 10 segundos).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aproximados — variam com a qualidade do vídeo e do aplicativo. Dicas para economizar: baixar apps e atualizações só no Wi-Fi; desligar o download automático de vídeos no WhatsApp; assistir vídeo em qualidade menor nos dados móveis. Pergunte: 'Quantos GB tem o plano de vocês?'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no projetor antes. Muitos testando ao mesmo tempo dividem a internet da escola — isso também é aprendizado! Pela regra da Anatel, a operadora deve entregar em média pelo menos 80% da velocidade contratada.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(15 min). Quem não quiser gastar dados do celular pode pular a última linha. No fim, monte no quadro a média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(20-25 min). Ensine a digitar a pesquisa e a achar preço e velocidade nos sites das operadoras. Conta simples: preço ÷ (Mbps ÷ 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oral: cada aluno diz uma coisa que aprendeu. Se der tempo, repita as charadas.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Tarefa ligada à vida real. Na próxima aula, retome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 final no Kahoot (10 a 15 min). Antes da aula, importe a planilha Kahoot_Redes_EJA.xlsx no Kahoot (Criar &gt; Adicionar pergunta &gt; Importar planilha) e escreva aqui o PIN. Quem não tiver celular joga em dupla ou no computador do laboratório. Depois de cada pergunta, comente rapidamente a resposta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737360" cy="676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 ·  EJA  ·  Redes de computadores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1.png"/><Relationship Id="rId4" Type="http://schemas.openxmlformats.org/officeDocument/2006/relationships/image" Target="../media/image46.png"/><Relationship Id="rId5" Type="http://schemas.openxmlformats.org/officeDocument/2006/relationships/image" Target="../media/image52.png"/><Relationship Id="rId6" Type="http://schemas.openxmlformats.org/officeDocument/2006/relationships/image" Target="../media/image48.png"/><Relationship Id="rId7" Type="http://schemas.openxmlformats.org/officeDocument/2006/relationships/image" Target="../media/image5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51.png"/><Relationship Id="rId10" Type="http://schemas.openxmlformats.org/officeDocument/2006/relationships/image" Target="../media/image55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51.png"/><Relationship Id="rId10" Type="http://schemas.openxmlformats.org/officeDocument/2006/relationships/image" Target="../media/image63.png"/><Relationship Id="rId11" Type="http://schemas.openxmlformats.org/officeDocument/2006/relationships/image" Target="../media/image54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68.png"/><Relationship Id="rId8" Type="http://schemas.openxmlformats.org/officeDocument/2006/relationships/image" Target="../media/image45.png"/><Relationship Id="rId9" Type="http://schemas.openxmlformats.org/officeDocument/2006/relationships/image" Target="../media/image56.png"/><Relationship Id="rId10" Type="http://schemas.openxmlformats.org/officeDocument/2006/relationships/image" Target="../media/image6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Relationship Id="rId9" Type="http://schemas.openxmlformats.org/officeDocument/2006/relationships/image" Target="../media/image52.png"/><Relationship Id="rId10" Type="http://schemas.openxmlformats.org/officeDocument/2006/relationships/image" Target="../media/image51.png"/><Relationship Id="rId11" Type="http://schemas.openxmlformats.org/officeDocument/2006/relationships/image" Target="../media/image55.png"/><Relationship Id="rId12" Type="http://schemas.openxmlformats.org/officeDocument/2006/relationships/image" Target="../media/image57.png"/><Relationship Id="rId13" Type="http://schemas.openxmlformats.org/officeDocument/2006/relationships/image" Target="../media/image7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66.png"/><Relationship Id="rId8" Type="http://schemas.openxmlformats.org/officeDocument/2006/relationships/image" Target="../media/image7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66.png"/><Relationship Id="rId7" Type="http://schemas.openxmlformats.org/officeDocument/2006/relationships/image" Target="../media/image7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8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Relationship Id="rId7" Type="http://schemas.openxmlformats.org/officeDocument/2006/relationships/image" Target="../media/image75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76.png"/><Relationship Id="rId8" Type="http://schemas.openxmlformats.org/officeDocument/2006/relationships/image" Target="../media/image47.png"/><Relationship Id="rId9" Type="http://schemas.openxmlformats.org/officeDocument/2006/relationships/image" Target="../media/image7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7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14.png"/><Relationship Id="rId7" Type="http://schemas.openxmlformats.org/officeDocument/2006/relationships/image" Target="../media/image80.png"/><Relationship Id="rId8" Type="http://schemas.openxmlformats.org/officeDocument/2006/relationships/image" Target="../media/image54.png"/><Relationship Id="rId9" Type="http://schemas.openxmlformats.org/officeDocument/2006/relationships/image" Target="../media/image81.png"/><Relationship Id="rId10" Type="http://schemas.openxmlformats.org/officeDocument/2006/relationships/image" Target="../media/image55.png"/><Relationship Id="rId11" Type="http://schemas.openxmlformats.org/officeDocument/2006/relationships/image" Target="../media/image8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85.png"/><Relationship Id="rId5" Type="http://schemas.openxmlformats.org/officeDocument/2006/relationships/image" Target="../media/image4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Relationship Id="rId4" Type="http://schemas.openxmlformats.org/officeDocument/2006/relationships/image" Target="../media/image5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78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image" Target="../media/image5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50.png"/><Relationship Id="rId5" Type="http://schemas.openxmlformats.org/officeDocument/2006/relationships/image" Target="../media/image8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9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1600200"/>
            <a:ext cx="2866644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2866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· EJA</a:t>
            </a:r>
            <a:endParaRPr lang="pt-BR" sz="1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de computadores</a:t>
            </a:r>
            <a:endParaRPr lang="pt-BR" sz="42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aparelhos conversam entre si — e como a internet chega até você</a:t>
            </a:r>
            <a:endParaRPr lang="pt-BR" sz="1900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7498080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</a:t>
            </a:r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</a:t>
            </a:r>
            <a:endParaRPr lang="pt-BR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3063240" y="40690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5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de </a:t>
            </a:r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</a:t>
            </a:r>
            <a:endParaRPr lang="pt-BR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5577840" y="40690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5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local, ADSL, </a:t>
            </a:r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fibra, 4G e satélite</a:t>
            </a:r>
            <a:endParaRPr lang="pt-BR" sz="2400" noProof="0" dirty="0"/>
          </a:p>
        </p:txBody>
      </p:sp>
      <p:sp>
        <p:nvSpPr>
          <p:cNvPr id="16" name="Shape 14"/>
          <p:cNvSpPr/>
          <p:nvPr/>
        </p:nvSpPr>
        <p:spPr>
          <a:xfrm>
            <a:off x="8092440" y="40690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5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709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</a:t>
            </a:r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conexão</a:t>
            </a:r>
            <a:endParaRPr lang="pt-BR" sz="24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Douglas Camargo Carvalho</a:t>
            </a:r>
            <a:endParaRPr lang="pt-BR" sz="1400" noProof="0" dirty="0"/>
          </a:p>
          <a:p>
            <a:pPr marL="0" indent="0">
              <a:buNone/>
            </a:pPr>
            <a:r>
              <a:rPr lang="pt-BR" sz="14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IFSul – Câmpus Sapiranga</a:t>
            </a:r>
            <a:endParaRPr lang="pt-BR" sz="1400" noProof="0" dirty="0"/>
          </a:p>
        </p:txBody>
      </p:sp>
      <p:pic>
        <p:nvPicPr>
          <p:cNvPr id="20" name="Ilustração hero_capa" descr="Planeta conectado a casa, satélite, notebook e celu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9144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40030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APRENDIZAGEM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final desta aula, você será capaz de…</a:t>
            </a:r>
            <a:endParaRPr lang="pt-BR" sz="3000" noProof="0" dirty="0"/>
          </a:p>
        </p:txBody>
      </p:sp>
      <p:sp>
        <p:nvSpPr>
          <p:cNvPr id="5" name="Cartão"/>
          <p:cNvSpPr/>
          <p:nvPr/>
        </p:nvSpPr>
        <p:spPr>
          <a:xfrm>
            <a:off x="548640" y="17830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20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os elementos de uma rede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aparelhos, cabos, Wi-Fi, roteador e provedor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6126480" y="17830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355080" y="20848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1920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que as redes são importantes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comunicação, nos serviços e no trabalho</a:t>
            </a:r>
            <a:endParaRPr lang="pt-BR" sz="1600" noProof="0" dirty="0"/>
          </a:p>
        </p:txBody>
      </p:sp>
      <p:sp>
        <p:nvSpPr>
          <p:cNvPr id="13" name="Cartão"/>
          <p:cNvSpPr/>
          <p:nvPr/>
        </p:nvSpPr>
        <p:spPr>
          <a:xfrm>
            <a:off x="548640" y="32461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0"/>
          <p:cNvSpPr/>
          <p:nvPr/>
        </p:nvSpPr>
        <p:spPr>
          <a:xfrm>
            <a:off x="777240" y="354787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33832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os tipos de conexão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local, ADSL, fibra, 3G/4G/5G e satélite</a:t>
            </a:r>
            <a:endParaRPr lang="pt-BR" sz="1600" noProof="0" dirty="0"/>
          </a:p>
        </p:txBody>
      </p:sp>
      <p:sp>
        <p:nvSpPr>
          <p:cNvPr id="17" name="Cartão"/>
          <p:cNvSpPr/>
          <p:nvPr/>
        </p:nvSpPr>
        <p:spPr>
          <a:xfrm>
            <a:off x="6126480" y="32461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3"/>
          <p:cNvSpPr/>
          <p:nvPr/>
        </p:nvSpPr>
        <p:spPr>
          <a:xfrm>
            <a:off x="6355080" y="354787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4"/>
          <p:cNvSpPr txBox="1"/>
          <p:nvPr/>
        </p:nvSpPr>
        <p:spPr>
          <a:xfrm>
            <a:off x="7178040" y="33832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velocidade e franquia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Mbps, download, upload, </a:t>
            </a:r>
            <a:r>
              <a:rPr lang="pt-BR" sz="1500" noProof="0" dirty="0" err="1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GB do plano</a:t>
            </a:r>
            <a:endParaRPr lang="pt-BR" sz="1600" noProof="0" dirty="0"/>
          </a:p>
        </p:txBody>
      </p:sp>
      <p:sp>
        <p:nvSpPr>
          <p:cNvPr id="21" name="Cartão"/>
          <p:cNvSpPr/>
          <p:nvPr/>
        </p:nvSpPr>
        <p:spPr>
          <a:xfrm>
            <a:off x="548640" y="4709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16"/>
          <p:cNvSpPr/>
          <p:nvPr/>
        </p:nvSpPr>
        <p:spPr>
          <a:xfrm>
            <a:off x="777240" y="50109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17"/>
          <p:cNvSpPr txBox="1"/>
          <p:nvPr/>
        </p:nvSpPr>
        <p:spPr>
          <a:xfrm>
            <a:off x="1600200" y="48463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velocidade da internet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um site de teste no navegador</a:t>
            </a:r>
            <a:endParaRPr lang="pt-BR" sz="1600" noProof="0" dirty="0"/>
          </a:p>
        </p:txBody>
      </p:sp>
      <p:sp>
        <p:nvSpPr>
          <p:cNvPr id="25" name="Cartão"/>
          <p:cNvSpPr/>
          <p:nvPr/>
        </p:nvSpPr>
        <p:spPr>
          <a:xfrm>
            <a:off x="6126480" y="4709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19"/>
          <p:cNvSpPr/>
          <p:nvPr/>
        </p:nvSpPr>
        <p:spPr>
          <a:xfrm>
            <a:off x="6355080" y="50109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0"/>
          <p:cNvSpPr txBox="1"/>
          <p:nvPr/>
        </p:nvSpPr>
        <p:spPr>
          <a:xfrm>
            <a:off x="7178040" y="48463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e comparar planos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escolher o que vale mais a pena</a:t>
            </a:r>
            <a:endParaRPr lang="pt-BR" sz="1600" noProof="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</a:t>
            </a:fld>
            <a:endParaRPr lang="pt-BR" noProof="0" dirty="0"/>
          </a:p>
        </p:txBody>
      </p:sp>
      <p:pic>
        <p:nvPicPr>
          <p:cNvPr id="30" name="Ilustração link" descr="lin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" y="2155240"/>
            <a:ext cx="499262" cy="499262"/>
          </a:xfrm>
          <a:prstGeom prst="rect">
            <a:avLst/>
          </a:prstGeom>
        </p:spPr>
      </p:pic>
      <p:pic>
        <p:nvPicPr>
          <p:cNvPr id="31" name="Ilustração handshake" descr="handshak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5488" y="2155240"/>
            <a:ext cx="499262" cy="499262"/>
          </a:xfrm>
          <a:prstGeom prst="rect">
            <a:avLst/>
          </a:prstGeom>
        </p:spPr>
      </p:pic>
      <p:pic>
        <p:nvPicPr>
          <p:cNvPr id="32" name="Ilustração satellite_antenna" descr="satellite antenn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648" y="3618280"/>
            <a:ext cx="499262" cy="499262"/>
          </a:xfrm>
          <a:prstGeom prst="rect">
            <a:avLst/>
          </a:prstGeom>
        </p:spPr>
      </p:pic>
      <p:pic>
        <p:nvPicPr>
          <p:cNvPr id="33" name="Ilustração rocket" descr="rocke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5488" y="3618280"/>
            <a:ext cx="499262" cy="499262"/>
          </a:xfrm>
          <a:prstGeom prst="rect">
            <a:avLst/>
          </a:prstGeom>
        </p:spPr>
      </p:pic>
      <p:pic>
        <p:nvPicPr>
          <p:cNvPr id="34" name="Ilustração stopwatch" descr="stopwat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648" y="5081320"/>
            <a:ext cx="499262" cy="499262"/>
          </a:xfrm>
          <a:prstGeom prst="rect">
            <a:avLst/>
          </a:prstGeom>
        </p:spPr>
      </p:pic>
      <p:pic>
        <p:nvPicPr>
          <p:cNvPr id="35" name="Ilustração magnifying_glass_tilted_left" descr="magnifying glass tilted lef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5488" y="5081320"/>
            <a:ext cx="499262" cy="499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312164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31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do que você já usa no dia a dia e avançamos um passo de cada vez.</a:t>
            </a:r>
            <a:endParaRPr lang="pt-B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1417320" y="2697480"/>
            <a:ext cx="1527048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731520" cy="73152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200" noProof="0" dirty="0"/>
          </a:p>
        </p:txBody>
      </p:sp>
      <p:sp>
        <p:nvSpPr>
          <p:cNvPr id="9" name="Cartão"/>
          <p:cNvSpPr/>
          <p:nvPr/>
        </p:nvSpPr>
        <p:spPr>
          <a:xfrm>
            <a:off x="548640" y="333756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747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uma rede</a:t>
            </a:r>
            <a:endParaRPr lang="pt-BR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preciso para montar uma rede</a:t>
            </a:r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675888" y="2697480"/>
            <a:ext cx="1527048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2944368" y="2331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200" noProof="0" dirty="0"/>
          </a:p>
        </p:txBody>
      </p:sp>
      <p:sp>
        <p:nvSpPr>
          <p:cNvPr id="14" name="Cartão"/>
          <p:cNvSpPr/>
          <p:nvPr/>
        </p:nvSpPr>
        <p:spPr>
          <a:xfrm>
            <a:off x="2807208" y="333756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sz="20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4747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</a:t>
            </a:r>
            <a:endParaRPr lang="pt-BR" sz="1600" noProof="0" dirty="0"/>
          </a:p>
          <a:p>
            <a:pPr marL="0" indent="0">
              <a:buNone/>
            </a:pPr>
            <a:r>
              <a:rPr lang="pt-BR" sz="14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 rede serve no dia a dia</a:t>
            </a:r>
            <a:endParaRPr lang="pt-BR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5934456" y="2697480"/>
            <a:ext cx="1527048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5202936" y="2331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200" noProof="0" dirty="0"/>
          </a:p>
        </p:txBody>
      </p:sp>
      <p:sp>
        <p:nvSpPr>
          <p:cNvPr id="19" name="Cartão"/>
          <p:cNvSpPr/>
          <p:nvPr/>
        </p:nvSpPr>
        <p:spPr>
          <a:xfrm>
            <a:off x="5065776" y="333756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4747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conexão</a:t>
            </a:r>
            <a:endParaRPr lang="pt-BR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local, ADSL, fibra, 3G/4G/5G e satélite</a:t>
            </a:r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8193024" y="2697480"/>
            <a:ext cx="1527048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7461504" y="2331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2200" noProof="0" dirty="0"/>
          </a:p>
        </p:txBody>
      </p:sp>
      <p:sp>
        <p:nvSpPr>
          <p:cNvPr id="24" name="Cartão"/>
          <p:cNvSpPr/>
          <p:nvPr/>
        </p:nvSpPr>
        <p:spPr>
          <a:xfrm>
            <a:off x="7324344" y="333756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34747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pt-BR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Mbps, franquia e como medir</a:t>
            </a:r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9720072" y="2331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2200" noProof="0" dirty="0"/>
          </a:p>
        </p:txBody>
      </p:sp>
      <p:sp>
        <p:nvSpPr>
          <p:cNvPr id="28" name="Cartão"/>
          <p:cNvSpPr/>
          <p:nvPr/>
        </p:nvSpPr>
        <p:spPr>
          <a:xfrm>
            <a:off x="9582912" y="333756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34747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pt-BR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velocidade e pesquisa no computador</a:t>
            </a:r>
            <a:endParaRPr lang="pt-BR" noProof="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3</a:t>
            </a:fld>
            <a:endParaRPr lang="pt-BR" noProof="0" dirty="0"/>
          </a:p>
        </p:txBody>
      </p:sp>
      <p:pic>
        <p:nvPicPr>
          <p:cNvPr id="34" name="Ilustração laptop" descr="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1" y="4480559"/>
            <a:ext cx="566928" cy="566928"/>
          </a:xfrm>
          <a:prstGeom prst="rect">
            <a:avLst/>
          </a:prstGeom>
        </p:spPr>
      </p:pic>
      <p:pic>
        <p:nvPicPr>
          <p:cNvPr id="35" name="Ilustração handshake" descr="handsh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480559"/>
            <a:ext cx="566928" cy="566928"/>
          </a:xfrm>
          <a:prstGeom prst="rect">
            <a:avLst/>
          </a:prstGeom>
        </p:spPr>
      </p:pic>
      <p:pic>
        <p:nvPicPr>
          <p:cNvPr id="36" name="Ilustração globe_showing_americas" descr="globe showing americ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480559"/>
            <a:ext cx="566928" cy="566928"/>
          </a:xfrm>
          <a:prstGeom prst="rect">
            <a:avLst/>
          </a:prstGeom>
        </p:spPr>
      </p:pic>
      <p:pic>
        <p:nvPicPr>
          <p:cNvPr id="37" name="Ilustração rocket" descr="rock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4480559"/>
            <a:ext cx="566928" cy="566928"/>
          </a:xfrm>
          <a:prstGeom prst="rect">
            <a:avLst/>
          </a:prstGeom>
        </p:spPr>
      </p:pic>
      <p:pic>
        <p:nvPicPr>
          <p:cNvPr id="38" name="Ilustração technologist" descr="technologi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7664" y="4480559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CONVERSA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conversar?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 se a resposta for sim.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tem Wi-Fi em casa?</a:t>
            </a:r>
            <a:endParaRPr lang="pt-BR" sz="2400" noProof="0" dirty="0"/>
          </a:p>
        </p:txBody>
      </p:sp>
      <p:sp>
        <p:nvSpPr>
          <p:cNvPr id="10" name="Cartão"/>
          <p:cNvSpPr/>
          <p:nvPr/>
        </p:nvSpPr>
        <p:spPr>
          <a:xfrm>
            <a:off x="429768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manda áudios e fotos pelo celular?</a:t>
            </a:r>
            <a:endParaRPr lang="pt-BR" sz="2400" noProof="0" dirty="0"/>
          </a:p>
        </p:txBody>
      </p:sp>
      <p:sp>
        <p:nvSpPr>
          <p:cNvPr id="14" name="Cartão"/>
          <p:cNvSpPr/>
          <p:nvPr/>
        </p:nvSpPr>
        <p:spPr>
          <a:xfrm>
            <a:off x="804672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usou banco, Gov.br ou Meu INSS pelo celular?</a:t>
            </a:r>
            <a:endParaRPr lang="pt-BR" sz="2400" noProof="0" dirty="0"/>
          </a:p>
        </p:txBody>
      </p:sp>
      <p:sp>
        <p:nvSpPr>
          <p:cNvPr id="18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só funciona porque existe uma rede ligando os aparelhos.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4</a:t>
            </a:fld>
            <a:endParaRPr lang="pt-BR" noProof="0" dirty="0"/>
          </a:p>
        </p:txBody>
      </p:sp>
      <p:pic>
        <p:nvPicPr>
          <p:cNvPr id="26" name="Ilustração wireless" descr="wireles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220" y="2263139"/>
            <a:ext cx="1051560" cy="1051560"/>
          </a:xfrm>
          <a:prstGeom prst="rect">
            <a:avLst/>
          </a:prstGeom>
        </p:spPr>
      </p:pic>
      <p:pic>
        <p:nvPicPr>
          <p:cNvPr id="27" name="Ilustração mobile_phone" descr="mobile ph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259" y="2263139"/>
            <a:ext cx="1051560" cy="1051560"/>
          </a:xfrm>
          <a:prstGeom prst="rect">
            <a:avLst/>
          </a:prstGeom>
        </p:spPr>
      </p:pic>
      <p:pic>
        <p:nvPicPr>
          <p:cNvPr id="28" name="Ilustração bank" descr="ban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0" y="2263139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rede de computadores?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quando dois ou mais aparelhos estão </a:t>
            </a:r>
            <a:r>
              <a:rPr lang="pt-BR" sz="240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ligados entre si</a:t>
            </a:r>
            <a:r>
              <a:rPr lang="pt-BR" sz="24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pt-BR" sz="240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informações</a:t>
            </a:r>
            <a:r>
              <a:rPr lang="pt-BR" sz="24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pt-BR" sz="240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recursos</a:t>
            </a:r>
            <a:r>
              <a:rPr lang="pt-BR" sz="24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24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F0FA"/>
          </a:solidFill>
          <a:ln w="12700">
            <a:solidFill>
              <a:srgbClr val="C5D6E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02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assim</a:t>
            </a:r>
            <a:endParaRPr lang="pt-BR" sz="18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é como as ruas de uma cidade: as casas são os aparelhos, as ruas são os cabos ou o Wi-Fi, e as informações são as cartas que vão de um lugar para outro.</a:t>
            </a:r>
            <a:endParaRPr lang="pt-BR" sz="1550" noProof="0" dirty="0"/>
          </a:p>
        </p:txBody>
      </p:sp>
      <p:sp>
        <p:nvSpPr>
          <p:cNvPr id="10" name="Cartão"/>
          <p:cNvSpPr/>
          <p:nvPr/>
        </p:nvSpPr>
        <p:spPr>
          <a:xfrm>
            <a:off x="6309360" y="178308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7315200" y="2514600"/>
            <a:ext cx="1645920" cy="1207008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 flipV="1">
            <a:off x="8961120" y="2514600"/>
            <a:ext cx="1645920" cy="1207008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 flipV="1">
            <a:off x="7315200" y="3721608"/>
            <a:ext cx="1645920" cy="1216152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8961120" y="3721608"/>
            <a:ext cx="1645920" cy="1216152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16"/>
          <p:cNvSpPr/>
          <p:nvPr/>
        </p:nvSpPr>
        <p:spPr>
          <a:xfrm>
            <a:off x="8458200" y="3218688"/>
            <a:ext cx="1005840" cy="100584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9660" y="3470148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046720" y="4270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endParaRPr lang="pt-BR" sz="1300" noProof="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5</a:t>
            </a:fld>
            <a:endParaRPr lang="pt-BR" noProof="0" dirty="0"/>
          </a:p>
        </p:txBody>
      </p:sp>
      <p:pic>
        <p:nvPicPr>
          <p:cNvPr id="27" name="Ilustração laptop" descr="lapto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057400"/>
            <a:ext cx="914400" cy="914400"/>
          </a:xfrm>
          <a:prstGeom prst="rect">
            <a:avLst/>
          </a:prstGeom>
        </p:spPr>
      </p:pic>
      <p:pic>
        <p:nvPicPr>
          <p:cNvPr id="28" name="Ilustração mobile_phone" descr="mobile pho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9840" y="2057400"/>
            <a:ext cx="914400" cy="914400"/>
          </a:xfrm>
          <a:prstGeom prst="rect">
            <a:avLst/>
          </a:prstGeom>
        </p:spPr>
      </p:pic>
      <p:pic>
        <p:nvPicPr>
          <p:cNvPr id="29" name="Ilustração printer" descr="prin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4480560"/>
            <a:ext cx="914400" cy="914400"/>
          </a:xfrm>
          <a:prstGeom prst="rect">
            <a:avLst/>
          </a:prstGeom>
        </p:spPr>
      </p:pic>
      <p:pic>
        <p:nvPicPr>
          <p:cNvPr id="30" name="Ilustração television" descr="televisi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44805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9600" b="1" noProof="0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pt-BR" sz="9600" noProof="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de uma rede</a:t>
            </a:r>
            <a:endParaRPr lang="pt-BR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preciso para uma rede funcionar?</a:t>
            </a:r>
            <a:endParaRPr lang="pt-BR" sz="1800" noProof="0" dirty="0"/>
          </a:p>
        </p:txBody>
      </p:sp>
      <p:sp>
        <p:nvSpPr>
          <p:cNvPr id="5" name="Etiqueta"/>
          <p:cNvSpPr/>
          <p:nvPr/>
        </p:nvSpPr>
        <p:spPr>
          <a:xfrm>
            <a:off x="8229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</a:t>
            </a:r>
            <a:endParaRPr lang="pt-BR" noProof="0" dirty="0"/>
          </a:p>
        </p:txBody>
      </p:sp>
      <p:sp>
        <p:nvSpPr>
          <p:cNvPr id="7" name="Etiqueta"/>
          <p:cNvSpPr/>
          <p:nvPr/>
        </p:nvSpPr>
        <p:spPr>
          <a:xfrm>
            <a:off x="28803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 E WI-FI</a:t>
            </a:r>
            <a:endParaRPr lang="pt-BR" noProof="0" dirty="0"/>
          </a:p>
        </p:txBody>
      </p:sp>
      <p:sp>
        <p:nvSpPr>
          <p:cNvPr id="9" name="Etiqueta"/>
          <p:cNvSpPr/>
          <p:nvPr/>
        </p:nvSpPr>
        <p:spPr>
          <a:xfrm>
            <a:off x="49377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endParaRPr lang="pt-BR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6</a:t>
            </a:fld>
            <a:endParaRPr lang="pt-BR" noProof="0" dirty="0"/>
          </a:p>
        </p:txBody>
      </p:sp>
      <p:pic>
        <p:nvPicPr>
          <p:cNvPr id="26" name="Ilustração hero_01" descr="hero 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7432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778508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77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1.5.1 · ELEMENTOS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peças de uma rede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rede, pequena ou grande, tem estas partes.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671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computador, celular, TV, impressora</a:t>
            </a:r>
            <a:endParaRPr lang="pt-BR" sz="2000" noProof="0" dirty="0"/>
          </a:p>
        </p:txBody>
      </p:sp>
      <p:sp>
        <p:nvSpPr>
          <p:cNvPr id="10" name="Cartão"/>
          <p:cNvSpPr/>
          <p:nvPr/>
        </p:nvSpPr>
        <p:spPr>
          <a:xfrm>
            <a:off x="6126480" y="20574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355080" y="23317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1671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de ligação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de rede ou sem fio (Wi-Fi)</a:t>
            </a:r>
            <a:endParaRPr lang="pt-BR" sz="2000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4290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387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roteador, modem e switch</a:t>
            </a:r>
            <a:endParaRPr lang="pt-BR" sz="2000" noProof="0" dirty="0"/>
          </a:p>
        </p:txBody>
      </p:sp>
      <p:sp>
        <p:nvSpPr>
          <p:cNvPr id="18" name="Cartão"/>
          <p:cNvSpPr/>
          <p:nvPr/>
        </p:nvSpPr>
        <p:spPr>
          <a:xfrm>
            <a:off x="6126480" y="34290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4"/>
          <p:cNvSpPr/>
          <p:nvPr/>
        </p:nvSpPr>
        <p:spPr>
          <a:xfrm>
            <a:off x="6355080" y="3703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5"/>
          <p:cNvSpPr txBox="1"/>
          <p:nvPr/>
        </p:nvSpPr>
        <p:spPr>
          <a:xfrm>
            <a:off x="7178040" y="35387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(protocolos)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"idioma" que todos os aparelhos entendem</a:t>
            </a:r>
            <a:endParaRPr lang="pt-BR" sz="2000" noProof="0" dirty="0"/>
          </a:p>
        </p:txBody>
      </p:sp>
      <p:sp>
        <p:nvSpPr>
          <p:cNvPr id="22" name="Cartão"/>
          <p:cNvSpPr/>
          <p:nvPr/>
        </p:nvSpPr>
        <p:spPr>
          <a:xfrm>
            <a:off x="548640" y="48006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17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8"/>
          <p:cNvSpPr txBox="1"/>
          <p:nvPr/>
        </p:nvSpPr>
        <p:spPr>
          <a:xfrm>
            <a:off x="1600200" y="49103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mensagens, fotos, vídeos e arquivos</a:t>
            </a:r>
            <a:endParaRPr lang="pt-BR" sz="2000" noProof="0" dirty="0"/>
          </a:p>
        </p:txBody>
      </p:sp>
      <p:sp>
        <p:nvSpPr>
          <p:cNvPr id="26" name="Cartão"/>
          <p:cNvSpPr/>
          <p:nvPr/>
        </p:nvSpPr>
        <p:spPr>
          <a:xfrm>
            <a:off x="6126480" y="480060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0"/>
          <p:cNvSpPr/>
          <p:nvPr/>
        </p:nvSpPr>
        <p:spPr>
          <a:xfrm>
            <a:off x="6355080" y="5074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1"/>
          <p:cNvSpPr txBox="1"/>
          <p:nvPr/>
        </p:nvSpPr>
        <p:spPr>
          <a:xfrm>
            <a:off x="7178040" y="49103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que leva a internet até você</a:t>
            </a:r>
            <a:endParaRPr lang="pt-BR" sz="2000" noProof="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7</a:t>
            </a:fld>
            <a:endParaRPr lang="pt-BR" noProof="0" dirty="0"/>
          </a:p>
        </p:txBody>
      </p:sp>
      <p:pic>
        <p:nvPicPr>
          <p:cNvPr id="31" name="Ilustração laptop" descr="lapto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" y="2402128"/>
            <a:ext cx="499262" cy="499262"/>
          </a:xfrm>
          <a:prstGeom prst="rect">
            <a:avLst/>
          </a:prstGeom>
        </p:spPr>
      </p:pic>
      <p:pic>
        <p:nvPicPr>
          <p:cNvPr id="32" name="Ilustração electric_plug" descr="electric plu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5488" y="2402128"/>
            <a:ext cx="499262" cy="499262"/>
          </a:xfrm>
          <a:prstGeom prst="rect">
            <a:avLst/>
          </a:prstGeom>
        </p:spPr>
      </p:pic>
      <p:pic>
        <p:nvPicPr>
          <p:cNvPr id="33" name="Ilustração wireless" descr="wireles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648" y="3773728"/>
            <a:ext cx="499262" cy="499262"/>
          </a:xfrm>
          <a:prstGeom prst="rect">
            <a:avLst/>
          </a:prstGeom>
        </p:spPr>
      </p:pic>
      <p:pic>
        <p:nvPicPr>
          <p:cNvPr id="34" name="Ilustração open_book" descr="open boo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5488" y="3773728"/>
            <a:ext cx="499262" cy="499262"/>
          </a:xfrm>
          <a:prstGeom prst="rect">
            <a:avLst/>
          </a:prstGeom>
        </p:spPr>
      </p:pic>
      <p:pic>
        <p:nvPicPr>
          <p:cNvPr id="35" name="Ilustração envelope" descr="envelop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648" y="5145328"/>
            <a:ext cx="499262" cy="499262"/>
          </a:xfrm>
          <a:prstGeom prst="rect">
            <a:avLst/>
          </a:prstGeom>
        </p:spPr>
      </p:pic>
      <p:pic>
        <p:nvPicPr>
          <p:cNvPr id="36" name="Ilustração office_building" descr="office buildi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5488" y="5145328"/>
            <a:ext cx="499262" cy="4992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CAÇA AOS ELEMENTOS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Encontre as peças da rede na sala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olhem em volta do laboratório.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57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em volta  </a:t>
            </a: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sala ou do laboratório</a:t>
            </a:r>
            <a:endParaRPr lang="pt-BR" noProof="0" dirty="0"/>
          </a:p>
        </p:txBody>
      </p:sp>
      <p:sp>
        <p:nvSpPr>
          <p:cNvPr id="10" name="Cartão"/>
          <p:cNvSpPr/>
          <p:nvPr/>
        </p:nvSpPr>
        <p:spPr>
          <a:xfrm>
            <a:off x="548640" y="292608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5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26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 </a:t>
            </a: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da lista ao lado</a:t>
            </a:r>
            <a:endParaRPr lang="pt-BR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79476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5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94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 </a:t>
            </a: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turma onde achou cada um</a:t>
            </a:r>
            <a:endParaRPr lang="pt-BR" noProof="0" dirty="0"/>
          </a:p>
        </p:txBody>
      </p:sp>
      <p:sp>
        <p:nvSpPr>
          <p:cNvPr id="18" name="Cartão"/>
          <p:cNvSpPr/>
          <p:nvPr/>
        </p:nvSpPr>
        <p:spPr>
          <a:xfrm>
            <a:off x="548640" y="466344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5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663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 </a:t>
            </a: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nome da rede Wi-Fi da escola?</a:t>
            </a:r>
            <a:endParaRPr lang="pt-BR" noProof="0" dirty="0"/>
          </a:p>
        </p:txBody>
      </p:sp>
      <p:sp>
        <p:nvSpPr>
          <p:cNvPr id="22" name="Cartão"/>
          <p:cNvSpPr/>
          <p:nvPr/>
        </p:nvSpPr>
        <p:spPr>
          <a:xfrm>
            <a:off x="6035040" y="2057400"/>
            <a:ext cx="55778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Etiqueta"/>
          <p:cNvSpPr/>
          <p:nvPr/>
        </p:nvSpPr>
        <p:spPr>
          <a:xfrm>
            <a:off x="6263640" y="2240280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2402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BUSCA</a:t>
            </a:r>
            <a:endParaRPr lang="pt-BR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6309360" y="28072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743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computador ou celular</a:t>
            </a:r>
            <a:endParaRPr lang="pt-BR" noProof="0" dirty="0"/>
          </a:p>
        </p:txBody>
      </p:sp>
      <p:sp>
        <p:nvSpPr>
          <p:cNvPr id="27" name="Shape 25"/>
          <p:cNvSpPr/>
          <p:nvPr/>
        </p:nvSpPr>
        <p:spPr>
          <a:xfrm>
            <a:off x="6309360" y="331012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2461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cabo de rede</a:t>
            </a:r>
            <a:endParaRPr lang="pt-BR" noProof="0" dirty="0"/>
          </a:p>
        </p:txBody>
      </p:sp>
      <p:sp>
        <p:nvSpPr>
          <p:cNvPr id="29" name="Shape 27"/>
          <p:cNvSpPr/>
          <p:nvPr/>
        </p:nvSpPr>
        <p:spPr>
          <a:xfrm>
            <a:off x="6309360" y="38130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7490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roteador ou ponto de Wi-Fi</a:t>
            </a:r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6309360" y="43159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2519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impressora ligada na rede</a:t>
            </a:r>
            <a:endParaRPr lang="pt-BR" noProof="0" dirty="0"/>
          </a:p>
        </p:txBody>
      </p:sp>
      <p:sp>
        <p:nvSpPr>
          <p:cNvPr id="33" name="Shape 31"/>
          <p:cNvSpPr/>
          <p:nvPr/>
        </p:nvSpPr>
        <p:spPr>
          <a:xfrm>
            <a:off x="6309360" y="48188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7548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tomada de rede na parede</a:t>
            </a:r>
            <a:endParaRPr lang="pt-BR" noProof="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8</a:t>
            </a:fld>
            <a:endParaRPr lang="pt-BR" noProof="0" dirty="0"/>
          </a:p>
        </p:txBody>
      </p:sp>
      <p:pic>
        <p:nvPicPr>
          <p:cNvPr id="36" name="Ilustração detective" descr="detect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9260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9600" b="1" noProof="0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pt-BR" sz="9600" noProof="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de uma rede</a:t>
            </a:r>
            <a:endParaRPr lang="pt-BR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uma rede no nosso dia a dia?</a:t>
            </a:r>
            <a:endParaRPr lang="pt-BR" sz="1800" noProof="0" dirty="0"/>
          </a:p>
        </p:txBody>
      </p:sp>
      <p:sp>
        <p:nvSpPr>
          <p:cNvPr id="5" name="Etiqueta"/>
          <p:cNvSpPr/>
          <p:nvPr/>
        </p:nvSpPr>
        <p:spPr>
          <a:xfrm>
            <a:off x="8229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pt-BR" sz="1000" noProof="0" dirty="0"/>
          </a:p>
        </p:txBody>
      </p:sp>
      <p:sp>
        <p:nvSpPr>
          <p:cNvPr id="7" name="Etiqueta"/>
          <p:cNvSpPr/>
          <p:nvPr/>
        </p:nvSpPr>
        <p:spPr>
          <a:xfrm>
            <a:off x="28803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pt-BR" sz="1000" noProof="0" dirty="0"/>
          </a:p>
        </p:txBody>
      </p:sp>
      <p:sp>
        <p:nvSpPr>
          <p:cNvPr id="9" name="Etiqueta"/>
          <p:cNvSpPr/>
          <p:nvPr/>
        </p:nvSpPr>
        <p:spPr>
          <a:xfrm>
            <a:off x="49377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pt-BR" sz="1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9</a:t>
            </a:fld>
            <a:endParaRPr lang="pt-BR" noProof="0" dirty="0"/>
          </a:p>
        </p:txBody>
      </p:sp>
      <p:pic>
        <p:nvPicPr>
          <p:cNvPr id="26" name="Ilustração hero_02" descr="hero 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7432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933956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933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uma rede?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quase tudo o que fazemos passa por uma rede.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44144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194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e-mail e chamada de vídeo com a família</a:t>
            </a:r>
            <a:endParaRPr lang="pt-BR" sz="2000" noProof="0" dirty="0"/>
          </a:p>
        </p:txBody>
      </p:sp>
      <p:sp>
        <p:nvSpPr>
          <p:cNvPr id="10" name="Cartão"/>
          <p:cNvSpPr/>
          <p:nvPr/>
        </p:nvSpPr>
        <p:spPr>
          <a:xfrm>
            <a:off x="612648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355080" y="244144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194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impressora e uma internet para vários aparelhos</a:t>
            </a:r>
            <a:endParaRPr lang="pt-BR" sz="2000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413308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886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serviços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banco, Pix, Gov.br, Meu INSS, matrícula, consultas no SUS</a:t>
            </a:r>
            <a:endParaRPr lang="pt-BR" sz="2000" noProof="0" dirty="0"/>
          </a:p>
        </p:txBody>
      </p:sp>
      <p:sp>
        <p:nvSpPr>
          <p:cNvPr id="18" name="Cartão"/>
          <p:cNvSpPr/>
          <p:nvPr/>
        </p:nvSpPr>
        <p:spPr>
          <a:xfrm>
            <a:off x="612648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4"/>
          <p:cNvSpPr/>
          <p:nvPr/>
        </p:nvSpPr>
        <p:spPr>
          <a:xfrm>
            <a:off x="6355080" y="413308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5"/>
          <p:cNvSpPr txBox="1"/>
          <p:nvPr/>
        </p:nvSpPr>
        <p:spPr>
          <a:xfrm>
            <a:off x="7269480" y="3886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e trabalhar</a:t>
            </a:r>
            <a:endParaRPr lang="pt-BR" sz="2000" noProof="0" dirty="0"/>
          </a:p>
          <a:p>
            <a:pPr marL="0" indent="0">
              <a:buNone/>
            </a:pPr>
            <a:r>
              <a:rPr lang="pt-BR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online, vagas de emprego, vender pela internet</a:t>
            </a:r>
            <a:endParaRPr lang="pt-BR" sz="2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10</a:t>
            </a:fld>
            <a:endParaRPr lang="pt-BR" noProof="0" dirty="0"/>
          </a:p>
        </p:txBody>
      </p:sp>
      <p:pic>
        <p:nvPicPr>
          <p:cNvPr id="26" name="Ilustração speech_balloon" descr="speech ballo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83" y="2517891"/>
            <a:ext cx="542056" cy="542056"/>
          </a:xfrm>
          <a:prstGeom prst="rect">
            <a:avLst/>
          </a:prstGeom>
        </p:spPr>
      </p:pic>
      <p:pic>
        <p:nvPicPr>
          <p:cNvPr id="27" name="Ilustração link" descr="lin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1523" y="2517891"/>
            <a:ext cx="542056" cy="542056"/>
          </a:xfrm>
          <a:prstGeom prst="rect">
            <a:avLst/>
          </a:prstGeom>
        </p:spPr>
      </p:pic>
      <p:pic>
        <p:nvPicPr>
          <p:cNvPr id="28" name="Ilustração bank" descr="ban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683" y="4209531"/>
            <a:ext cx="542056" cy="542056"/>
          </a:xfrm>
          <a:prstGeom prst="rect">
            <a:avLst/>
          </a:prstGeom>
        </p:spPr>
      </p:pic>
      <p:pic>
        <p:nvPicPr>
          <p:cNvPr id="29" name="Ilustração briefcase" descr="briefca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523" y="4209531"/>
            <a:ext cx="542056" cy="542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555748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PLACAR DA TURMA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meu dia a dia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 se hoje você já…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640080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574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mandou ou recebeu uma mensagem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548640" y="2788920"/>
            <a:ext cx="640080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7889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viu um vídeo ou ouviu música online</a:t>
            </a:r>
            <a:endParaRPr lang="pt-BR" sz="1600" noProof="0" dirty="0"/>
          </a:p>
        </p:txBody>
      </p:sp>
      <p:sp>
        <p:nvSpPr>
          <p:cNvPr id="12" name="Cartão"/>
          <p:cNvSpPr/>
          <p:nvPr/>
        </p:nvSpPr>
        <p:spPr>
          <a:xfrm>
            <a:off x="548640" y="3520440"/>
            <a:ext cx="640080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52044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olhou a previsão do tempo ou notícias</a:t>
            </a:r>
            <a:endParaRPr lang="pt-BR" sz="1600" noProof="0" dirty="0"/>
          </a:p>
        </p:txBody>
      </p:sp>
      <p:sp>
        <p:nvSpPr>
          <p:cNvPr id="15" name="Cartão"/>
          <p:cNvSpPr/>
          <p:nvPr/>
        </p:nvSpPr>
        <p:spPr>
          <a:xfrm>
            <a:off x="548640" y="4251960"/>
            <a:ext cx="640080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280160" y="425196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fez Pix ou pagou uma conta</a:t>
            </a:r>
            <a:endParaRPr lang="pt-BR" sz="1600" noProof="0" dirty="0"/>
          </a:p>
        </p:txBody>
      </p:sp>
      <p:sp>
        <p:nvSpPr>
          <p:cNvPr id="18" name="Cartão"/>
          <p:cNvSpPr/>
          <p:nvPr/>
        </p:nvSpPr>
        <p:spPr>
          <a:xfrm>
            <a:off x="548640" y="4983480"/>
            <a:ext cx="640080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3"/>
          <p:cNvSpPr txBox="1"/>
          <p:nvPr/>
        </p:nvSpPr>
        <p:spPr>
          <a:xfrm>
            <a:off x="1280160" y="498348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usou o GPS ou chamou transporte por aplicativo</a:t>
            </a:r>
            <a:endParaRPr lang="pt-BR" sz="1600" noProof="0" dirty="0"/>
          </a:p>
        </p:txBody>
      </p:sp>
      <p:sp>
        <p:nvSpPr>
          <p:cNvPr id="21" name="Cartão"/>
          <p:cNvSpPr/>
          <p:nvPr/>
        </p:nvSpPr>
        <p:spPr>
          <a:xfrm>
            <a:off x="7315200" y="2057400"/>
            <a:ext cx="4297680" cy="3529584"/>
          </a:xfrm>
          <a:prstGeom prst="roundRect">
            <a:avLst>
              <a:gd name="adj" fmla="val 2073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5"/>
          <p:cNvSpPr txBox="1"/>
          <p:nvPr/>
        </p:nvSpPr>
        <p:spPr>
          <a:xfrm>
            <a:off x="74980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Placar da turma</a:t>
            </a:r>
            <a:endParaRPr lang="pt-BR" sz="2000" noProof="0" dirty="0"/>
          </a:p>
        </p:txBody>
      </p:sp>
      <p:sp>
        <p:nvSpPr>
          <p:cNvPr id="23" name="Text 16"/>
          <p:cNvSpPr txBox="1"/>
          <p:nvPr/>
        </p:nvSpPr>
        <p:spPr>
          <a:xfrm>
            <a:off x="7498080" y="29260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5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de ___</a:t>
            </a:r>
            <a:endParaRPr lang="pt-BR" sz="5000" noProof="0" dirty="0"/>
          </a:p>
        </p:txBody>
      </p:sp>
      <p:sp>
        <p:nvSpPr>
          <p:cNvPr id="24" name="Text 17"/>
          <p:cNvSpPr txBox="1"/>
          <p:nvPr/>
        </p:nvSpPr>
        <p:spPr>
          <a:xfrm>
            <a:off x="7498080" y="4297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usaram uma rede hoje</a:t>
            </a:r>
            <a:endParaRPr lang="pt-B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11</a:t>
            </a:fld>
            <a:endParaRPr lang="pt-BR" noProof="0" dirty="0"/>
          </a:p>
        </p:txBody>
      </p:sp>
      <p:pic>
        <p:nvPicPr>
          <p:cNvPr id="26" name="Ilustração raised_hand" descr="raised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" y="2136952"/>
            <a:ext cx="444398" cy="444398"/>
          </a:xfrm>
          <a:prstGeom prst="rect">
            <a:avLst/>
          </a:prstGeom>
        </p:spPr>
      </p:pic>
      <p:pic>
        <p:nvPicPr>
          <p:cNvPr id="27" name="Ilustração raised_hand" descr="raised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" y="2868472"/>
            <a:ext cx="444398" cy="444398"/>
          </a:xfrm>
          <a:prstGeom prst="rect">
            <a:avLst/>
          </a:prstGeom>
        </p:spPr>
      </p:pic>
      <p:pic>
        <p:nvPicPr>
          <p:cNvPr id="28" name="Ilustração raised_hand" descr="raised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" y="3599992"/>
            <a:ext cx="444398" cy="444398"/>
          </a:xfrm>
          <a:prstGeom prst="rect">
            <a:avLst/>
          </a:prstGeom>
        </p:spPr>
      </p:pic>
      <p:pic>
        <p:nvPicPr>
          <p:cNvPr id="29" name="Ilustração raised_hand" descr="raised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" y="4331512"/>
            <a:ext cx="444398" cy="444398"/>
          </a:xfrm>
          <a:prstGeom prst="rect">
            <a:avLst/>
          </a:prstGeom>
        </p:spPr>
      </p:pic>
      <p:pic>
        <p:nvPicPr>
          <p:cNvPr id="30" name="Ilustração raised_hand" descr="raised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" y="5063032"/>
            <a:ext cx="444398" cy="444398"/>
          </a:xfrm>
          <a:prstGeom prst="rect">
            <a:avLst/>
          </a:prstGeom>
        </p:spPr>
      </p:pic>
      <p:pic>
        <p:nvPicPr>
          <p:cNvPr id="31" name="Ilustração raising_hands" descr="raising han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9260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9600" b="1" noProof="0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pt-BR" sz="9600" noProof="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uma rede</a:t>
            </a:r>
            <a:endParaRPr lang="pt-BR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rede de casa até a internet: cabo, telefone, luz, ar e satélite.</a:t>
            </a:r>
            <a:endParaRPr lang="pt-BR" sz="1800" noProof="0" dirty="0"/>
          </a:p>
        </p:txBody>
      </p:sp>
      <p:sp>
        <p:nvSpPr>
          <p:cNvPr id="5" name="Etiqueta"/>
          <p:cNvSpPr/>
          <p:nvPr/>
        </p:nvSpPr>
        <p:spPr>
          <a:xfrm>
            <a:off x="8229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</a:t>
            </a:r>
            <a:endParaRPr lang="pt-BR" sz="1000" noProof="0" dirty="0"/>
          </a:p>
        </p:txBody>
      </p:sp>
      <p:sp>
        <p:nvSpPr>
          <p:cNvPr id="7" name="Etiqueta"/>
          <p:cNvSpPr/>
          <p:nvPr/>
        </p:nvSpPr>
        <p:spPr>
          <a:xfrm>
            <a:off x="28803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</a:t>
            </a:r>
            <a:endParaRPr lang="pt-BR" sz="1000" noProof="0" dirty="0"/>
          </a:p>
        </p:txBody>
      </p:sp>
      <p:sp>
        <p:nvSpPr>
          <p:cNvPr id="9" name="Etiqueta"/>
          <p:cNvSpPr/>
          <p:nvPr/>
        </p:nvSpPr>
        <p:spPr>
          <a:xfrm>
            <a:off x="49377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</a:t>
            </a:r>
            <a:endParaRPr lang="pt-BR" sz="1000" noProof="0" dirty="0"/>
          </a:p>
        </p:txBody>
      </p:sp>
      <p:sp>
        <p:nvSpPr>
          <p:cNvPr id="11" name="Etiqueta"/>
          <p:cNvSpPr/>
          <p:nvPr/>
        </p:nvSpPr>
        <p:spPr>
          <a:xfrm>
            <a:off x="69951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· 4G · 5G</a:t>
            </a:r>
            <a:endParaRPr lang="pt-BR" sz="1000" noProof="0" dirty="0"/>
          </a:p>
        </p:txBody>
      </p:sp>
      <p:sp>
        <p:nvSpPr>
          <p:cNvPr id="13" name="Etiqueta"/>
          <p:cNvSpPr/>
          <p:nvPr/>
        </p:nvSpPr>
        <p:spPr>
          <a:xfrm>
            <a:off x="90525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</a:t>
            </a:r>
            <a:endParaRPr lang="pt-BR" sz="1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12</a:t>
            </a:fld>
            <a:endParaRPr lang="pt-BR" noProof="0" dirty="0"/>
          </a:p>
        </p:txBody>
      </p:sp>
      <p:pic>
        <p:nvPicPr>
          <p:cNvPr id="26" name="Ilustração hero_03" descr="hero 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7432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local: a rede da casa ou da escola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chamada de LAN. O roteador é o centro de tudo.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7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aparelhos de um mesmo lugar: casa, escola, empresa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7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roteador é o "centro" da rede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7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 pode ser por cabo ou por Wi-Fi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7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roteador também divide a internet com todos</a:t>
            </a:r>
            <a:endParaRPr lang="pt-BR" sz="1600" noProof="0" dirty="0"/>
          </a:p>
        </p:txBody>
      </p:sp>
      <p:sp>
        <p:nvSpPr>
          <p:cNvPr id="8" name="Cartão"/>
          <p:cNvSpPr/>
          <p:nvPr/>
        </p:nvSpPr>
        <p:spPr>
          <a:xfrm>
            <a:off x="5760720" y="2057400"/>
            <a:ext cx="5852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pt-BR" sz="1300" noProof="0" dirty="0"/>
          </a:p>
        </p:txBody>
      </p:sp>
      <p:sp>
        <p:nvSpPr>
          <p:cNvPr id="12" name="Shape 9"/>
          <p:cNvSpPr/>
          <p:nvPr/>
        </p:nvSpPr>
        <p:spPr>
          <a:xfrm>
            <a:off x="6949440" y="3639312"/>
            <a:ext cx="822960" cy="914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7772400" y="3108960"/>
            <a:ext cx="1051560" cy="105156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90" y="3371850"/>
            <a:ext cx="525780" cy="5257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4206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endParaRPr lang="pt-BR" sz="1300" noProof="0" dirty="0"/>
          </a:p>
        </p:txBody>
      </p:sp>
      <p:sp>
        <p:nvSpPr>
          <p:cNvPr id="16" name="Shape 12"/>
          <p:cNvSpPr/>
          <p:nvPr/>
        </p:nvSpPr>
        <p:spPr>
          <a:xfrm flipV="1">
            <a:off x="8823960" y="2624328"/>
            <a:ext cx="1600200" cy="1014984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4"/>
          <p:cNvSpPr txBox="1"/>
          <p:nvPr/>
        </p:nvSpPr>
        <p:spPr>
          <a:xfrm>
            <a:off x="1124712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</a:t>
            </a:r>
            <a:endParaRPr lang="pt-BR" sz="1200" noProof="0" dirty="0"/>
          </a:p>
        </p:txBody>
      </p:sp>
      <p:sp>
        <p:nvSpPr>
          <p:cNvPr id="20" name="Shape 15"/>
          <p:cNvSpPr/>
          <p:nvPr/>
        </p:nvSpPr>
        <p:spPr>
          <a:xfrm flipV="1">
            <a:off x="8823960" y="3630168"/>
            <a:ext cx="1600200" cy="9144"/>
          </a:xfrm>
          <a:prstGeom prst="line">
            <a:avLst/>
          </a:prstGeom>
          <a:noFill/>
          <a:ln w="25400">
            <a:solidFill>
              <a:srgbClr val="7CB342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1124712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pt-BR" sz="1200" noProof="0" dirty="0"/>
          </a:p>
        </p:txBody>
      </p:sp>
      <p:sp>
        <p:nvSpPr>
          <p:cNvPr id="24" name="Shape 18"/>
          <p:cNvSpPr/>
          <p:nvPr/>
        </p:nvSpPr>
        <p:spPr>
          <a:xfrm>
            <a:off x="8823960" y="3639312"/>
            <a:ext cx="1600200" cy="996696"/>
          </a:xfrm>
          <a:prstGeom prst="line">
            <a:avLst/>
          </a:prstGeom>
          <a:noFill/>
          <a:ln w="25400">
            <a:solidFill>
              <a:srgbClr val="7CB342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11247120" y="4480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pt-BR" sz="1200" noProof="0" dirty="0"/>
          </a:p>
        </p:txBody>
      </p:sp>
      <p:sp>
        <p:nvSpPr>
          <p:cNvPr id="28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cheia = cabo de rede  ·  linha tracejada = Wi-Fi (sem fio).</a:t>
            </a:r>
            <a:endParaRPr lang="pt-BR" sz="1550" noProof="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13</a:t>
            </a:fld>
            <a:endParaRPr lang="pt-BR" noProof="0" dirty="0"/>
          </a:p>
        </p:txBody>
      </p:sp>
      <p:pic>
        <p:nvPicPr>
          <p:cNvPr id="32" name="Ilustração globe_showing_americas" descr="globe showing america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3200400"/>
            <a:ext cx="868680" cy="868680"/>
          </a:xfrm>
          <a:prstGeom prst="rect">
            <a:avLst/>
          </a:prstGeom>
        </p:spPr>
      </p:pic>
      <p:pic>
        <p:nvPicPr>
          <p:cNvPr id="33" name="Ilustração laptop" descr="lapto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4159" y="2240280"/>
            <a:ext cx="777240" cy="777240"/>
          </a:xfrm>
          <a:prstGeom prst="rect">
            <a:avLst/>
          </a:prstGeom>
        </p:spPr>
      </p:pic>
      <p:pic>
        <p:nvPicPr>
          <p:cNvPr id="34" name="Ilustração mobile_phone" descr="mobile phon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59" y="3246120"/>
            <a:ext cx="777240" cy="777240"/>
          </a:xfrm>
          <a:prstGeom prst="rect">
            <a:avLst/>
          </a:prstGeom>
        </p:spPr>
      </p:pic>
      <p:pic>
        <p:nvPicPr>
          <p:cNvPr id="35" name="Ilustração printer" descr="print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4159" y="4251960"/>
            <a:ext cx="777240" cy="777240"/>
          </a:xfrm>
          <a:prstGeom prst="rect">
            <a:avLst/>
          </a:prstGeom>
        </p:spPr>
      </p:pic>
      <p:pic>
        <p:nvPicPr>
          <p:cNvPr id="36" name="Ilustração house_with_garden" descr="house with garde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9080" y="39319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ADSL: internet pelo fio do telefone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mais antiga, muito usada nos anos 2000 e 2010.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pt-BR" sz="19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linha do telefone fixo (fio de cobre)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falar ao telefone e navegar ao mesmo tempo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longe da central, mais lenta fica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está sendo trocada pela fibra óptica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6309360" y="2057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internet</a:t>
            </a:r>
            <a:endParaRPr lang="pt-BR" sz="1900" noProof="0" dirty="0"/>
          </a:p>
        </p:txBody>
      </p:sp>
      <p:sp>
        <p:nvSpPr>
          <p:cNvPr id="11" name="Shape 9"/>
          <p:cNvSpPr/>
          <p:nvPr/>
        </p:nvSpPr>
        <p:spPr>
          <a:xfrm>
            <a:off x="6885432" y="343814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537960" y="274320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7432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 companhia telefônica</a:t>
            </a:r>
            <a:endParaRPr lang="pt-BR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6885432" y="426110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6537960" y="356616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356616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do telefone (cobre)</a:t>
            </a:r>
            <a:endParaRPr lang="pt-BR" sz="1600" noProof="0" dirty="0"/>
          </a:p>
        </p:txBody>
      </p:sp>
      <p:sp>
        <p:nvSpPr>
          <p:cNvPr id="19" name="Shape 15"/>
          <p:cNvSpPr/>
          <p:nvPr/>
        </p:nvSpPr>
        <p:spPr>
          <a:xfrm>
            <a:off x="6537960" y="4389120"/>
            <a:ext cx="694944" cy="69494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56285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438912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ADSL na sua casa</a:t>
            </a:r>
            <a:endParaRPr lang="pt-BR" sz="1600" noProof="0" dirty="0"/>
          </a:p>
        </p:txBody>
      </p:sp>
      <p:sp>
        <p:nvSpPr>
          <p:cNvPr id="22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lembra?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ADSL existia a internet discada: ocupava o telefone e fazia aquele barulho ao conectar.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14</a:t>
            </a:fld>
            <a:endParaRPr lang="pt-BR" noProof="0" dirty="0"/>
          </a:p>
        </p:txBody>
      </p:sp>
      <p:pic>
        <p:nvPicPr>
          <p:cNvPr id="26" name="Ilustração office_building" descr="office build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403" y="2819643"/>
            <a:ext cx="542056" cy="542056"/>
          </a:xfrm>
          <a:prstGeom prst="rect">
            <a:avLst/>
          </a:prstGeom>
        </p:spPr>
      </p:pic>
      <p:pic>
        <p:nvPicPr>
          <p:cNvPr id="27" name="Ilustração telephone" descr="teleph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403" y="3642603"/>
            <a:ext cx="542056" cy="542056"/>
          </a:xfrm>
          <a:prstGeom prst="rect">
            <a:avLst/>
          </a:prstGeom>
        </p:spPr>
      </p:pic>
      <p:pic>
        <p:nvPicPr>
          <p:cNvPr id="28" name="Ilustração telephone" descr="teleph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2062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ÓPTICA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Fibra óptica: internet pela luz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conexão mais moderna e mais usada hoje nas cidades.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pt-BR" sz="19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fio de vidro bem fininho leva a informação em forma de luz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conexão mais rápida e estável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sofre com chuva, raios ou distância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que a empresa passe o cabo na sua rua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6309360" y="2057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internet</a:t>
            </a:r>
            <a:endParaRPr lang="pt-BR" sz="1900" noProof="0" dirty="0"/>
          </a:p>
        </p:txBody>
      </p:sp>
      <p:sp>
        <p:nvSpPr>
          <p:cNvPr id="11" name="Shape 9"/>
          <p:cNvSpPr/>
          <p:nvPr/>
        </p:nvSpPr>
        <p:spPr>
          <a:xfrm>
            <a:off x="6885432" y="343814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537960" y="274320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7432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de internet</a:t>
            </a:r>
            <a:endParaRPr lang="pt-BR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6885432" y="426110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6537960" y="356616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356616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de fibra pelos postes</a:t>
            </a:r>
            <a:endParaRPr lang="pt-BR" sz="1600" noProof="0" dirty="0"/>
          </a:p>
        </p:txBody>
      </p:sp>
      <p:sp>
        <p:nvSpPr>
          <p:cNvPr id="19" name="Shape 15"/>
          <p:cNvSpPr/>
          <p:nvPr/>
        </p:nvSpPr>
        <p:spPr>
          <a:xfrm>
            <a:off x="6537960" y="4389120"/>
            <a:ext cx="694944" cy="69494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56285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438912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 da operadora (ONU) e roteador Wi-Fi</a:t>
            </a:r>
            <a:endParaRPr lang="pt-BR" sz="1600" noProof="0" dirty="0"/>
          </a:p>
        </p:txBody>
      </p:sp>
      <p:sp>
        <p:nvSpPr>
          <p:cNvPr id="22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comuns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Mbps, 500 Mbps ou 1 Gbps (1 Gbps = 1.000 Mbps).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15</a:t>
            </a:fld>
            <a:endParaRPr lang="pt-BR" noProof="0" dirty="0"/>
          </a:p>
        </p:txBody>
      </p:sp>
      <p:pic>
        <p:nvPicPr>
          <p:cNvPr id="26" name="Ilustração office_building" descr="office build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403" y="2819643"/>
            <a:ext cx="542056" cy="542056"/>
          </a:xfrm>
          <a:prstGeom prst="rect">
            <a:avLst/>
          </a:prstGeom>
        </p:spPr>
      </p:pic>
      <p:pic>
        <p:nvPicPr>
          <p:cNvPr id="27" name="Ilustração light_bulb" descr="light 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403" y="3642603"/>
            <a:ext cx="542056" cy="542056"/>
          </a:xfrm>
          <a:prstGeom prst="rect">
            <a:avLst/>
          </a:prstGeom>
        </p:spPr>
      </p:pic>
      <p:pic>
        <p:nvPicPr>
          <p:cNvPr id="28" name="Ilustração light_bulb" descr="light 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2062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MÓVEL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3G, 4G e 5G: internet pelo ar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do celular, que vai com você para qualquer lugar com sinal.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pt-BR" sz="19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chega pelas antenas das operadoras de celular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chip e de um plano de dados (franquia)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na rua, no ônibus e em casa — onde houver sinal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é lento, 4G é rápido e 5G é ainda mais rápido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6309360" y="2057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internet</a:t>
            </a:r>
            <a:endParaRPr lang="pt-BR" sz="1900" noProof="0" dirty="0"/>
          </a:p>
        </p:txBody>
      </p:sp>
      <p:sp>
        <p:nvSpPr>
          <p:cNvPr id="11" name="Shape 9"/>
          <p:cNvSpPr/>
          <p:nvPr/>
        </p:nvSpPr>
        <p:spPr>
          <a:xfrm>
            <a:off x="6885432" y="343814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537960" y="274320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7432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(torre) da operadora</a:t>
            </a:r>
            <a:endParaRPr lang="pt-BR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6885432" y="426110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6537960" y="356616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356616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de rádio pelo ar</a:t>
            </a:r>
            <a:endParaRPr lang="pt-BR" sz="1600" noProof="0" dirty="0"/>
          </a:p>
        </p:txBody>
      </p:sp>
      <p:sp>
        <p:nvSpPr>
          <p:cNvPr id="19" name="Shape 15"/>
          <p:cNvSpPr/>
          <p:nvPr/>
        </p:nvSpPr>
        <p:spPr>
          <a:xfrm>
            <a:off x="6537960" y="4389120"/>
            <a:ext cx="694944" cy="69494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56285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438912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com chip</a:t>
            </a:r>
            <a:endParaRPr lang="pt-BR" sz="1600" noProof="0" dirty="0"/>
          </a:p>
        </p:txBody>
      </p:sp>
      <p:sp>
        <p:nvSpPr>
          <p:cNvPr id="22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"G"?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quer dizer geração: o 5G é a 5ª geração da internet do celular.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16</a:t>
            </a:fld>
            <a:endParaRPr lang="pt-BR" noProof="0" dirty="0"/>
          </a:p>
        </p:txBody>
      </p:sp>
      <p:pic>
        <p:nvPicPr>
          <p:cNvPr id="26" name="Ilustração antenna_bars" descr="antenna ba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403" y="2819643"/>
            <a:ext cx="542056" cy="542056"/>
          </a:xfrm>
          <a:prstGeom prst="rect">
            <a:avLst/>
          </a:prstGeom>
        </p:spPr>
      </p:pic>
      <p:pic>
        <p:nvPicPr>
          <p:cNvPr id="27" name="Ilustração wireless" descr="wirele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403" y="3642603"/>
            <a:ext cx="542056" cy="542056"/>
          </a:xfrm>
          <a:prstGeom prst="rect">
            <a:avLst/>
          </a:prstGeom>
        </p:spPr>
      </p:pic>
      <p:pic>
        <p:nvPicPr>
          <p:cNvPr id="28" name="Ilustração mobile_phone" descr="mobile pho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315968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Satélite: internet que vem do céu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para onde o cabo e o sinal de celular não chegam.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pt-BR" sz="19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vem de satélites que estão no espaço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antena na casa "conversa" com o satélite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ao interior, à zona rural e até a barcos</a:t>
            </a:r>
            <a:endParaRPr lang="pt-BR" sz="1600" noProof="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pt-BR" sz="16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moderno: Starlink, com milhares de satélites mais perto da Terra</a:t>
            </a:r>
            <a:endParaRPr lang="pt-BR" sz="1600" noProof="0" dirty="0"/>
          </a:p>
        </p:txBody>
      </p:sp>
      <p:sp>
        <p:nvSpPr>
          <p:cNvPr id="9" name="Cartão"/>
          <p:cNvSpPr/>
          <p:nvPr/>
        </p:nvSpPr>
        <p:spPr>
          <a:xfrm>
            <a:off x="6309360" y="2057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9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internet</a:t>
            </a:r>
            <a:endParaRPr lang="pt-BR" sz="1900" noProof="0" dirty="0"/>
          </a:p>
        </p:txBody>
      </p:sp>
      <p:sp>
        <p:nvSpPr>
          <p:cNvPr id="11" name="Shape 9"/>
          <p:cNvSpPr/>
          <p:nvPr/>
        </p:nvSpPr>
        <p:spPr>
          <a:xfrm>
            <a:off x="6885432" y="343814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537960" y="274320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7432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no espaço</a:t>
            </a:r>
            <a:endParaRPr lang="pt-BR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6885432" y="4261104"/>
            <a:ext cx="914" cy="128016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6537960" y="3566160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356616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no telhado</a:t>
            </a:r>
            <a:endParaRPr lang="pt-BR" sz="1600" noProof="0" dirty="0"/>
          </a:p>
        </p:txBody>
      </p:sp>
      <p:sp>
        <p:nvSpPr>
          <p:cNvPr id="19" name="Shape 15"/>
          <p:cNvSpPr/>
          <p:nvPr/>
        </p:nvSpPr>
        <p:spPr>
          <a:xfrm>
            <a:off x="6537960" y="4389120"/>
            <a:ext cx="694944" cy="69494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56285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438912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Wi-Fi na casa</a:t>
            </a:r>
            <a:endParaRPr lang="pt-BR" sz="1600" noProof="0" dirty="0"/>
          </a:p>
        </p:txBody>
      </p:sp>
      <p:sp>
        <p:nvSpPr>
          <p:cNvPr id="22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e cuidado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quase qualquer lugar, mas o equipamento e a mensalidade ainda são caros. Chuva forte pode atrapalhar.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17</a:t>
            </a:fld>
            <a:endParaRPr lang="pt-BR" noProof="0" dirty="0"/>
          </a:p>
        </p:txBody>
      </p:sp>
      <p:pic>
        <p:nvPicPr>
          <p:cNvPr id="26" name="Ilustração satellite" descr="satelli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403" y="2819643"/>
            <a:ext cx="542056" cy="542056"/>
          </a:xfrm>
          <a:prstGeom prst="rect">
            <a:avLst/>
          </a:prstGeom>
        </p:spPr>
      </p:pic>
      <p:pic>
        <p:nvPicPr>
          <p:cNvPr id="27" name="Ilustração satellite_antenna" descr="satellite antenn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403" y="3642603"/>
            <a:ext cx="542056" cy="542056"/>
          </a:xfrm>
          <a:prstGeom prst="rect">
            <a:avLst/>
          </a:prstGeom>
        </p:spPr>
      </p:pic>
      <p:pic>
        <p:nvPicPr>
          <p:cNvPr id="28" name="Ilustração tractor" descr="tra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42062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conexão é qual?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tem seu lugar — o importante é saber escolher.</a:t>
            </a:r>
            <a:endParaRPr lang="pt-BR" sz="1600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53523"/>
              </p:ext>
            </p:extLst>
          </p:nvPr>
        </p:nvGraphicFramePr>
        <p:xfrm>
          <a:off x="548640" y="2057400"/>
          <a:ext cx="11064240" cy="31821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chega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funciona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Destaque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local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Cabo ou Wi-Fi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 casa ou da escola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tudo num lugar só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ADSL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 do telefone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Cidades (cada vez menos)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 e antiga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Fibra óptica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 em um cabo de vidro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rápida e estável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3G / 4G / 5G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Ondas pelo ar (antenas)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tem sinal de celular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no bolso; tem franquia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Satélite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espaço até a antena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lugar, até a zona rural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 longe; mais cara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a turma: qual dessas você usa em casa? E no celular?</a:t>
            </a:r>
            <a:endParaRPr lang="pt-BR" sz="15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18</a:t>
            </a:fld>
            <a:endParaRPr lang="pt-BR" noProof="0" dirty="0"/>
          </a:p>
        </p:txBody>
      </p:sp>
      <p:pic>
        <p:nvPicPr>
          <p:cNvPr id="26" name="Ilustração globe_with_meridians" descr="globe with meridia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9260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933956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933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DESAFIO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sou eu?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charada e responda em voz alta. Pode ser em equipes!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945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levo a internet pela luz, dentro de um fio de vidro.</a:t>
            </a:r>
            <a:endParaRPr lang="pt-BR" sz="1800" noProof="0" dirty="0"/>
          </a:p>
        </p:txBody>
      </p:sp>
      <p:sp>
        <p:nvSpPr>
          <p:cNvPr id="10" name="Cartão"/>
          <p:cNvSpPr/>
          <p:nvPr/>
        </p:nvSpPr>
        <p:spPr>
          <a:xfrm>
            <a:off x="612648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2423160"/>
            <a:ext cx="731520" cy="73152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2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945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chego pelo ar, através das antenas, e preciso de um chip.</a:t>
            </a:r>
            <a:endParaRPr lang="pt-BR" sz="1800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2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8862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uso o fio do telefone fixo e já estou ficando velho.</a:t>
            </a:r>
            <a:endParaRPr lang="pt-BR" sz="1800" noProof="0" dirty="0"/>
          </a:p>
        </p:txBody>
      </p:sp>
      <p:sp>
        <p:nvSpPr>
          <p:cNvPr id="18" name="Cartão"/>
          <p:cNvSpPr/>
          <p:nvPr/>
        </p:nvSpPr>
        <p:spPr>
          <a:xfrm>
            <a:off x="612648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731520" cy="73152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22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38862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venho do espaço e chego até a zona rural.</a:t>
            </a:r>
            <a:endParaRPr lang="pt-BR" sz="18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19</a:t>
            </a:fld>
            <a:endParaRPr lang="pt-BR" noProof="0" dirty="0"/>
          </a:p>
        </p:txBody>
      </p:sp>
      <p:pic>
        <p:nvPicPr>
          <p:cNvPr id="26" name="Ilustração thinking_face" descr="thinking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9260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001268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ao usar a rede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também faz parte de usar bem a internet.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44144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194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senha no Wi-Fi de casa</a:t>
            </a:r>
            <a:endParaRPr lang="pt-BR" sz="1600" noProof="0" dirty="0"/>
          </a:p>
          <a:p>
            <a:pPr marL="0" indent="0">
              <a:buNone/>
            </a:pP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letras, números e símbolos — nada de 12345678</a:t>
            </a:r>
            <a:endParaRPr lang="pt-BR" sz="1600" noProof="0" dirty="0"/>
          </a:p>
        </p:txBody>
      </p:sp>
      <p:sp>
        <p:nvSpPr>
          <p:cNvPr id="10" name="Cartão"/>
          <p:cNvSpPr/>
          <p:nvPr/>
        </p:nvSpPr>
        <p:spPr>
          <a:xfrm>
            <a:off x="6126480" y="2057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355080" y="244144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194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Wi-Fi público</a:t>
            </a:r>
            <a:endParaRPr lang="pt-BR" sz="1600" noProof="0" dirty="0"/>
          </a:p>
          <a:p>
            <a:pPr marL="0" indent="0">
              <a:buNone/>
            </a:pP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praça ou na rodoviária, não entre no banco nem faça Pix</a:t>
            </a:r>
            <a:endParaRPr lang="pt-BR" sz="1600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413308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886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passe códigos</a:t>
            </a:r>
            <a:endParaRPr lang="pt-BR" sz="1600" noProof="0" dirty="0"/>
          </a:p>
          <a:p>
            <a:pPr marL="0" indent="0">
              <a:buNone/>
            </a:pP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WhatsApp ou do banco que chega por SMS é só seu</a:t>
            </a:r>
            <a:endParaRPr lang="pt-BR" sz="1600" noProof="0" dirty="0"/>
          </a:p>
        </p:txBody>
      </p:sp>
      <p:sp>
        <p:nvSpPr>
          <p:cNvPr id="18" name="Cartão"/>
          <p:cNvSpPr/>
          <p:nvPr/>
        </p:nvSpPr>
        <p:spPr>
          <a:xfrm>
            <a:off x="612648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4"/>
          <p:cNvSpPr/>
          <p:nvPr/>
        </p:nvSpPr>
        <p:spPr>
          <a:xfrm>
            <a:off x="6355080" y="413308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5"/>
          <p:cNvSpPr txBox="1"/>
          <p:nvPr/>
        </p:nvSpPr>
        <p:spPr>
          <a:xfrm>
            <a:off x="7269480" y="3886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 celular atualizado</a:t>
            </a:r>
            <a:endParaRPr lang="pt-BR" sz="1600" noProof="0" dirty="0"/>
          </a:p>
          <a:p>
            <a:pPr marL="0" indent="0">
              <a:buNone/>
            </a:pP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atualizações corrigem falhas de segurança</a:t>
            </a:r>
            <a:endParaRPr lang="pt-B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20</a:t>
            </a:fld>
            <a:endParaRPr lang="pt-BR" noProof="0" dirty="0"/>
          </a:p>
        </p:txBody>
      </p:sp>
      <p:pic>
        <p:nvPicPr>
          <p:cNvPr id="26" name="Ilustração locked" descr="lock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83" y="2517891"/>
            <a:ext cx="542056" cy="542056"/>
          </a:xfrm>
          <a:prstGeom prst="rect">
            <a:avLst/>
          </a:prstGeom>
        </p:spPr>
      </p:pic>
      <p:pic>
        <p:nvPicPr>
          <p:cNvPr id="27" name="Ilustração wireless" descr="wirele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1523" y="2517891"/>
            <a:ext cx="542056" cy="542056"/>
          </a:xfrm>
          <a:prstGeom prst="rect">
            <a:avLst/>
          </a:prstGeom>
        </p:spPr>
      </p:pic>
      <p:pic>
        <p:nvPicPr>
          <p:cNvPr id="28" name="Ilustração shield" descr="shiel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683" y="4209531"/>
            <a:ext cx="542056" cy="542056"/>
          </a:xfrm>
          <a:prstGeom prst="rect">
            <a:avLst/>
          </a:prstGeom>
        </p:spPr>
      </p:pic>
      <p:pic>
        <p:nvPicPr>
          <p:cNvPr id="29" name="Ilustração mobile_phone" descr="mobile pho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523" y="4209531"/>
            <a:ext cx="542056" cy="542056"/>
          </a:xfrm>
          <a:prstGeom prst="rect">
            <a:avLst/>
          </a:prstGeom>
        </p:spPr>
      </p:pic>
      <p:pic>
        <p:nvPicPr>
          <p:cNvPr id="30" name="Ilustração warning" descr="warn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9880" y="29260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9600" b="1" noProof="0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pt-BR" sz="9600" noProof="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medir a velocidade da sua conexão</a:t>
            </a:r>
            <a:endParaRPr lang="pt-BR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internet entrega o que você paga?</a:t>
            </a:r>
            <a:endParaRPr lang="pt-BR" sz="1800" noProof="0" dirty="0"/>
          </a:p>
        </p:txBody>
      </p:sp>
      <p:sp>
        <p:nvSpPr>
          <p:cNvPr id="5" name="Etiqueta"/>
          <p:cNvSpPr/>
          <p:nvPr/>
        </p:nvSpPr>
        <p:spPr>
          <a:xfrm>
            <a:off x="8229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</a:t>
            </a:r>
            <a:endParaRPr lang="pt-BR" sz="1000" noProof="0" dirty="0"/>
          </a:p>
        </p:txBody>
      </p:sp>
      <p:sp>
        <p:nvSpPr>
          <p:cNvPr id="7" name="Etiqueta"/>
          <p:cNvSpPr/>
          <p:nvPr/>
        </p:nvSpPr>
        <p:spPr>
          <a:xfrm>
            <a:off x="28803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 UPLOAD</a:t>
            </a:r>
            <a:endParaRPr lang="pt-BR" sz="1000" noProof="0" dirty="0"/>
          </a:p>
        </p:txBody>
      </p:sp>
      <p:sp>
        <p:nvSpPr>
          <p:cNvPr id="9" name="Etiqueta"/>
          <p:cNvSpPr/>
          <p:nvPr/>
        </p:nvSpPr>
        <p:spPr>
          <a:xfrm>
            <a:off x="4937760" y="4892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892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FRANQUIA</a:t>
            </a:r>
            <a:endParaRPr lang="pt-BR" sz="1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21</a:t>
            </a:fld>
            <a:endParaRPr lang="pt-BR" noProof="0" dirty="0"/>
          </a:p>
        </p:txBody>
      </p:sp>
      <p:pic>
        <p:nvPicPr>
          <p:cNvPr id="26" name="Ilustração hero_04" descr="hero 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7432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1.5.4 · VELOCIDADE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Entendendo a velocidade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em Mbps (megabits por segundo): quanta informação passa a cada segundo.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/ receber</a:t>
            </a:r>
            <a:endParaRPr lang="pt-BR" sz="16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vídeo, abrir site, receber foto.</a:t>
            </a:r>
            <a:endParaRPr lang="pt-BR" sz="16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72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melhor</a:t>
            </a:r>
            <a:endParaRPr lang="pt-BR" sz="1600" noProof="0" dirty="0"/>
          </a:p>
        </p:txBody>
      </p:sp>
      <p:sp>
        <p:nvSpPr>
          <p:cNvPr id="12" name="Cartão"/>
          <p:cNvSpPr/>
          <p:nvPr/>
        </p:nvSpPr>
        <p:spPr>
          <a:xfrm>
            <a:off x="4297680" y="20574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E8F0FA"/>
          </a:solidFill>
          <a:ln w="12700">
            <a:solidFill>
              <a:srgbClr val="C5D6E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4572000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2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pt-BR" sz="1600" noProof="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 foto ou vídeo, fazer chamada de vídeo.</a:t>
            </a:r>
            <a:endParaRPr lang="pt-BR" sz="1600" noProof="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4572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melhor</a:t>
            </a:r>
            <a:endParaRPr lang="pt-BR" sz="1600" noProof="0" dirty="0"/>
          </a:p>
        </p:txBody>
      </p:sp>
      <p:sp>
        <p:nvSpPr>
          <p:cNvPr id="18" name="Cartão"/>
          <p:cNvSpPr/>
          <p:nvPr/>
        </p:nvSpPr>
        <p:spPr>
          <a:xfrm>
            <a:off x="8046720" y="20574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5"/>
          <p:cNvSpPr/>
          <p:nvPr/>
        </p:nvSpPr>
        <p:spPr>
          <a:xfrm>
            <a:off x="8321040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6"/>
          <p:cNvSpPr txBox="1"/>
          <p:nvPr/>
        </p:nvSpPr>
        <p:spPr>
          <a:xfrm>
            <a:off x="918972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 (latência)</a:t>
            </a:r>
            <a:endParaRPr lang="pt-BR" sz="1600" noProof="0" dirty="0"/>
          </a:p>
          <a:p>
            <a:pPr marL="0" indent="0">
              <a:buNone/>
            </a:pP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pt-BR" sz="1600" noProof="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em chamadas e jogos online. Medido em ms.</a:t>
            </a:r>
            <a:endParaRPr lang="pt-BR" sz="1600" noProof="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4572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</a:t>
            </a:r>
            <a:endParaRPr lang="pt-BR" sz="1600" noProof="0" dirty="0"/>
          </a:p>
        </p:txBody>
      </p:sp>
      <p:sp>
        <p:nvSpPr>
          <p:cNvPr id="24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 cano d'água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largo o cano (mais Mbps), mais água (informação) passa ao mesmo tempo.</a:t>
            </a:r>
            <a:endParaRPr lang="pt-BR" sz="1450" noProof="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22</a:t>
            </a:fld>
            <a:endParaRPr lang="pt-BR" noProof="0" dirty="0"/>
          </a:p>
        </p:txBody>
      </p:sp>
      <p:pic>
        <p:nvPicPr>
          <p:cNvPr id="28" name="Ilustração inbox_tray" descr="inbox tra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" y="2366467"/>
            <a:ext cx="570585" cy="570585"/>
          </a:xfrm>
          <a:prstGeom prst="rect">
            <a:avLst/>
          </a:prstGeom>
        </p:spPr>
      </p:pic>
      <p:pic>
        <p:nvPicPr>
          <p:cNvPr id="29" name="Ilustração outbox_tray" descr="outbox tra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467" y="2366467"/>
            <a:ext cx="570585" cy="570585"/>
          </a:xfrm>
          <a:prstGeom prst="rect">
            <a:avLst/>
          </a:prstGeom>
        </p:spPr>
      </p:pic>
      <p:pic>
        <p:nvPicPr>
          <p:cNvPr id="30" name="Ilustração stopwatch" descr="stopwatch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1507" y="2366467"/>
            <a:ext cx="570585" cy="5705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1.5.4 · VELOCIDADE × ARQUIVO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tempo leva para baixar?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é medida em megabits (Mbps); os arquivos, em megabytes (MB).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1168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C5D6E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0116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 </a:t>
            </a:r>
            <a:r>
              <a:rPr lang="pt-BR" sz="2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Mbps ÷ 8 = MB por segundo</a:t>
            </a:r>
            <a:r>
              <a:rPr lang="pt-BR" sz="15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ex.: 100 Mbps baixam cerca de 12 MB a cada segundo</a:t>
            </a:r>
            <a:endParaRPr lang="pt-BR" sz="1700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246395"/>
              </p:ext>
            </p:extLst>
          </p:nvPr>
        </p:nvGraphicFramePr>
        <p:xfrm>
          <a:off x="548640" y="2971800"/>
          <a:ext cx="11064240" cy="23774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vou baixar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Mbps (4G fraco)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Mbps (fibra)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do WhatsApp (0,2 MB)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hora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hora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hora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Aplicativo (100 MB)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 e 20 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segundos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segundos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Filme (2 GB)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minutos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e 40 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segundos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do celular (3 GB)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minutos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minutos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segundos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440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aproximados, em condições ideais. Na vida real costuma demorar um pouco mais.</a:t>
            </a:r>
            <a:endParaRPr lang="pt-BR" sz="12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23</a:t>
            </a:fld>
            <a:endParaRPr lang="pt-BR" noProof="0" dirty="0"/>
          </a:p>
        </p:txBody>
      </p:sp>
      <p:pic>
        <p:nvPicPr>
          <p:cNvPr id="26" name="Ilustração snail" descr="sna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365760"/>
            <a:ext cx="1051560" cy="1051560"/>
          </a:xfrm>
          <a:prstGeom prst="rect">
            <a:avLst/>
          </a:prstGeom>
        </p:spPr>
      </p:pic>
      <p:pic>
        <p:nvPicPr>
          <p:cNvPr id="27" name="Ilustração rocket" descr="roc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657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400300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1.5.4 · FRANQUIA DE DADOS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cabe em 10 GB por mês?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dados móveis (3G/4G/5G), o plano tem um limite: a franquia.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plano de celular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60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GB</a:t>
            </a:r>
            <a:endParaRPr lang="pt-BR" sz="60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pt-BR" sz="16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062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= 1.000 MB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4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 a franquia? A internet para ou fica bem lenta.</a:t>
            </a:r>
            <a:endParaRPr lang="pt-BR" sz="160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844948"/>
              </p:ext>
            </p:extLst>
          </p:nvPr>
        </p:nvGraphicFramePr>
        <p:xfrm>
          <a:off x="4389120" y="2057400"/>
          <a:ext cx="7223760" cy="323697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 em 10 GB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foto no WhatsApp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0,2 MB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50.000 fotos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minuto de áudio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0,1 MB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100.000 minutos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Baixar 1 aplicativo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 MB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 aplicativos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hora de vídeo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0,5 a 1 GB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 a 20 horas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hora de videochamada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0,5 GB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noProof="0" dirty="0">
                          <a:solidFill>
                            <a:srgbClr val="4A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20 horas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12700">
            <a:solidFill>
              <a:srgbClr val="F2C38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confunda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é a largura do cano; franquia é o tamanho da caixa d'água. Vídeo é o que mais gasta!</a:t>
            </a:r>
            <a:endParaRPr lang="pt-BR" sz="1450" noProof="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24</a:t>
            </a:fld>
            <a:endParaRPr lang="pt-BR" noProof="0" dirty="0"/>
          </a:p>
        </p:txBody>
      </p:sp>
      <p:pic>
        <p:nvPicPr>
          <p:cNvPr id="26" name="Ilustração mobile_phone" descr="mobile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9260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1.5.4 · TUTORIAL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 para medir a velocidade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computador e no celular.</a:t>
            </a:r>
            <a:endParaRPr lang="pt-B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2240280" y="2423160"/>
            <a:ext cx="2034540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463040" y="2057400"/>
            <a:ext cx="731520" cy="73152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200" noProof="0" dirty="0"/>
          </a:p>
        </p:txBody>
      </p:sp>
      <p:sp>
        <p:nvSpPr>
          <p:cNvPr id="9" name="Cartão"/>
          <p:cNvSpPr/>
          <p:nvPr/>
        </p:nvSpPr>
        <p:spPr>
          <a:xfrm>
            <a:off x="548640" y="3063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navegador</a:t>
            </a:r>
            <a:endParaRPr lang="pt-BR" sz="1600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ou Firefox</a:t>
            </a:r>
            <a:endParaRPr lang="pt-BR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052060" y="2423160"/>
            <a:ext cx="2034540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427482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2748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200" noProof="0" dirty="0"/>
          </a:p>
        </p:txBody>
      </p:sp>
      <p:sp>
        <p:nvSpPr>
          <p:cNvPr id="14" name="Cartão"/>
          <p:cNvSpPr/>
          <p:nvPr/>
        </p:nvSpPr>
        <p:spPr>
          <a:xfrm>
            <a:off x="3360420" y="3063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3543300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endereço</a:t>
            </a:r>
            <a:endParaRPr lang="pt-BR" sz="1600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fast.com  ou  speedtest.net</a:t>
            </a:r>
            <a:endParaRPr lang="pt-BR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7863840" y="2423160"/>
            <a:ext cx="2034540" cy="914"/>
          </a:xfrm>
          <a:prstGeom prst="line">
            <a:avLst/>
          </a:prstGeom>
          <a:noFill/>
          <a:ln w="1905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708660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200" noProof="0" dirty="0"/>
          </a:p>
        </p:txBody>
      </p:sp>
      <p:sp>
        <p:nvSpPr>
          <p:cNvPr id="19" name="Cartão"/>
          <p:cNvSpPr/>
          <p:nvPr/>
        </p:nvSpPr>
        <p:spPr>
          <a:xfrm>
            <a:off x="6172200" y="3063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iniciar</a:t>
            </a:r>
            <a:endParaRPr lang="pt-BR" sz="1600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"Iniciar" ou "Go" e espere uns 30 segundos</a:t>
            </a:r>
            <a:endParaRPr lang="pt-BR" sz="1600" noProof="0" dirty="0"/>
          </a:p>
        </p:txBody>
      </p:sp>
      <p:sp>
        <p:nvSpPr>
          <p:cNvPr id="21" name="Shape 19"/>
          <p:cNvSpPr/>
          <p:nvPr/>
        </p:nvSpPr>
        <p:spPr>
          <a:xfrm>
            <a:off x="989838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98983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2200" noProof="0" dirty="0"/>
          </a:p>
        </p:txBody>
      </p:sp>
      <p:sp>
        <p:nvSpPr>
          <p:cNvPr id="23" name="Cartão"/>
          <p:cNvSpPr/>
          <p:nvPr/>
        </p:nvSpPr>
        <p:spPr>
          <a:xfrm>
            <a:off x="8983980" y="3063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32461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 os números</a:t>
            </a:r>
            <a:endParaRPr lang="pt-BR" sz="1600" noProof="0" dirty="0"/>
          </a:p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upload e </a:t>
            </a:r>
            <a:r>
              <a:rPr lang="pt-BR" sz="1600" noProof="0" dirty="0" err="1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pt-BR" sz="1600" noProof="0" dirty="0"/>
          </a:p>
        </p:txBody>
      </p:sp>
      <p:sp>
        <p:nvSpPr>
          <p:cNvPr id="25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teste perto e longe do roteador e compare com a velocidade do plano que aparece na conta.</a:t>
            </a:r>
            <a:endParaRPr lang="pt-BR" sz="1450" noProof="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25</a:t>
            </a:fld>
            <a:endParaRPr lang="pt-BR" noProof="0" dirty="0"/>
          </a:p>
        </p:txBody>
      </p:sp>
      <p:pic>
        <p:nvPicPr>
          <p:cNvPr id="29" name="Ilustração globe_with_meridians" descr="globe with meridia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19" y="4160520"/>
            <a:ext cx="868680" cy="868680"/>
          </a:xfrm>
          <a:prstGeom prst="rect">
            <a:avLst/>
          </a:prstGeom>
        </p:spPr>
      </p:pic>
      <p:pic>
        <p:nvPicPr>
          <p:cNvPr id="30" name="Ilustração keyboard" descr="key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160520"/>
            <a:ext cx="868680" cy="868680"/>
          </a:xfrm>
          <a:prstGeom prst="rect">
            <a:avLst/>
          </a:prstGeom>
        </p:spPr>
      </p:pic>
      <p:pic>
        <p:nvPicPr>
          <p:cNvPr id="31" name="Ilustração computer_mouse" descr="computer mou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160520"/>
            <a:ext cx="868680" cy="868680"/>
          </a:xfrm>
          <a:prstGeom prst="rect">
            <a:avLst/>
          </a:prstGeom>
        </p:spPr>
      </p:pic>
      <p:pic>
        <p:nvPicPr>
          <p:cNvPr id="32" name="Ilustração memo" descr="mem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2660" y="41605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400300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1 · NO COMPUTADOR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a sua conexão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duplas: façam o teste e anotem no caderno.</a:t>
            </a:r>
            <a:endParaRPr lang="pt-BR" sz="16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334709"/>
              </p:ext>
            </p:extLst>
          </p:nvPr>
        </p:nvGraphicFramePr>
        <p:xfrm>
          <a:off x="548640" y="2057400"/>
          <a:ext cx="11064240" cy="285292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testei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(Mbps)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(Mbps)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(</a:t>
                      </a:r>
                      <a:r>
                        <a:rPr lang="pt-BR" sz="1600" b="1" noProof="0" dirty="0" err="1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 da escola (cabo)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 no Wi-Fi da escola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 no 4G/5G (dados)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mais rápida? Por que você acha que deu diferença?</a:t>
            </a:r>
            <a:endParaRPr lang="pt-BR" sz="14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26</a:t>
            </a:fld>
            <a:endParaRPr lang="pt-BR" noProof="0" dirty="0"/>
          </a:p>
        </p:txBody>
      </p:sp>
      <p:pic>
        <p:nvPicPr>
          <p:cNvPr id="28" name="Ilustração technologist" descr="technolog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2400300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2 · NO COMPUTADOR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Pesquisa: qual plano vale mais a pena?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Google para comparar planos de internet da sua cidade.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4937760" cy="69494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221992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5740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 </a:t>
            </a: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fibra + nome da sua cidade</a:t>
            </a:r>
            <a:endParaRPr lang="pt-BR" sz="1550" noProof="0" dirty="0"/>
          </a:p>
        </p:txBody>
      </p:sp>
      <p:sp>
        <p:nvSpPr>
          <p:cNvPr id="10" name="Cartão"/>
          <p:cNvSpPr/>
          <p:nvPr/>
        </p:nvSpPr>
        <p:spPr>
          <a:xfrm>
            <a:off x="548640" y="2880360"/>
            <a:ext cx="4937760" cy="69494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731520" y="3044952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5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8036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 </a:t>
            </a: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empresas e anote um plano de cada</a:t>
            </a:r>
            <a:endParaRPr lang="pt-BR" sz="1550" noProof="0" dirty="0"/>
          </a:p>
        </p:txBody>
      </p:sp>
      <p:sp>
        <p:nvSpPr>
          <p:cNvPr id="14" name="Cartão"/>
          <p:cNvSpPr/>
          <p:nvPr/>
        </p:nvSpPr>
        <p:spPr>
          <a:xfrm>
            <a:off x="548640" y="3703320"/>
            <a:ext cx="4937760" cy="69494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731520" y="3867912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5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0332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também  </a:t>
            </a: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plano via satélite (ex.: Starlink)</a:t>
            </a:r>
            <a:endParaRPr lang="pt-BR" sz="1550" noProof="0" dirty="0"/>
          </a:p>
        </p:txBody>
      </p:sp>
      <p:sp>
        <p:nvSpPr>
          <p:cNvPr id="18" name="Cartão"/>
          <p:cNvSpPr/>
          <p:nvPr/>
        </p:nvSpPr>
        <p:spPr>
          <a:xfrm>
            <a:off x="548640" y="4526280"/>
            <a:ext cx="4937760" cy="69494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731520" y="4690872"/>
            <a:ext cx="365760" cy="365760"/>
          </a:xfrm>
          <a:prstGeom prst="ellipse">
            <a:avLst/>
          </a:prstGeom>
          <a:solidFill>
            <a:srgbClr val="7CB342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5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52628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 </a:t>
            </a:r>
            <a:r>
              <a:rPr lang="pt-BR" sz="155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plano você escolheria?</a:t>
            </a:r>
            <a:endParaRPr lang="pt-BR" sz="155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116534"/>
              </p:ext>
            </p:extLst>
          </p:nvPr>
        </p:nvGraphicFramePr>
        <p:xfrm>
          <a:off x="5852160" y="2057400"/>
          <a:ext cx="5760720" cy="29260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Mbps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600" b="1" noProof="0" dirty="0">
                          <a:solidFill>
                            <a:srgbClr val="3E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R$/mês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Destaqu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87568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234440" y="5559552"/>
            <a:ext cx="10195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</a:t>
            </a:r>
            <a:endParaRPr lang="pt-BR" sz="1450" noProof="0" dirty="0"/>
          </a:p>
          <a:p>
            <a:pPr marL="0" indent="0">
              <a:buNone/>
            </a:pPr>
            <a:r>
              <a:rPr lang="pt-BR" sz="14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cada 100 Mbps? O mais barato é sempre o melhor? A empresa atende o seu bairro?</a:t>
            </a:r>
            <a:endParaRPr lang="pt-BR" sz="1450" noProof="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27</a:t>
            </a:fld>
            <a:endParaRPr lang="pt-BR" noProof="0" dirty="0"/>
          </a:p>
        </p:txBody>
      </p:sp>
      <p:pic>
        <p:nvPicPr>
          <p:cNvPr id="29" name="Ilustração magnifying_glass_tilted_left" descr="magnifying glass tilted lef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365760"/>
            <a:ext cx="1051560" cy="1051560"/>
          </a:xfrm>
          <a:prstGeom prst="rect">
            <a:avLst/>
          </a:prstGeom>
        </p:spPr>
      </p:pic>
      <p:pic>
        <p:nvPicPr>
          <p:cNvPr id="30" name="Ilustração money_bag" descr="money ba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657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548640" y="384048"/>
            <a:ext cx="1001268" cy="292608"/>
          </a:xfrm>
          <a:prstGeom prst="roundRect">
            <a:avLst>
              <a:gd name="adj" fmla="val 500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pt-BR" sz="1000" noProof="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</a:t>
            </a:r>
            <a:endParaRPr lang="pt-BR" sz="3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Voltando aos objetivos do início da aula.</a:t>
            </a:r>
            <a:endParaRPr lang="pt-BR" sz="1600" noProof="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945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0574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 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 ligados para trocar informações e dividir recursos</a:t>
            </a:r>
            <a:endParaRPr lang="pt-BR" sz="1700" noProof="0" dirty="0"/>
          </a:p>
        </p:txBody>
      </p:sp>
      <p:sp>
        <p:nvSpPr>
          <p:cNvPr id="9" name="Cartão"/>
          <p:cNvSpPr/>
          <p:nvPr/>
        </p:nvSpPr>
        <p:spPr>
          <a:xfrm>
            <a:off x="548640" y="278892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260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78892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 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aparelhos, cabos/Wi-Fi, roteador, regras, informação e provedor</a:t>
            </a:r>
            <a:endParaRPr lang="pt-BR" sz="1700" noProof="0" dirty="0"/>
          </a:p>
        </p:txBody>
      </p:sp>
      <p:sp>
        <p:nvSpPr>
          <p:cNvPr id="12" name="Cartão"/>
          <p:cNvSpPr/>
          <p:nvPr/>
        </p:nvSpPr>
        <p:spPr>
          <a:xfrm>
            <a:off x="548640" y="352044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5760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2044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 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local, ADSL, fibra, 3G/4G/5G e satélite</a:t>
            </a:r>
            <a:endParaRPr lang="pt-BR" sz="1700" noProof="0" dirty="0"/>
          </a:p>
        </p:txBody>
      </p:sp>
      <p:sp>
        <p:nvSpPr>
          <p:cNvPr id="15" name="Cartão"/>
          <p:cNvSpPr/>
          <p:nvPr/>
        </p:nvSpPr>
        <p:spPr>
          <a:xfrm>
            <a:off x="548640" y="425196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8912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425196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 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em Mbps: download, upload e </a:t>
            </a:r>
            <a:r>
              <a:rPr lang="pt-BR" sz="1700" noProof="0" dirty="0" err="1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(Mbps ÷ 8 = MB/s)</a:t>
            </a:r>
            <a:endParaRPr lang="pt-BR" sz="1700" noProof="0" dirty="0"/>
          </a:p>
        </p:txBody>
      </p:sp>
      <p:sp>
        <p:nvSpPr>
          <p:cNvPr id="18" name="Cartão"/>
          <p:cNvSpPr/>
          <p:nvPr/>
        </p:nvSpPr>
        <p:spPr>
          <a:xfrm>
            <a:off x="548640" y="498348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206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80160" y="498348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Franquia  </a:t>
            </a:r>
            <a:r>
              <a:rPr lang="pt-BR" sz="1700" noProof="0" dirty="0">
                <a:solidFill>
                  <a:srgbClr val="4A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de dados do mês — vídeo é o que mais gasta</a:t>
            </a:r>
            <a:endParaRPr lang="pt-BR" sz="17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28</a:t>
            </a:fld>
            <a:endParaRPr lang="pt-BR" noProof="0" dirty="0"/>
          </a:p>
        </p:txBody>
      </p:sp>
      <p:pic>
        <p:nvPicPr>
          <p:cNvPr id="26" name="Ilustração graduation_cap" descr="graduation c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3E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pt-BR" sz="5400" noProof="0" dirty="0"/>
          </a:p>
        </p:txBody>
      </p:sp>
      <p:sp>
        <p:nvSpPr>
          <p:cNvPr id="3" name="Cartão"/>
          <p:cNvSpPr/>
          <p:nvPr/>
        </p:nvSpPr>
        <p:spPr>
          <a:xfrm>
            <a:off x="548640" y="3063240"/>
            <a:ext cx="7863840" cy="1737360"/>
          </a:xfrm>
          <a:prstGeom prst="roundRect">
            <a:avLst>
              <a:gd name="adj" fmla="val 4211"/>
            </a:avLst>
          </a:prstGeom>
          <a:solidFill>
            <a:srgbClr val="F5FAF3"/>
          </a:solidFill>
          <a:ln w="12700">
            <a:solidFill>
              <a:srgbClr val="D8E4D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100" noProof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CASA</a:t>
            </a:r>
            <a:endParaRPr lang="pt-BR" sz="1600" noProof="0" dirty="0"/>
          </a:p>
          <a:p>
            <a:pPr marL="0" indent="0">
              <a:buNone/>
            </a:pPr>
            <a:r>
              <a:rPr lang="pt-BR" sz="170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Descubra que tipo de internet você usa (fibra, 4G, satélite…) e meça a velocidade dela. Traga os números na próxima aula!</a:t>
            </a:r>
            <a:endParaRPr lang="pt-BR" sz="16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Douglas Camargo Carvalho</a:t>
            </a:r>
            <a:endParaRPr lang="pt-BR" sz="1400" noProof="0" dirty="0"/>
          </a:p>
          <a:p>
            <a:pPr marL="0" indent="0">
              <a:buNone/>
            </a:pPr>
            <a:r>
              <a:rPr lang="pt-BR" sz="1400" noProof="0" dirty="0">
                <a:solidFill>
                  <a:srgbClr val="7A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IFSul – Câmpus Sapiranga</a:t>
            </a:r>
            <a:endParaRPr lang="pt-BR" sz="1400" noProof="0" dirty="0"/>
          </a:p>
        </p:txBody>
      </p:sp>
      <p:pic>
        <p:nvPicPr>
          <p:cNvPr id="6" name="Ilustração thinking_face" descr="thinking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4630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6446520"/>
            <a:ext cx="5257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7A867A"/>
                </a:solidFill>
                <a:latin typeface="Calibri"/>
              </a:rPr>
              <a:t>Ilustrações: Fluent Emoji (Microsoft) — licença MIT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046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noProof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do Kahoot!</a:t>
            </a:r>
            <a:endParaRPr lang="pt-BR" sz="3000" noProof="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7A"/>
                </a:solidFill>
              </a:defRPr>
            </a:lvl1pPr>
          </a:lstStyle>
          <a:p>
            <a:pPr algn="r"/>
            <a:fld id="{F7021451-1387-4CA6-816F-3879F97B5CBC}" type="slidenum">
              <a:rPr lang="pt-BR" b="0" noProof="0" smtClean="0"/>
              <a:t>3</a:t>
            </a:fld>
            <a:endParaRPr lang="pt-BR" noProof="0" dirty="0"/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40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100">
                <a:solidFill>
                  <a:srgbClr val="D35400"/>
                </a:solidFill>
                <a:latin typeface="Calibri"/>
              </a:rPr>
              <a:t>ATIVIDADE · QUIZ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14813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48"/>
                </a:solidFill>
                <a:latin typeface="Calibri"/>
              </a:rPr>
              <a:t>Vamos ver o que você aprendeu? Pode jogar sozinho ou em dupla, pelo celular ou pelo computador.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194560"/>
            <a:ext cx="2286000" cy="2103120"/>
          </a:xfrm>
          <a:prstGeom prst="roundRect">
            <a:avLst>
              <a:gd name="adj" fmla="val 4000"/>
            </a:avLst>
          </a:prstGeom>
          <a:solidFill>
            <a:srgbClr val="F5FAF3"/>
          </a:solidFill>
          <a:ln w="12700">
            <a:solidFill>
              <a:srgbClr val="D8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7240" y="2395728"/>
            <a:ext cx="566928" cy="566928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23957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Calibri"/>
              </a:rPr>
              <a:t>Abra o navegador</a:t>
            </a:r>
          </a:p>
          <a:p>
            <a:pPr algn="l"/>
            <a:r>
              <a:rPr sz="1500" b="0">
                <a:solidFill>
                  <a:srgbClr val="4A5548"/>
                </a:solidFill>
                <a:latin typeface="Calibri"/>
              </a:rPr>
              <a:t>e entre no site kahoot.it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3240" y="2194560"/>
            <a:ext cx="2286000" cy="2103120"/>
          </a:xfrm>
          <a:prstGeom prst="roundRect">
            <a:avLst>
              <a:gd name="adj" fmla="val 4000"/>
            </a:avLst>
          </a:prstGeom>
          <a:solidFill>
            <a:srgbClr val="F5FAF3"/>
          </a:solidFill>
          <a:ln w="12700">
            <a:solidFill>
              <a:srgbClr val="D8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91840" y="2395728"/>
            <a:ext cx="566928" cy="566928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23957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1546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Calibri"/>
              </a:rPr>
              <a:t>Digite o PIN</a:t>
            </a:r>
          </a:p>
          <a:p>
            <a:pPr algn="l"/>
            <a:r>
              <a:rPr sz="1500" b="0">
                <a:solidFill>
                  <a:srgbClr val="4A5548"/>
                </a:solidFill>
                <a:latin typeface="Calibri"/>
              </a:rPr>
              <a:t>o número que aparece no telão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7840" y="2194560"/>
            <a:ext cx="2286000" cy="2103120"/>
          </a:xfrm>
          <a:prstGeom prst="roundRect">
            <a:avLst>
              <a:gd name="adj" fmla="val 4000"/>
            </a:avLst>
          </a:prstGeom>
          <a:solidFill>
            <a:srgbClr val="F5FAF3"/>
          </a:solidFill>
          <a:ln w="12700">
            <a:solidFill>
              <a:srgbClr val="D8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06440" y="2395728"/>
            <a:ext cx="566928" cy="566928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23957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31546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Calibri"/>
              </a:rPr>
              <a:t>Escreva seu nome</a:t>
            </a:r>
          </a:p>
          <a:p>
            <a:pPr algn="l"/>
            <a:r>
              <a:rPr sz="1500" b="0">
                <a:solidFill>
                  <a:srgbClr val="4A5548"/>
                </a:solidFill>
                <a:latin typeface="Calibri"/>
              </a:rPr>
              <a:t>ou um apelido e espere começar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2194560"/>
            <a:ext cx="3429000" cy="2103120"/>
          </a:xfrm>
          <a:prstGeom prst="roundRect">
            <a:avLst>
              <a:gd name="adj" fmla="val 4000"/>
            </a:avLst>
          </a:prstGeom>
          <a:solidFill>
            <a:srgbClr val="EAF4E4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2377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3E7B3F"/>
                </a:solidFill>
                <a:latin typeface="Calibri"/>
              </a:rPr>
              <a:t>PIN DO JOGO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7889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3E7B3F"/>
                </a:solidFill>
                <a:latin typeface="Cambria"/>
              </a:rPr>
              <a:t>_ _ _ _ _ _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7490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kahoot.it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617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457200" cy="457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371600" y="4617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E7B3F"/>
                </a:solidFill>
                <a:latin typeface="Calibri"/>
              </a:rPr>
              <a:t>Dica: </a:t>
            </a:r>
            <a:r>
              <a:rPr sz="1500" b="0">
                <a:solidFill>
                  <a:srgbClr val="232323"/>
                </a:solidFill>
                <a:latin typeface="Calibri"/>
              </a:rPr>
              <a:t>vale mais acertar do que ser o mais rápido. Leia a pergunta com calma — são 22 perguntas sobre tudo o que vimos hoje.</a:t>
            </a:r>
          </a:p>
        </p:txBody>
      </p:sp>
      <p:pic>
        <p:nvPicPr>
          <p:cNvPr id="56" name="Ilustração trophy" descr="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365760"/>
            <a:ext cx="1051560" cy="1051560"/>
          </a:xfrm>
          <a:prstGeom prst="rect">
            <a:avLst/>
          </a:prstGeom>
        </p:spPr>
      </p:pic>
      <p:pic>
        <p:nvPicPr>
          <p:cNvPr id="57" name="Ilustração video_game" descr="video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3657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FSul - Aulas">
  <a:themeElements>
    <a:clrScheme name="IFSul - Aulas">
      <a:dk1>
        <a:srgbClr val="232323"/>
      </a:dk1>
      <a:lt1>
        <a:srgbClr val="FFFFFF"/>
      </a:lt1>
      <a:dk2>
        <a:srgbClr val="3E7B3F"/>
      </a:dk2>
      <a:lt2>
        <a:srgbClr val="F5FAF3"/>
      </a:lt2>
      <a:accent1>
        <a:srgbClr val="7CB342"/>
      </a:accent1>
      <a:accent2>
        <a:srgbClr val="3E7B3F"/>
      </a:accent2>
      <a:accent3>
        <a:srgbClr val="2A5A96"/>
      </a:accent3>
      <a:accent4>
        <a:srgbClr val="D35400"/>
      </a:accent4>
      <a:accent5>
        <a:srgbClr val="7A867A"/>
      </a:accent5>
      <a:accent6>
        <a:srgbClr val="D8E4D3"/>
      </a:accent6>
      <a:hlink>
        <a:srgbClr val="2A5A96"/>
      </a:hlink>
      <a:folHlink>
        <a:srgbClr val="8E44AD"/>
      </a:folHlink>
    </a:clrScheme>
    <a:fontScheme name="IFSul - Au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3044</Words>
  <Application>Microsoft Office PowerPoint</Application>
  <PresentationFormat>Widescreen</PresentationFormat>
  <Paragraphs>472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IFSul - Aulas</vt:lpstr>
      <vt:lpstr>Apresentação do PowerPoint</vt:lpstr>
      <vt:lpstr>Ao final desta aula, você será capaz de…</vt:lpstr>
      <vt:lpstr>Roteiro da aula</vt:lpstr>
      <vt:lpstr>Vamos conversar?</vt:lpstr>
      <vt:lpstr>O que é uma rede de computadores?</vt:lpstr>
      <vt:lpstr>Elementos de uma rede</vt:lpstr>
      <vt:lpstr>As peças de uma rede</vt:lpstr>
      <vt:lpstr>Encontre as peças da rede na sala</vt:lpstr>
      <vt:lpstr>Importância de uma rede</vt:lpstr>
      <vt:lpstr>Para que serve uma rede?</vt:lpstr>
      <vt:lpstr>No meu dia a dia</vt:lpstr>
      <vt:lpstr>Como funciona uma rede</vt:lpstr>
      <vt:lpstr>Rede local: a rede da casa ou da escola</vt:lpstr>
      <vt:lpstr>ADSL: internet pelo fio do telefone</vt:lpstr>
      <vt:lpstr>Fibra óptica: internet pela luz</vt:lpstr>
      <vt:lpstr>3G, 4G e 5G: internet pelo ar</vt:lpstr>
      <vt:lpstr>Satélite: internet que vem do céu</vt:lpstr>
      <vt:lpstr>Qual conexão é qual?</vt:lpstr>
      <vt:lpstr>Quem sou eu?</vt:lpstr>
      <vt:lpstr>Cuidados ao usar a rede</vt:lpstr>
      <vt:lpstr>Como medir a velocidade da sua conexão</vt:lpstr>
      <vt:lpstr>Entendendo a velocidade</vt:lpstr>
      <vt:lpstr>Quanto tempo leva para baixar?</vt:lpstr>
      <vt:lpstr>O que cabe em 10 GB por mês?</vt:lpstr>
      <vt:lpstr>Passo a passo para medir a velocidade</vt:lpstr>
      <vt:lpstr>Teste a sua conexão</vt:lpstr>
      <vt:lpstr>Pesquisa: qual plano vale mais a pena?</vt:lpstr>
      <vt:lpstr>O que aprendemos hoje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computadores - Informática EJA</dc:title>
  <dc:subject>PptxGenJS Presentation</dc:subject>
  <dc:creator>Prof. Douglas Camargo Carvalho</dc:creator>
  <cp:lastModifiedBy>Douglas Camargo Carvalho</cp:lastModifiedBy>
  <cp:revision>2</cp:revision>
  <dcterms:created xsi:type="dcterms:W3CDTF">2026-10-09T23:51:00Z</dcterms:created>
  <dcterms:modified xsi:type="dcterms:W3CDTF">2026-10-09T23:59:57Z</dcterms:modified>
</cp:coreProperties>
</file>