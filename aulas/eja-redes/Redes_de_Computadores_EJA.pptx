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3e8a40e-ceb9-04ec-7776-b1aa99f9bd4b}">
          <p14:sldIdLst>
            <p14:sldId id="256"/>
            <p14:sldId id="257"/>
            <p14:sldId id="258"/>
            <p14:sldId id="259"/>
            <p14:sldId id="260"/>
          </p14:sldIdLst>
        </p14:section>
        <p14:section name="1.5.1 Elementos" id="{1e225f5e-8c0e-62ea-2270-8048e71e3dd0}">
          <p14:sldIdLst>
            <p14:sldId id="261"/>
            <p14:sldId id="262"/>
            <p14:sldId id="263"/>
          </p14:sldIdLst>
        </p14:section>
        <p14:section name="1.5.2 Importância" id="{28b87070-4078-fdd3-b437-e038e514e2b6}">
          <p14:sldIdLst>
            <p14:sldId id="264"/>
            <p14:sldId id="265"/>
            <p14:sldId id="266"/>
          </p14:sldIdLst>
        </p14:section>
        <p14:section name="1.5.3 Tipos de conexão" id="{1df8a5b9-7983-f32a-8e69-8bce6e24c5e3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1.5.4 Velocidade" id="{09c21d30-d98f-bf21-9418-9203ba710c24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Encerramento" id="{b257fcd5-44fe-4a12-d7df-3ec3c0e6bea1}">
          <p14:sldIdLst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Tema do dia: como os aparelhos conversam entre si e como a internet chega até as nossas casas. Aula pensada para 3 períodos (≈135 min) ou 2 encontros: teoria e charadas no 1º; medição de velocidade e pesquisa no computador no 2º.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 e volte a eles no fechamento (slide de revisão).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roteiro. Combine com a turma: etiqueta laranja no topo do slide = hora de participar.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Aquecimento (5 min). Faça as perguntas e conte as mãos. Valorize as respostas: quase todos já usam redes todos os dias, mesmo sem saber o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comparação com as ruas da cidade ou com os Correios. Pergunte: 'Na sua casa, quais aparelhos usam a internet?'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objetos reais: um cabo de rede, o roteador do laboratório. Protocolo = regra combinada, como falar o mesmo idioma.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(10 min), em duplas. Aproveite para mostrar o roteador/switch do laboratório e as luzinhas piscando (sinal de dados passando).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exemplos da vida dos alunos: quem já marcou consulta pelo celular? Quem já fez Pix?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rápida (5 min). Conte as mãos e escreva o placar no quadro.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Desenhe no quadro a rede da casa de um aluno: modem/roteador no centro e os aparelhos em volta.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ADSL usa o fio de cobre do telefone. Velocidades baixas (em geral até 10 a 20 Mbps). Pergunte se alguém lembra da internet discada ou do 'Speedy'.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possível, leve um pedaço de cabo de fibra ou mostre uma foto. Explique que a luz vai 'quicando' dentro do vidro.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símbolo 4G/5G na barra do celular. Explique franquia (mais adiante tem um slide só sobre isso). Dica: o celular pode virar roteador ('roteador Wi-Fi' / 'ancoragem').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Satélites antigos ficavam a 36 mil km: a internet demorava para responder. Os da Starlink ficam a cerca de 550 km, por isso respondem bem mais rápido. Bom exemplo para quem tem família na zona rural.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 tabela com a turma e relacione com a realidade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Respostas: 1) Fibra óptica  2) 3G/4G/5G  3) ADSL  4) Satélite (ex.: Starlink).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Público da EJA é alvo frequente de golpes. Pergunte se alguém já recebeu mensagem pedindo código. Reforce: banco e WhatsApp nunca pedem código por telefone.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Ping 10 ms é ótimo; 600 ms (satélite antigo) é lento para responder. Lembre: 1 Gbps = 1.000 Mbps.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byte = 8 bits, por isso divide por 8. Exercício: 'Minha internet é de 80 Mbps. Quantos MB por segundo?' (80 ÷ 8 = 10 MB/s). 'Quanto tempo para um app de 100 MB?' (100 ÷ 10 = 10 segundos).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aproximados — variam com a qualidade do vídeo e do aplicativo. Dicas para economizar: baixar apps e atualizações só no Wi-Fi; desligar o download automático de vídeos no WhatsApp; assistir vídeo em qualidade menor nos dados móveis. Pergunte: 'Quantos GB tem o plano de vocês?'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Demonstre no projetor antes. Muitos testando ao mesmo tempo dividem a internet da escola — isso também é aprendizado! Pela regra da Anatel, a operadora deve entregar em média pelo menos 80% da velocidade contratada.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Prática (15 min). Quem não quiser gastar dados do celular pode pular a última linha. No fim, monte no quadro a média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Prática (20-25 min). Ensine a digitar a pesquisa e a achar preço e velocidade nos sites das operadoras. Conta simples: preço ÷ (Mbps ÷ 100).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Revisão oral: cada aluno diz uma coisa que aprendeu. Se der tempo, repita as charadas.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Tarefa ligada à vida real. Na próxima aula, retome 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737360" cy="6766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F5FA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  ·  EJA  ·  Redes de computadores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1600200"/>
            <a:ext cx="286664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600200"/>
            <a:ext cx="28666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 · EJA · UNIDADE 1.5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 de computadores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os aparelhos conversam entre si — e como a internet chega até você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4343400"/>
            <a:ext cx="7498080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1.5.1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de uma rede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063240" y="406908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1.5.2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 de uma rede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577840" y="406908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778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1.5.3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local, ADSL, fibra, 4G e satélite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406908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924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da conexão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7607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Douglas Camargo Carvalho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IFSul – Câmpus Sapiranga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 APRENDIZAGEM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final desta aula, você será capaz de…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08483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244852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9202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Reconhecer os elementos de uma rede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aparelhos, cabos, Wi-Fi, roteador e provedor</a:t>
            </a:r>
            <a:endParaRPr lang="en-US" sz="1600" dirty="0"/>
          </a:p>
        </p:txBody>
      </p:sp>
      <p:sp>
        <p:nvSpPr>
          <p:cNvPr id="9" name="Cartão"/>
          <p:cNvSpPr/>
          <p:nvPr/>
        </p:nvSpPr>
        <p:spPr>
          <a:xfrm>
            <a:off x="6126480" y="178308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55080" y="208483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0" y="224485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19202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por que as redes são importantes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comunicação, nos serviços e no trabalho</a:t>
            </a:r>
            <a:endParaRPr lang="en-US" sz="1600" dirty="0"/>
          </a:p>
        </p:txBody>
      </p:sp>
      <p:sp>
        <p:nvSpPr>
          <p:cNvPr id="13" name="Cartão"/>
          <p:cNvSpPr/>
          <p:nvPr/>
        </p:nvSpPr>
        <p:spPr>
          <a:xfrm>
            <a:off x="548640" y="32461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54787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707892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3832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Diferenciar os tipos de conexão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local, ADSL, fibra, 3G/4G/5G e satélite</a:t>
            </a:r>
            <a:endParaRPr lang="en-US" sz="1600" dirty="0"/>
          </a:p>
        </p:txBody>
      </p:sp>
      <p:sp>
        <p:nvSpPr>
          <p:cNvPr id="17" name="Cartão"/>
          <p:cNvSpPr/>
          <p:nvPr/>
        </p:nvSpPr>
        <p:spPr>
          <a:xfrm>
            <a:off x="6126480" y="324612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355080" y="354787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100" y="3707892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78040" y="33832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velocidade e franquia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Mbps, download, upload, ping e GB do plano</a:t>
            </a:r>
            <a:endParaRPr lang="en-US" sz="1600" dirty="0"/>
          </a:p>
        </p:txBody>
      </p:sp>
      <p:sp>
        <p:nvSpPr>
          <p:cNvPr id="21" name="Cartão"/>
          <p:cNvSpPr/>
          <p:nvPr/>
        </p:nvSpPr>
        <p:spPr>
          <a:xfrm>
            <a:off x="548640" y="47091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48463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a velocidade da internet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um site de teste no navegador</a:t>
            </a:r>
            <a:endParaRPr lang="en-US" sz="1600" dirty="0"/>
          </a:p>
        </p:txBody>
      </p:sp>
      <p:sp>
        <p:nvSpPr>
          <p:cNvPr id="25" name="Cartão"/>
          <p:cNvSpPr/>
          <p:nvPr/>
        </p:nvSpPr>
        <p:spPr>
          <a:xfrm>
            <a:off x="6126480" y="4709160"/>
            <a:ext cx="5303520" cy="1234440"/>
          </a:xfrm>
          <a:prstGeom prst="roundRect">
            <a:avLst>
              <a:gd name="adj" fmla="val 592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355080" y="501091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5170932"/>
            <a:ext cx="320040" cy="3200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178040" y="48463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Pesquisar e comparar planos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escolher o que vale mais a pena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aula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Partimos do que você já usa no dia a dia e avançamos um passo de cada vez.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417320" y="2697480"/>
            <a:ext cx="1527048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31720"/>
            <a:ext cx="731520" cy="73152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Cartão"/>
          <p:cNvSpPr/>
          <p:nvPr/>
        </p:nvSpPr>
        <p:spPr>
          <a:xfrm>
            <a:off x="548640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de uma rede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preciso para montar uma rede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75888" y="2697480"/>
            <a:ext cx="1527048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44368" y="23317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4368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Cartão"/>
          <p:cNvSpPr/>
          <p:nvPr/>
        </p:nvSpPr>
        <p:spPr>
          <a:xfrm>
            <a:off x="2807208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71800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Importância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a rede serve no dia a dia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34456" y="2697480"/>
            <a:ext cx="1527048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02936" y="23317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02936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5065776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30368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conexão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local, ADSL, fibra, 3G/4G/5G e satélite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93024" y="2697480"/>
            <a:ext cx="1527048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61504" y="23317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61504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Cartão"/>
          <p:cNvSpPr/>
          <p:nvPr/>
        </p:nvSpPr>
        <p:spPr>
          <a:xfrm>
            <a:off x="7324344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88936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Mbps, franquia e como medir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720072" y="23317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720072" y="2331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Cartão"/>
          <p:cNvSpPr/>
          <p:nvPr/>
        </p:nvSpPr>
        <p:spPr>
          <a:xfrm>
            <a:off x="9582912" y="3337560"/>
            <a:ext cx="2103120" cy="1783080"/>
          </a:xfrm>
          <a:prstGeom prst="roundRect">
            <a:avLst>
              <a:gd name="adj" fmla="val 410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47504" y="347472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na massa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velocidade e pesquisa no computador</a:t>
            </a:r>
            <a:endParaRPr lang="en-US" sz="1600" dirty="0"/>
          </a:p>
        </p:txBody>
      </p:sp>
      <p:sp>
        <p:nvSpPr>
          <p:cNvPr id="30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Fique de olho nas etiquetas:  verde = conteúdo  ·  laranja = atividade para a turma fazer.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CONVERSA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conversar?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Levante a mão se a resposta for sim.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74520" y="237744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260" y="258318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4290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tem Wi-Fi em casa?</a:t>
            </a:r>
            <a:endParaRPr lang="en-US" sz="2000" dirty="0"/>
          </a:p>
        </p:txBody>
      </p:sp>
      <p:sp>
        <p:nvSpPr>
          <p:cNvPr id="10" name="Cartão"/>
          <p:cNvSpPr/>
          <p:nvPr/>
        </p:nvSpPr>
        <p:spPr>
          <a:xfrm>
            <a:off x="4297680" y="20574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623560" y="237744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258318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34290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Você manda áudios e fotos pelo celular?</a:t>
            </a:r>
            <a:endParaRPr lang="en-US" sz="2000" dirty="0"/>
          </a:p>
        </p:txBody>
      </p:sp>
      <p:sp>
        <p:nvSpPr>
          <p:cNvPr id="14" name="Cartão"/>
          <p:cNvSpPr/>
          <p:nvPr/>
        </p:nvSpPr>
        <p:spPr>
          <a:xfrm>
            <a:off x="8046720" y="20574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372600" y="237744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8340" y="25831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342900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Já usou banco, Gov.br ou Meu INSS pelo celular?</a:t>
            </a:r>
            <a:endParaRPr lang="en-US" sz="2000" dirty="0"/>
          </a:p>
        </p:txBody>
      </p:sp>
      <p:sp>
        <p:nvSpPr>
          <p:cNvPr id="18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isso só funciona porque existe uma rede ligando os aparelhos.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rede de computadores?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quando dois ou mais aparelhos estão </a:t>
            </a:r>
            <a:pPr indent="0" marL="0">
              <a:buNone/>
            </a:pPr>
            <a:r>
              <a:rPr lang="en-US" sz="240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ligados entre si</a:t>
            </a:r>
            <a:pPr indent="0" marL="0">
              <a:buNone/>
            </a:pPr>
            <a:r>
              <a:rPr lang="en-US" sz="2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pPr indent="0" marL="0">
              <a:buNone/>
            </a:pPr>
            <a:r>
              <a:rPr lang="en-US" sz="240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informações</a:t>
            </a:r>
            <a:pPr indent="0" marL="0">
              <a:buNone/>
            </a:pPr>
            <a:r>
              <a:rPr lang="en-US" sz="2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pPr indent="0" marL="0">
              <a:buNone/>
            </a:pPr>
            <a:r>
              <a:rPr lang="en-US" sz="240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recursos</a:t>
            </a:r>
            <a:pPr indent="0" marL="0">
              <a:buNone/>
            </a:pPr>
            <a:r>
              <a:rPr lang="en-US" sz="24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6" name="Cartão"/>
          <p:cNvSpPr/>
          <p:nvPr/>
        </p:nvSpPr>
        <p:spPr>
          <a:xfrm>
            <a:off x="548640" y="374904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E8F0FA"/>
          </a:solidFill>
          <a:ln w="12700">
            <a:solidFill>
              <a:srgbClr val="C5D6E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950208"/>
            <a:ext cx="384048" cy="384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3950208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5A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Pense assim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4805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 é como as ruas de uma cidade: as casas são os aparelhos, as ruas são os cabos ou o Wi-Fi, e as informações são as cartas que vão de um lugar para outro.</a:t>
            </a:r>
            <a:endParaRPr lang="en-US" sz="1550" dirty="0"/>
          </a:p>
        </p:txBody>
      </p:sp>
      <p:sp>
        <p:nvSpPr>
          <p:cNvPr id="10" name="Cartão"/>
          <p:cNvSpPr/>
          <p:nvPr/>
        </p:nvSpPr>
        <p:spPr>
          <a:xfrm>
            <a:off x="6309360" y="1783080"/>
            <a:ext cx="530352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2514600"/>
            <a:ext cx="1645920" cy="1207008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8961120" y="2514600"/>
            <a:ext cx="1645920" cy="1207008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7315200" y="3721608"/>
            <a:ext cx="1645920" cy="1216152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961120" y="3721608"/>
            <a:ext cx="1645920" cy="1216152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03720" y="210312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9460" y="2308860"/>
            <a:ext cx="411480" cy="4114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195560" y="210312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0" y="2308860"/>
            <a:ext cx="411480" cy="4114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903720" y="45262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4732020"/>
            <a:ext cx="411480" cy="41148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10195560" y="4526280"/>
            <a:ext cx="822960" cy="8229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0" y="4732020"/>
            <a:ext cx="411480" cy="4114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8458200" y="3218688"/>
            <a:ext cx="1005840" cy="1005840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9660" y="3470148"/>
            <a:ext cx="502920" cy="5029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046720" y="427024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7CB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Elementos de uma rede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1.5.1 — O que é preciso para uma rede funcionar?</a:t>
            </a:r>
            <a:endParaRPr lang="en-US" sz="1800" dirty="0"/>
          </a:p>
        </p:txBody>
      </p:sp>
      <p:sp>
        <p:nvSpPr>
          <p:cNvPr id="5" name="Etiqueta"/>
          <p:cNvSpPr/>
          <p:nvPr/>
        </p:nvSpPr>
        <p:spPr>
          <a:xfrm>
            <a:off x="8229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</a:t>
            </a:r>
            <a:endParaRPr lang="en-US" sz="1000" dirty="0"/>
          </a:p>
        </p:txBody>
      </p:sp>
      <p:sp>
        <p:nvSpPr>
          <p:cNvPr id="7" name="Etiqueta"/>
          <p:cNvSpPr/>
          <p:nvPr/>
        </p:nvSpPr>
        <p:spPr>
          <a:xfrm>
            <a:off x="28803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CABOS E WI-FI</a:t>
            </a:r>
            <a:endParaRPr lang="en-US" sz="1000" dirty="0"/>
          </a:p>
        </p:txBody>
      </p:sp>
      <p:sp>
        <p:nvSpPr>
          <p:cNvPr id="9" name="Etiqueta"/>
          <p:cNvSpPr/>
          <p:nvPr/>
        </p:nvSpPr>
        <p:spPr>
          <a:xfrm>
            <a:off x="49377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1.5.1 · ELEMENTOS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peças de uma rede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rede, pequena ou grande, tem estas partes.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49174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1671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computador, celular, TV, impressora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6126480" y="20574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3317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0" y="249174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78040" y="21671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Meio de ligação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cabo de rede ou sem fio (Wi-Fi)</a:t>
            </a:r>
            <a:endParaRPr lang="en-US" sz="1600" dirty="0"/>
          </a:p>
        </p:txBody>
      </p:sp>
      <p:sp>
        <p:nvSpPr>
          <p:cNvPr id="14" name="Cartão"/>
          <p:cNvSpPr/>
          <p:nvPr/>
        </p:nvSpPr>
        <p:spPr>
          <a:xfrm>
            <a:off x="548640" y="34290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37033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8633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35387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Equipamentos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roteador, modem e switch</a:t>
            </a:r>
            <a:endParaRPr lang="en-US" sz="1600" dirty="0"/>
          </a:p>
        </p:txBody>
      </p:sp>
      <p:sp>
        <p:nvSpPr>
          <p:cNvPr id="18" name="Cartão"/>
          <p:cNvSpPr/>
          <p:nvPr/>
        </p:nvSpPr>
        <p:spPr>
          <a:xfrm>
            <a:off x="6126480" y="34290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55080" y="37033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5100" y="386334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78040" y="35387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(protocolos)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"idioma" que todos os aparelhos entendem</a:t>
            </a:r>
            <a:endParaRPr lang="en-US" sz="1600" dirty="0"/>
          </a:p>
        </p:txBody>
      </p:sp>
      <p:sp>
        <p:nvSpPr>
          <p:cNvPr id="22" name="Cartão"/>
          <p:cNvSpPr/>
          <p:nvPr/>
        </p:nvSpPr>
        <p:spPr>
          <a:xfrm>
            <a:off x="548640" y="48006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77240" y="5074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5234940"/>
            <a:ext cx="320040" cy="32004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910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Informação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mensagens, fotos, vídeos e arquivos</a:t>
            </a:r>
            <a:endParaRPr lang="en-US" sz="1600" dirty="0"/>
          </a:p>
        </p:txBody>
      </p:sp>
      <p:sp>
        <p:nvSpPr>
          <p:cNvPr id="26" name="Cartão"/>
          <p:cNvSpPr/>
          <p:nvPr/>
        </p:nvSpPr>
        <p:spPr>
          <a:xfrm>
            <a:off x="6126480" y="4800600"/>
            <a:ext cx="5303520" cy="11887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355080" y="5074920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5234940"/>
            <a:ext cx="320040" cy="3200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8040" y="4910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Provedor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que leva a internet até você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CAÇA AOS ELEMENTOS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Encontre as peças da rede na sala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duplas, olhem em volta do laboratório.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240280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057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Olhe em volta  </a:t>
            </a:r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sala ou do laboratório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548640" y="292608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108960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9260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Encontre  </a:t>
            </a:r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itens da lista ao lado</a:t>
            </a:r>
            <a:endParaRPr lang="en-US" sz="1600" dirty="0"/>
          </a:p>
        </p:txBody>
      </p:sp>
      <p:sp>
        <p:nvSpPr>
          <p:cNvPr id="14" name="Cartão"/>
          <p:cNvSpPr/>
          <p:nvPr/>
        </p:nvSpPr>
        <p:spPr>
          <a:xfrm>
            <a:off x="548640" y="379476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977640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947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Mostre  </a:t>
            </a:r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turma onde achou cada um</a:t>
            </a:r>
            <a:endParaRPr lang="en-US" sz="1600" dirty="0"/>
          </a:p>
        </p:txBody>
      </p:sp>
      <p:sp>
        <p:nvSpPr>
          <p:cNvPr id="18" name="Cartão"/>
          <p:cNvSpPr/>
          <p:nvPr/>
        </p:nvSpPr>
        <p:spPr>
          <a:xfrm>
            <a:off x="548640" y="4663440"/>
            <a:ext cx="5120640" cy="731520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846320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6634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 </a:t>
            </a:r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o nome da rede Wi-Fi da escola?</a:t>
            </a:r>
            <a:endParaRPr lang="en-US" sz="1600" dirty="0"/>
          </a:p>
        </p:txBody>
      </p:sp>
      <p:sp>
        <p:nvSpPr>
          <p:cNvPr id="22" name="Cartão"/>
          <p:cNvSpPr/>
          <p:nvPr/>
        </p:nvSpPr>
        <p:spPr>
          <a:xfrm>
            <a:off x="6035040" y="2057400"/>
            <a:ext cx="5577840" cy="333756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3" name="Etiqueta"/>
          <p:cNvSpPr/>
          <p:nvPr/>
        </p:nvSpPr>
        <p:spPr>
          <a:xfrm>
            <a:off x="6263640" y="2240280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2240280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BUSCA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280720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0" y="274320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computador ou celular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09360" y="331012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324612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cabo de rede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381304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66560" y="374904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roteador ou ponto de Wi-Fi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09360" y="431596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66560" y="425196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impressora ligada na rede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09360" y="48188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766560" y="47548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tomada de rede na parede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7CB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Importância de uma rede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1.5.2 — Para que serve uma rede no nosso dia a dia?</a:t>
            </a:r>
            <a:endParaRPr lang="en-US" sz="1800" dirty="0"/>
          </a:p>
        </p:txBody>
      </p:sp>
      <p:sp>
        <p:nvSpPr>
          <p:cNvPr id="5" name="Etiqueta"/>
          <p:cNvSpPr/>
          <p:nvPr/>
        </p:nvSpPr>
        <p:spPr>
          <a:xfrm>
            <a:off x="8229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</a:t>
            </a:r>
            <a:endParaRPr lang="en-US" sz="1000" dirty="0"/>
          </a:p>
        </p:txBody>
      </p:sp>
      <p:sp>
        <p:nvSpPr>
          <p:cNvPr id="7" name="Etiqueta"/>
          <p:cNvSpPr/>
          <p:nvPr/>
        </p:nvSpPr>
        <p:spPr>
          <a:xfrm>
            <a:off x="28803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1000" dirty="0"/>
          </a:p>
        </p:txBody>
      </p:sp>
      <p:sp>
        <p:nvSpPr>
          <p:cNvPr id="9" name="Etiqueta"/>
          <p:cNvSpPr/>
          <p:nvPr/>
        </p:nvSpPr>
        <p:spPr>
          <a:xfrm>
            <a:off x="49377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1.5.2 · IMPORTÂNCIA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 serve uma rede?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Hoje, quase tudo o que fazemos passa por uma rede.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44144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615184"/>
            <a:ext cx="347472" cy="3474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1945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Comunicar</a:t>
            </a:r>
            <a:endParaRPr lang="en-US" sz="1600" dirty="0"/>
          </a:p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e-mail e chamada de vídeo com a família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612648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44144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15184"/>
            <a:ext cx="347472" cy="3474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69480" y="21945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Compartilhar</a:t>
            </a:r>
            <a:endParaRPr lang="en-US" sz="1600" dirty="0"/>
          </a:p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impressora e uma internet para vários aparelhos</a:t>
            </a:r>
            <a:endParaRPr lang="en-US" sz="1600" dirty="0"/>
          </a:p>
        </p:txBody>
      </p:sp>
      <p:sp>
        <p:nvSpPr>
          <p:cNvPr id="14" name="Cartão"/>
          <p:cNvSpPr/>
          <p:nvPr/>
        </p:nvSpPr>
        <p:spPr>
          <a:xfrm>
            <a:off x="54864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41330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30682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91640" y="3886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Acessar serviços</a:t>
            </a:r>
            <a:endParaRPr lang="en-US" sz="1600" dirty="0"/>
          </a:p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banco, Pix, Gov.br, Meu INSS, matrícula, consultas no SUS</a:t>
            </a:r>
            <a:endParaRPr lang="en-US" sz="1600" dirty="0"/>
          </a:p>
        </p:txBody>
      </p:sp>
      <p:sp>
        <p:nvSpPr>
          <p:cNvPr id="18" name="Cartão"/>
          <p:cNvSpPr/>
          <p:nvPr/>
        </p:nvSpPr>
        <p:spPr>
          <a:xfrm>
            <a:off x="612648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55080" y="41330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306824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3886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Estudar e trabalhar</a:t>
            </a:r>
            <a:endParaRPr lang="en-US" sz="1600" dirty="0"/>
          </a:p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 online, vagas de emprego, vender pela internet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555748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5557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PLACAR DA TURMA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meu dia a dia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Levante a mão se hoje você já…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1945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205740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mandou ou recebeu uma mensagem</a:t>
            </a:r>
            <a:endParaRPr lang="en-US" sz="160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92608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278892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viu um vídeo ou ouviu música online</a:t>
            </a:r>
            <a:endParaRPr lang="en-US" sz="1600" dirty="0"/>
          </a:p>
        </p:txBody>
      </p:sp>
      <p:sp>
        <p:nvSpPr>
          <p:cNvPr id="12" name="Cartão"/>
          <p:cNvSpPr/>
          <p:nvPr/>
        </p:nvSpPr>
        <p:spPr>
          <a:xfrm>
            <a:off x="548640" y="352044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65760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52044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olhou a previsão do tempo ou notícias</a:t>
            </a:r>
            <a:endParaRPr lang="en-US" sz="1600" dirty="0"/>
          </a:p>
        </p:txBody>
      </p:sp>
      <p:sp>
        <p:nvSpPr>
          <p:cNvPr id="15" name="Cartão"/>
          <p:cNvSpPr/>
          <p:nvPr/>
        </p:nvSpPr>
        <p:spPr>
          <a:xfrm>
            <a:off x="548640" y="425196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389120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25196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fez Pix ou pagou uma conta</a:t>
            </a:r>
            <a:endParaRPr lang="en-US" sz="1600" dirty="0"/>
          </a:p>
        </p:txBody>
      </p:sp>
      <p:sp>
        <p:nvSpPr>
          <p:cNvPr id="18" name="Cartão"/>
          <p:cNvSpPr/>
          <p:nvPr/>
        </p:nvSpPr>
        <p:spPr>
          <a:xfrm>
            <a:off x="548640" y="4983480"/>
            <a:ext cx="640080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120640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98348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usou o GPS ou chamou transporte por aplicativo</a:t>
            </a:r>
            <a:endParaRPr lang="en-US" sz="1600" dirty="0"/>
          </a:p>
        </p:txBody>
      </p:sp>
      <p:sp>
        <p:nvSpPr>
          <p:cNvPr id="21" name="Cartão"/>
          <p:cNvSpPr/>
          <p:nvPr/>
        </p:nvSpPr>
        <p:spPr>
          <a:xfrm>
            <a:off x="7315200" y="2057400"/>
            <a:ext cx="4297680" cy="3529584"/>
          </a:xfrm>
          <a:prstGeom prst="roundRect">
            <a:avLst>
              <a:gd name="adj" fmla="val 2073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49808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35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Placar da turma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7498080" y="29260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 de ___</a:t>
            </a:r>
            <a:endParaRPr lang="en-US" sz="5000" dirty="0"/>
          </a:p>
        </p:txBody>
      </p:sp>
      <p:sp>
        <p:nvSpPr>
          <p:cNvPr id="24" name="Text 17"/>
          <p:cNvSpPr txBox="1"/>
          <p:nvPr/>
        </p:nvSpPr>
        <p:spPr>
          <a:xfrm>
            <a:off x="7498080" y="42976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usaram uma rede hoje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7CB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 uma rede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1.5.3 — Da rede de casa até a internet: cabo, telefone, luz, ar e satélite.</a:t>
            </a:r>
            <a:endParaRPr lang="en-US" sz="1800" dirty="0"/>
          </a:p>
        </p:txBody>
      </p:sp>
      <p:sp>
        <p:nvSpPr>
          <p:cNvPr id="5" name="Etiqueta"/>
          <p:cNvSpPr/>
          <p:nvPr/>
        </p:nvSpPr>
        <p:spPr>
          <a:xfrm>
            <a:off x="8229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</a:t>
            </a:r>
            <a:endParaRPr lang="en-US" sz="1000" dirty="0"/>
          </a:p>
        </p:txBody>
      </p:sp>
      <p:sp>
        <p:nvSpPr>
          <p:cNvPr id="7" name="Etiqueta"/>
          <p:cNvSpPr/>
          <p:nvPr/>
        </p:nvSpPr>
        <p:spPr>
          <a:xfrm>
            <a:off x="28803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ADSL</a:t>
            </a:r>
            <a:endParaRPr lang="en-US" sz="1000" dirty="0"/>
          </a:p>
        </p:txBody>
      </p:sp>
      <p:sp>
        <p:nvSpPr>
          <p:cNvPr id="9" name="Etiqueta"/>
          <p:cNvSpPr/>
          <p:nvPr/>
        </p:nvSpPr>
        <p:spPr>
          <a:xfrm>
            <a:off x="49377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FIBRA</a:t>
            </a:r>
            <a:endParaRPr lang="en-US" sz="1000" dirty="0"/>
          </a:p>
        </p:txBody>
      </p:sp>
      <p:sp>
        <p:nvSpPr>
          <p:cNvPr id="11" name="Etiqueta"/>
          <p:cNvSpPr/>
          <p:nvPr/>
        </p:nvSpPr>
        <p:spPr>
          <a:xfrm>
            <a:off x="69951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951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3G · 4G · 5G</a:t>
            </a:r>
            <a:endParaRPr lang="en-US" sz="1000" dirty="0"/>
          </a:p>
        </p:txBody>
      </p:sp>
      <p:sp>
        <p:nvSpPr>
          <p:cNvPr id="13" name="Etiqueta"/>
          <p:cNvSpPr/>
          <p:nvPr/>
        </p:nvSpPr>
        <p:spPr>
          <a:xfrm>
            <a:off x="90525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1.5.3 · REDE LOCAL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 local: a rede da casa ou da escola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chamada de LAN. O roteador é o centro de tudo.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4846320" cy="3246120"/>
          </a:xfrm>
          <a:prstGeom prst="roundRect">
            <a:avLst>
              <a:gd name="adj" fmla="val 2254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40280"/>
            <a:ext cx="44805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 aparelhos de um mesmo lugar: casa, escola, empresa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roteador é o "centro" da rede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ligação pode ser por cabo ou por Wi-Fi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roteador também divide a internet com todos</a:t>
            </a:r>
            <a:endParaRPr lang="en-US" sz="1600" dirty="0"/>
          </a:p>
        </p:txBody>
      </p:sp>
      <p:sp>
        <p:nvSpPr>
          <p:cNvPr id="8" name="Cartão"/>
          <p:cNvSpPr/>
          <p:nvPr/>
        </p:nvSpPr>
        <p:spPr>
          <a:xfrm>
            <a:off x="5760720" y="2057400"/>
            <a:ext cx="585216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80760" y="320040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7930" y="3417570"/>
            <a:ext cx="434340" cy="4343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852160" y="411480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49440" y="3639312"/>
            <a:ext cx="822960" cy="914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0" y="3108960"/>
            <a:ext cx="1051560" cy="1051560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290" y="3371850"/>
            <a:ext cx="525780" cy="5257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635240" y="42062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 flipV="1">
            <a:off x="8823960" y="2624328"/>
            <a:ext cx="1600200" cy="1014984"/>
          </a:xfrm>
          <a:prstGeom prst="line">
            <a:avLst/>
          </a:prstGeom>
          <a:noFill/>
          <a:ln w="25400">
            <a:solidFill>
              <a:srgbClr val="7CB34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424160" y="22402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470" y="2434590"/>
            <a:ext cx="388620" cy="3886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247120" y="24688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cabo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 flipV="1">
            <a:off x="8823960" y="3630168"/>
            <a:ext cx="1600200" cy="9144"/>
          </a:xfrm>
          <a:prstGeom prst="line">
            <a:avLst/>
          </a:prstGeom>
          <a:noFill/>
          <a:ln w="25400">
            <a:solidFill>
              <a:srgbClr val="7CB342"/>
            </a:solidFill>
            <a:prstDash val="dash"/>
          </a:ln>
        </p:spPr>
      </p:sp>
      <p:sp>
        <p:nvSpPr>
          <p:cNvPr id="21" name="Shape 16"/>
          <p:cNvSpPr/>
          <p:nvPr/>
        </p:nvSpPr>
        <p:spPr>
          <a:xfrm>
            <a:off x="10424160" y="3246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8470" y="3440430"/>
            <a:ext cx="388620" cy="3886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247120" y="34747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8823960" y="3639312"/>
            <a:ext cx="1600200" cy="996696"/>
          </a:xfrm>
          <a:prstGeom prst="line">
            <a:avLst/>
          </a:prstGeom>
          <a:noFill/>
          <a:ln w="25400">
            <a:solidFill>
              <a:srgbClr val="7CB342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10424160" y="425196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18470" y="4446270"/>
            <a:ext cx="388620" cy="3886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247120" y="4480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1200" dirty="0"/>
          </a:p>
        </p:txBody>
      </p:sp>
      <p:sp>
        <p:nvSpPr>
          <p:cNvPr id="28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cheia = cabo de rede  ·  linha tracejada = Wi-Fi (sem fio).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1.5.3 · ADSL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ADSL: internet pelo fio do telefone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mais antiga, muito usada nos anos 2000 e 2010.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24912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a linha do telefone fixo (fio de cobre)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falar ao telefone e navegar ao mesmo tempo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mais longe da central, mais lenta fica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está sendo trocada pela fibra óptica</a:t>
            </a:r>
            <a:endParaRPr lang="en-US" sz="1600" dirty="0"/>
          </a:p>
        </p:txBody>
      </p:sp>
      <p:sp>
        <p:nvSpPr>
          <p:cNvPr id="9" name="Cartão"/>
          <p:cNvSpPr/>
          <p:nvPr/>
        </p:nvSpPr>
        <p:spPr>
          <a:xfrm>
            <a:off x="6309360" y="20574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22128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da internet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885432" y="343814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274320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1696" y="2916936"/>
            <a:ext cx="347472" cy="34747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406640" y="274320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da companhia telefônica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885432" y="426110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37960" y="356616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3739896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35661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 do telefone (cobre)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537960" y="4389120"/>
            <a:ext cx="694944" cy="694944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456285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438912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Modem ADSL na sua casa</a:t>
            </a:r>
            <a:endParaRPr lang="en-US" sz="1600" dirty="0"/>
          </a:p>
        </p:txBody>
      </p:sp>
      <p:sp>
        <p:nvSpPr>
          <p:cNvPr id="2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lembra?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do ADSL existia a internet discada: ocupava o telefone e fazia aquele barulho ao conectar.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1.5.3 · FIBRA ÓPTICA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Fibra óptica: internet pela luz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conexão mais moderna e mais usada hoje nas cidades.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24912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fio de vidro bem fininho leva a informação em forma de luz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conexão mais rápida e estável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sofre com chuva, raios ou distância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que a empresa passe o cabo na sua rua</a:t>
            </a:r>
            <a:endParaRPr lang="en-US" sz="1600" dirty="0"/>
          </a:p>
        </p:txBody>
      </p:sp>
      <p:sp>
        <p:nvSpPr>
          <p:cNvPr id="9" name="Cartão"/>
          <p:cNvSpPr/>
          <p:nvPr/>
        </p:nvSpPr>
        <p:spPr>
          <a:xfrm>
            <a:off x="6309360" y="20574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22128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da internet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885432" y="343814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274320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1696" y="2916936"/>
            <a:ext cx="347472" cy="34747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406640" y="274320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Provedor de internet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885432" y="426110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37960" y="356616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3739896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35661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Cabo de fibra pelos postes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537960" y="4389120"/>
            <a:ext cx="694944" cy="694944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456285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438912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 da operadora (ONU) e roteador Wi-Fi</a:t>
            </a:r>
            <a:endParaRPr lang="en-US" sz="1600" dirty="0"/>
          </a:p>
        </p:txBody>
      </p:sp>
      <p:sp>
        <p:nvSpPr>
          <p:cNvPr id="2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Planos comuns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Mbps, 500 Mbps ou 1 Gbps (1 Gbps = 1.000 Mbps).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1.5.3 · REDE MÓVEL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3G, 4G e 5G: internet pelo ar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 do celular, que vai com você para qualquer lugar com sinal.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24912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 chega pelas antenas das operadoras de celular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chip e de um plano de dados (franquia)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na rua, no ônibus e em casa — onde houver sinal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3G é lento, 4G é rápido e 5G é ainda mais rápido</a:t>
            </a:r>
            <a:endParaRPr lang="en-US" sz="1600" dirty="0"/>
          </a:p>
        </p:txBody>
      </p:sp>
      <p:sp>
        <p:nvSpPr>
          <p:cNvPr id="9" name="Cartão"/>
          <p:cNvSpPr/>
          <p:nvPr/>
        </p:nvSpPr>
        <p:spPr>
          <a:xfrm>
            <a:off x="6309360" y="20574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22128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da internet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885432" y="343814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274320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1696" y="2916936"/>
            <a:ext cx="347472" cy="34747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406640" y="274320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Antena (torre) da operadora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885432" y="426110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37960" y="356616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3739896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35661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Ondas de rádio pelo ar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537960" y="4389120"/>
            <a:ext cx="694944" cy="694944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456285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438912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com chip</a:t>
            </a:r>
            <a:endParaRPr lang="en-US" sz="1600" dirty="0"/>
          </a:p>
        </p:txBody>
      </p:sp>
      <p:sp>
        <p:nvSpPr>
          <p:cNvPr id="2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"G"?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quer dizer geração: o 5G é a 5ª geração da internet do celular.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1.5.3 · SATÉLITE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Satélite: internet que vem do céu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para onde o cabo e o sinal de celular não chegam.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48640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128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24912"/>
            <a:ext cx="5074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 vem de satélites que estão no espaço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antena na casa "conversa" com o satélite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 ao interior, à zona rural e até a barcos</a:t>
            </a:r>
            <a:endParaRPr lang="en-US" sz="16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moderno: Starlink, com milhares de satélites mais perto da Terra</a:t>
            </a:r>
            <a:endParaRPr lang="en-US" sz="1600" dirty="0"/>
          </a:p>
        </p:txBody>
      </p:sp>
      <p:sp>
        <p:nvSpPr>
          <p:cNvPr id="9" name="Cartão"/>
          <p:cNvSpPr/>
          <p:nvPr/>
        </p:nvSpPr>
        <p:spPr>
          <a:xfrm>
            <a:off x="6309360" y="20574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221284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 da internet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885432" y="343814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274320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1696" y="2916936"/>
            <a:ext cx="347472" cy="347472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406640" y="274320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no espaço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885432" y="4261104"/>
            <a:ext cx="914" cy="128016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37960" y="3566160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696" y="3739896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406640" y="356616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Antena no telhado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537960" y="4389120"/>
            <a:ext cx="694944" cy="694944"/>
          </a:xfrm>
          <a:prstGeom prst="ellipse">
            <a:avLst/>
          </a:prstGeom>
          <a:solidFill>
            <a:srgbClr val="7CB342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4562856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06640" y="4389120"/>
            <a:ext cx="4069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 Wi-Fi na casa</a:t>
            </a:r>
            <a:endParaRPr lang="en-US" sz="1600" dirty="0"/>
          </a:p>
        </p:txBody>
      </p:sp>
      <p:sp>
        <p:nvSpPr>
          <p:cNvPr id="2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e cuidado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 a quase qualquer lugar, mas o equipamento e a mensalidade ainda são caros. Chuva forte pode atrapalhar.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conexão é qual?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tem seu lugar — o importante é saber escolher.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834640"/>
                <a:gridCol w="3291840"/>
                <a:gridCol w="2743200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chega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funciona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Destaque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local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Cabo ou Wi-Fi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de casa ou da escola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Liga tudo num lugar só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ADSL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Fio do telefone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Cidades (cada vez menos)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Lenta e antiga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Fibra óptica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Luz em um cabo de vidro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Cidades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Muito rápida e estável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3G / 4G / 5G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Ondas pelo ar (antenas)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tem sinal de celular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Vai no bolso; tem franquia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Satélite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espaço até a antena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Qualquer lugar, até a zona rural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Chega longe; mais cara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para a turma: qual dessas você usa em casa? E no celular?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DESAFIO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sou eu?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 a charada e responda em voz alta. Pode ser em equipes!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D354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21945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levo a internet pela luz, dentro de um fio de vidro.</a:t>
            </a:r>
            <a:endParaRPr lang="en-US" sz="1800" dirty="0"/>
          </a:p>
        </p:txBody>
      </p:sp>
      <p:sp>
        <p:nvSpPr>
          <p:cNvPr id="10" name="Cartão"/>
          <p:cNvSpPr/>
          <p:nvPr/>
        </p:nvSpPr>
        <p:spPr>
          <a:xfrm>
            <a:off x="612648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423160"/>
            <a:ext cx="731520" cy="73152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D3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1945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chego pelo ar, através das antenas, e preciso de um chip.</a:t>
            </a:r>
            <a:endParaRPr lang="en-US" sz="1800" dirty="0"/>
          </a:p>
        </p:txBody>
      </p:sp>
      <p:sp>
        <p:nvSpPr>
          <p:cNvPr id="14" name="Cartão"/>
          <p:cNvSpPr/>
          <p:nvPr/>
        </p:nvSpPr>
        <p:spPr>
          <a:xfrm>
            <a:off x="54864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D354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388620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uso o fio do telefone fixo e já estou ficando velho.</a:t>
            </a:r>
            <a:endParaRPr lang="en-US" sz="1800" dirty="0"/>
          </a:p>
        </p:txBody>
      </p:sp>
      <p:sp>
        <p:nvSpPr>
          <p:cNvPr id="18" name="Cartão"/>
          <p:cNvSpPr/>
          <p:nvPr/>
        </p:nvSpPr>
        <p:spPr>
          <a:xfrm>
            <a:off x="612648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4114800"/>
            <a:ext cx="731520" cy="73152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D35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388620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venho do espaço e chego até a zona rural.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001268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0012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Cuidados ao usar a rede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também faz parte de usar bem a internet.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44144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615184"/>
            <a:ext cx="347472" cy="3474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1945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Coloque senha no Wi-Fi de casa</a:t>
            </a:r>
            <a:endParaRPr lang="en-US" sz="1600" dirty="0"/>
          </a:p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letras, números e símbolos — nada de 12345678</a:t>
            </a:r>
            <a:endParaRPr lang="en-US" sz="1600" dirty="0"/>
          </a:p>
        </p:txBody>
      </p:sp>
      <p:sp>
        <p:nvSpPr>
          <p:cNvPr id="10" name="Cartão"/>
          <p:cNvSpPr/>
          <p:nvPr/>
        </p:nvSpPr>
        <p:spPr>
          <a:xfrm>
            <a:off x="6126480" y="205740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244144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615184"/>
            <a:ext cx="347472" cy="3474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269480" y="219456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com Wi-Fi público</a:t>
            </a:r>
            <a:endParaRPr lang="en-US" sz="1600" dirty="0"/>
          </a:p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praça ou na rodoviária, não entre no banco nem faça Pix</a:t>
            </a:r>
            <a:endParaRPr lang="en-US" sz="1600" dirty="0"/>
          </a:p>
        </p:txBody>
      </p:sp>
      <p:sp>
        <p:nvSpPr>
          <p:cNvPr id="14" name="Cartão"/>
          <p:cNvSpPr/>
          <p:nvPr/>
        </p:nvSpPr>
        <p:spPr>
          <a:xfrm>
            <a:off x="54864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41330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30682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91640" y="3886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passe códigos</a:t>
            </a:r>
            <a:endParaRPr lang="en-US" sz="1600" dirty="0"/>
          </a:p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do WhatsApp ou do banco que chega por SMS é só seu</a:t>
            </a:r>
            <a:endParaRPr lang="en-US" sz="1600" dirty="0"/>
          </a:p>
        </p:txBody>
      </p:sp>
      <p:sp>
        <p:nvSpPr>
          <p:cNvPr id="18" name="Cartão"/>
          <p:cNvSpPr/>
          <p:nvPr/>
        </p:nvSpPr>
        <p:spPr>
          <a:xfrm>
            <a:off x="6126480" y="37490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55080" y="41330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306824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69480" y="3886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Mantenha o celular atualizado</a:t>
            </a:r>
            <a:endParaRPr lang="en-US" sz="1600" dirty="0"/>
          </a:p>
          <a:p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atualizações corrigem falhas de segurança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600" b="1" dirty="0">
                <a:solidFill>
                  <a:srgbClr val="7CB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medir a velocidade da sua conexão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8404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— Sua internet entrega o que você paga?</a:t>
            </a:r>
            <a:endParaRPr lang="en-US" sz="1800" dirty="0"/>
          </a:p>
        </p:txBody>
      </p:sp>
      <p:sp>
        <p:nvSpPr>
          <p:cNvPr id="5" name="Etiqueta"/>
          <p:cNvSpPr/>
          <p:nvPr/>
        </p:nvSpPr>
        <p:spPr>
          <a:xfrm>
            <a:off x="8229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MBPS</a:t>
            </a:r>
            <a:endParaRPr lang="en-US" sz="1000" dirty="0"/>
          </a:p>
        </p:txBody>
      </p:sp>
      <p:sp>
        <p:nvSpPr>
          <p:cNvPr id="7" name="Etiqueta"/>
          <p:cNvSpPr/>
          <p:nvPr/>
        </p:nvSpPr>
        <p:spPr>
          <a:xfrm>
            <a:off x="28803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 UPLOAD</a:t>
            </a:r>
            <a:endParaRPr lang="en-US" sz="1000" dirty="0"/>
          </a:p>
        </p:txBody>
      </p:sp>
      <p:sp>
        <p:nvSpPr>
          <p:cNvPr id="9" name="Etiqueta"/>
          <p:cNvSpPr/>
          <p:nvPr/>
        </p:nvSpPr>
        <p:spPr>
          <a:xfrm>
            <a:off x="4937760" y="4892040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48920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FRANQUIA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· VELOCIDADE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Entendendo a velocidade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em Mbps (megabits por segundo): quanta informação passa a cada segundo.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28600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688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Download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baixar / receber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vídeo, abrir site, receber foto.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572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maior, melhor</a:t>
            </a:r>
            <a:endParaRPr lang="en-US" sz="1600" dirty="0"/>
          </a:p>
        </p:txBody>
      </p:sp>
      <p:sp>
        <p:nvSpPr>
          <p:cNvPr id="12" name="Cartão"/>
          <p:cNvSpPr/>
          <p:nvPr/>
        </p:nvSpPr>
        <p:spPr>
          <a:xfrm>
            <a:off x="4297680" y="20574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8F0FA"/>
          </a:solidFill>
          <a:ln w="12700">
            <a:solidFill>
              <a:srgbClr val="C5D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0" y="228600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4688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44068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5A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 foto ou vídeo, fazer chamada de vídeo.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4572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5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maior, melhor</a:t>
            </a:r>
            <a:endParaRPr lang="en-US" sz="1600" dirty="0"/>
          </a:p>
        </p:txBody>
      </p:sp>
      <p:sp>
        <p:nvSpPr>
          <p:cNvPr id="18" name="Cartão"/>
          <p:cNvSpPr/>
          <p:nvPr/>
        </p:nvSpPr>
        <p:spPr>
          <a:xfrm>
            <a:off x="8046720" y="20574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21040" y="228600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688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89720" y="228600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35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Ping (latência)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de resposta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329184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 em chamadas e jogos online. Medido em ms.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45720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MENOR, melhor</a:t>
            </a:r>
            <a:endParaRPr lang="en-US" sz="1600" dirty="0"/>
          </a:p>
        </p:txBody>
      </p:sp>
      <p:sp>
        <p:nvSpPr>
          <p:cNvPr id="24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 num cano d'água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mais largo o cano (mais Mbps), mais água (informação) passa ao mesmo tempo.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633472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· VELOCIDADE × ARQUIVO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tempo leva para baixar?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internet é medida em megabits (Mbps); os arquivos, em megabytes (MB).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1168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C5D6E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2011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5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 </a:t>
            </a:r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Mbps ÷ 8 = MB por segundo</a:t>
            </a:r>
            <a:pPr indent="0" marL="0">
              <a:buNone/>
            </a:pPr>
            <a:r>
              <a:rPr lang="en-US" sz="15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ex.: 100 Mbps baixam cerca de 12 MB a cada segundo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37744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vou baixar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Mbps (4G fraco)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Mbps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Mbps (fibra)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do WhatsApp (0,2 MB)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hora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hora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hora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Aplicativo (100 MB)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 e 20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segundos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segundos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Filme (2 GB)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minutos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e 40 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segundos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do celular (3 GB)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minutos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minutos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segundos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440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Tempos aproximados, em condições ideais. Na vida real costuma demorar um pouco mais.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· FRANQUIA DE DADOS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cabe em 10 GB por mês?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dados móveis (3G/4G/5G), o plano tem um limite: a franquia.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3566160" cy="3246120"/>
          </a:xfrm>
          <a:prstGeom prst="roundRect">
            <a:avLst>
              <a:gd name="adj" fmla="val 2254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plano de celular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GB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657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mês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0624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 = 1.000 MB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Acabou a franquia? A internet para ou fica bem lenta.</a:t>
            </a:r>
            <a:endParaRPr lang="en-US" sz="1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2057400"/>
          <a:ext cx="72237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828800"/>
                <a:gridCol w="2377440"/>
              </a:tblGrid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Cabe em 10 GB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foto no WhatsApp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0,2 MB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50.000 fotos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minuto de áudio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0,1 MB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100.000 minutos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Baixar 1 aplicativo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MB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100 aplicativos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hora de vídeo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0,5 a 1 GB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 a 20 horas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hora de videochamada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0,5 GB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4A55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20 horas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FFF3E6"/>
          </a:solidFill>
          <a:ln w="12700">
            <a:solidFill>
              <a:srgbClr val="F2C38E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confunda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é a largura do cano; franquia é o tamanho da caixa d'água. Vídeo é o que mais gasta!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1.5.4 · TUTORIAL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para medir a velocidade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no computador e no celular.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40280" y="2423160"/>
            <a:ext cx="2034540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057400"/>
            <a:ext cx="731520" cy="73152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630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Cartão"/>
          <p:cNvSpPr/>
          <p:nvPr/>
        </p:nvSpPr>
        <p:spPr>
          <a:xfrm>
            <a:off x="548640" y="30632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2461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navegador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ou Firefox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52060" y="2423160"/>
            <a:ext cx="2034540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4820" y="205740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7482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Cartão"/>
          <p:cNvSpPr/>
          <p:nvPr/>
        </p:nvSpPr>
        <p:spPr>
          <a:xfrm>
            <a:off x="3360420" y="30632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43300" y="32461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 endereço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fast.com  ou  speedtest.net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863840" y="2423160"/>
            <a:ext cx="2034540" cy="914"/>
          </a:xfrm>
          <a:prstGeom prst="line">
            <a:avLst/>
          </a:prstGeom>
          <a:noFill/>
          <a:ln w="19050">
            <a:solidFill>
              <a:srgbClr val="D8E4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205740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72200" y="30632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32461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iniciar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"Iniciar" ou "Go" e espere uns 30 segundos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898380" y="205740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9838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Cartão"/>
          <p:cNvSpPr/>
          <p:nvPr/>
        </p:nvSpPr>
        <p:spPr>
          <a:xfrm>
            <a:off x="8983980" y="3063240"/>
            <a:ext cx="2606040" cy="2103120"/>
          </a:xfrm>
          <a:prstGeom prst="roundRect">
            <a:avLst>
              <a:gd name="adj" fmla="val 3478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66860" y="324612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Anote os números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download, upload e ping</a:t>
            </a:r>
            <a:endParaRPr lang="en-US" sz="1600" dirty="0"/>
          </a:p>
        </p:txBody>
      </p:sp>
      <p:sp>
        <p:nvSpPr>
          <p:cNvPr id="25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o teste perto e longe do roteador e compare com a velocidade do plano que aparece na conta.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1 · NO COMPUTADOR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a sua conexão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duplas: façam o teste e anotem no caderno.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377440"/>
                <a:gridCol w="2377440"/>
                <a:gridCol w="237744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testei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 (Mbps)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(Mbps)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(ms)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Computador da escola (cabo)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Celular no Wi-Fi da escola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2323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Celular no 4G/5G (dados)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foi a mais rápida? Por que você acha que deu diferença?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FFF3E6"/>
          </a:solidFill>
          <a:ln w="12700">
            <a:solidFill>
              <a:srgbClr val="FFF3E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D35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 2 · NO COMPUTADOR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Pesquisa: qual plano vale mais a pena?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 Google para comparar planos de internet da sua cidade.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221992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05740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Pesquise  </a:t>
            </a:r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fibra + nome da sua cidade</a:t>
            </a:r>
            <a:endParaRPr lang="en-US" sz="1550" dirty="0"/>
          </a:p>
        </p:txBody>
      </p:sp>
      <p:sp>
        <p:nvSpPr>
          <p:cNvPr id="10" name="Cartão"/>
          <p:cNvSpPr/>
          <p:nvPr/>
        </p:nvSpPr>
        <p:spPr>
          <a:xfrm>
            <a:off x="548640" y="28803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044952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044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8036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 </a:t>
            </a:r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empresas e anote um plano de cada</a:t>
            </a:r>
            <a:endParaRPr lang="en-US" sz="1550" dirty="0"/>
          </a:p>
        </p:txBody>
      </p:sp>
      <p:sp>
        <p:nvSpPr>
          <p:cNvPr id="14" name="Cartão"/>
          <p:cNvSpPr/>
          <p:nvPr/>
        </p:nvSpPr>
        <p:spPr>
          <a:xfrm>
            <a:off x="548640" y="370332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867912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70332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Pesquise também  </a:t>
            </a:r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plano via satélite (ex.: Starlink)</a:t>
            </a:r>
            <a:endParaRPr lang="en-US" sz="1550" dirty="0"/>
          </a:p>
        </p:txBody>
      </p:sp>
      <p:sp>
        <p:nvSpPr>
          <p:cNvPr id="18" name="Cartão"/>
          <p:cNvSpPr/>
          <p:nvPr/>
        </p:nvSpPr>
        <p:spPr>
          <a:xfrm>
            <a:off x="548640" y="452628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690872"/>
            <a:ext cx="365760" cy="365760"/>
          </a:xfrm>
          <a:prstGeom prst="ellipse">
            <a:avLst/>
          </a:prstGeom>
          <a:solidFill>
            <a:srgbClr val="7CB342"/>
          </a:solidFill>
          <a:ln w="19050">
            <a:solidFill>
              <a:srgbClr val="7CB3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690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526280"/>
            <a:ext cx="4114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 </a:t>
            </a:r>
            <a:pPr indent="0" marL="0">
              <a:buNone/>
            </a:pPr>
            <a:r>
              <a:rPr lang="en-US" sz="155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plano você escolheria?</a:t>
            </a:r>
            <a:endParaRPr lang="en-US" sz="15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205740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463040"/>
                <a:gridCol w="1097280"/>
                <a:gridCol w="128016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3E7B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R$/mês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4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Destaque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EAF4E4"/>
          </a:solidFill>
          <a:ln w="12700">
            <a:solidFill>
              <a:srgbClr val="7CB342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329184" cy="32918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234440" y="5559552"/>
            <a:ext cx="10195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responder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custa cada 100 Mbps? O mais barato é sempre o melhor? A empresa atende o seu bairro?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/>
          <p:nvPr/>
        </p:nvSpPr>
        <p:spPr>
          <a:xfrm>
            <a:off x="548640" y="384048"/>
            <a:ext cx="1001268" cy="292608"/>
          </a:xfrm>
          <a:prstGeom prst="roundRect">
            <a:avLst>
              <a:gd name="adj" fmla="val 50000"/>
            </a:avLst>
          </a:prstGeom>
          <a:solidFill>
            <a:srgbClr val="EAF4E4"/>
          </a:solidFill>
          <a:ln w="12700">
            <a:solidFill>
              <a:srgbClr val="EAF4E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0012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804672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323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aprendemos hoje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Voltando aos objetivos do início da aula.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19456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205740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 </a:t>
            </a:r>
            <a:pPr indent="0" marL="0">
              <a:buNone/>
            </a:pPr>
            <a:r>
              <a:rPr lang="en-US" sz="17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 ligados para trocar informações e dividir recursos</a:t>
            </a:r>
            <a:endParaRPr lang="en-US" sz="170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926080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278892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Elementos  </a:t>
            </a:r>
            <a:pPr indent="0" marL="0">
              <a:buNone/>
            </a:pPr>
            <a:r>
              <a:rPr lang="en-US" sz="17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aparelhos, cabos/Wi-Fi, roteador, regras, informação e provedor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548640" y="352044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65760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52044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Conexões  </a:t>
            </a:r>
            <a:pPr indent="0" marL="0">
              <a:buNone/>
            </a:pPr>
            <a:r>
              <a:rPr lang="en-US" sz="17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local, ADSL, fibra, 3G/4G/5G e satélite</a:t>
            </a:r>
            <a:endParaRPr lang="en-US" sz="1700" dirty="0"/>
          </a:p>
        </p:txBody>
      </p:sp>
      <p:sp>
        <p:nvSpPr>
          <p:cNvPr id="15" name="Cartão"/>
          <p:cNvSpPr/>
          <p:nvPr/>
        </p:nvSpPr>
        <p:spPr>
          <a:xfrm>
            <a:off x="548640" y="425196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4389120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25196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 </a:t>
            </a:r>
            <a:pPr indent="0" marL="0">
              <a:buNone/>
            </a:pPr>
            <a:r>
              <a:rPr lang="en-US" sz="17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em Mbps: download, upload e ping (Mbps ÷ 8 = MB/s)</a:t>
            </a:r>
            <a:endParaRPr lang="en-US" sz="1700" dirty="0"/>
          </a:p>
        </p:txBody>
      </p:sp>
      <p:sp>
        <p:nvSpPr>
          <p:cNvPr id="18" name="Cartão"/>
          <p:cNvSpPr/>
          <p:nvPr/>
        </p:nvSpPr>
        <p:spPr>
          <a:xfrm>
            <a:off x="548640" y="4983480"/>
            <a:ext cx="11064240" cy="603504"/>
          </a:xfrm>
          <a:prstGeom prst="roundRect">
            <a:avLst>
              <a:gd name="adj" fmla="val 6000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120640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983480"/>
            <a:ext cx="10149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Franquia  </a:t>
            </a:r>
            <a:pPr indent="0" marL="0">
              <a:buNone/>
            </a:pPr>
            <a:r>
              <a:rPr lang="en-US" sz="1700" dirty="0">
                <a:solidFill>
                  <a:srgbClr val="4A55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limite de dados do mês — vídeo é o que mais gasta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6858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6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E7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Dúvidas?</a:t>
            </a:r>
            <a:endParaRPr lang="en-US" sz="5400" dirty="0"/>
          </a:p>
        </p:txBody>
      </p:sp>
      <p:sp>
        <p:nvSpPr>
          <p:cNvPr id="3" name="Cartão"/>
          <p:cNvSpPr/>
          <p:nvPr/>
        </p:nvSpPr>
        <p:spPr>
          <a:xfrm>
            <a:off x="548640" y="3063240"/>
            <a:ext cx="7863840" cy="1737360"/>
          </a:xfrm>
          <a:prstGeom prst="roundRect">
            <a:avLst>
              <a:gd name="adj" fmla="val 4211"/>
            </a:avLst>
          </a:prstGeom>
          <a:solidFill>
            <a:srgbClr val="F5FAF3"/>
          </a:solidFill>
          <a:ln w="12700">
            <a:solidFill>
              <a:srgbClr val="D8E4D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3200400"/>
            <a:ext cx="7406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7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CASA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Descubra que tipo de internet você usa (fibra, 4G, satélite…) e meça a velocidade dela. Traga os números na próxima aula!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Douglas Camargo Carvalho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A8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IFSul – Câmpus Sapiranga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FSul - Aulas">
  <a:themeElements>
    <a:clrScheme name="IFSul - Aulas">
      <a:dk1>
        <a:srgbClr val="232323"/>
      </a:dk1>
      <a:lt1>
        <a:srgbClr val="FFFFFF"/>
      </a:lt1>
      <a:dk2>
        <a:srgbClr val="3E7B3F"/>
      </a:dk2>
      <a:lt2>
        <a:srgbClr val="F5FAF3"/>
      </a:lt2>
      <a:accent1>
        <a:srgbClr val="7CB342"/>
      </a:accent1>
      <a:accent2>
        <a:srgbClr val="3E7B3F"/>
      </a:accent2>
      <a:accent3>
        <a:srgbClr val="2A5A96"/>
      </a:accent3>
      <a:accent4>
        <a:srgbClr val="D35400"/>
      </a:accent4>
      <a:accent5>
        <a:srgbClr val="7A867A"/>
      </a:accent5>
      <a:accent6>
        <a:srgbClr val="D8E4D3"/>
      </a:accent6>
      <a:hlink>
        <a:srgbClr val="2A5A96"/>
      </a:hlink>
      <a:folHlink>
        <a:srgbClr val="8E44AD"/>
      </a:folHlink>
    </a:clrScheme>
    <a:fontScheme name="IFSul - Au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Redes de computadores - Informática EJA</dc:title>
  <dc:subject>PptxGenJS Presentation</dc:subject>
  <dc:creator>Prof. Douglas Camargo Carvalho</dc:creator>
  <cp:lastModifiedBy>Prof. Douglas Camargo Carvalho</cp:lastModifiedBy>
  <cp:revision>1</cp:revision>
  <dcterms:created xsi:type="dcterms:W3CDTF">2026-10-09T23:51:00Z</dcterms:created>
  <dcterms:modified xsi:type="dcterms:W3CDTF">2026-10-09T23:51:00Z</dcterms:modified>
</cp:coreProperties>
</file>