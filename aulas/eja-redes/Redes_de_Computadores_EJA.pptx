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8a2cf043-caf2-6e85-b241-1a98fabfbf57}">
          <p14:sldIdLst>
            <p14:sldId id="256"/>
            <p14:sldId id="257"/>
            <p14:sldId id="258"/>
            <p14:sldId id="259"/>
          </p14:sldIdLst>
        </p14:section>
        <p14:section name="1.5.1 Elementos" id="{830d6272-b39e-7128-9516-ad7ba9eb682b}">
          <p14:sldIdLst>
            <p14:sldId id="260"/>
            <p14:sldId id="261"/>
            <p14:sldId id="262"/>
          </p14:sldIdLst>
        </p14:section>
        <p14:section name="1.5.2 Importância" id="{0670e572-389c-ae2e-bb48-022ddbd4fb69}">
          <p14:sldIdLst>
            <p14:sldId id="263"/>
            <p14:sldId id="264"/>
            <p14:sldId id="265"/>
          </p14:sldIdLst>
        </p14:section>
        <p14:section name="1.5.3 Tipos de conexão" id="{c6ed1781-3f47-748e-91ae-e4eb9b76e631}">
          <p14:sldIdLst>
            <p14:sldId id="266"/>
            <p14:sldId id="267"/>
            <p14:sldId id="268"/>
            <p14:sldId id="269"/>
            <p14:sldId id="270"/>
            <p14:sldId id="271"/>
            <p14:sldId id="272"/>
            <p14:sldId id="273"/>
            <p14:sldId id="274"/>
          </p14:sldIdLst>
        </p14:section>
        <p14:section name="1.5.4 Velocidade" id="{9053766e-7314-9175-85e1-675524d7fd13}">
          <p14:sldIdLst>
            <p14:sldId id="275"/>
            <p14:sldId id="276"/>
            <p14:sldId id="277"/>
            <p14:sldId id="278"/>
            <p14:sldId id="279"/>
            <p14:sldId id="280"/>
            <p14:sldId id="281"/>
          </p14:sldIdLst>
        </p14:section>
        <p14:section name="Encerramento" id="{5f36021e-edd1-bbb4-0c97-30203b1f1ca1}">
          <p14:sldIdLst>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Boas-vindas. Apresente o tema de forma leve: 'Hoje vamos entender como o celular e o computador conseguem conversar com o mundo'. Tempo sugerido da aula: 2 a 3 períodos (90 a 135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roteiro para a turma saber o caminho da aula. Adultos da EJA gostam de saber o que vem pela frente e quanto tempo vai levar.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de aquecimento (5 min). Faça as perguntas e peça que levantem a mão. Valorize as respostas: quase todos já usam rede todos os dias, mesmo sem saber o nome.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comparação com as ruas da cidade ou com os Correios. Pergunte: 'Na sua casa, quais aparelhos estão ligados na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cada elemento com objetos reais: mostre um cabo de rede, aponte o roteador do laboratório. Protocolo = regra combinada, como falar o mesmo idioma. O roteador está destacado em vermelho porque é o 'coração' da rede de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(10 min). Pode ser em duplas. Quem achar primeiro marca na lista. Aproveite para mostrar o roteador/switch do laboratório e as luzes piscando (sinal de dados passando).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exemplos da vida dos alunos: quem já marcou consulta pelo celular? Quem já fez Pix? Ligue a rede ao trabalho e à cidadania.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Atividade rápida (5 min). Conte as mãos e preencha o placar no quadro. Conclusão: a rede já faz parte da vida de todos.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Desenhe no quadro a rede da casa de um aluno. Linha cheia = cabo; tracejada = Wi-Fi (sem fio). Rede local também é chamada de 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ADSL = tecnologia mais antiga, usa o fio de cobre do telefone. Velocidades baixas (geralmente até uns 10 a 20 Mbps). Pergunte se alguém lembra do 'Speedy' ou da internet discada.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possível, leve um pedaço de cabo de fibra ou mostre uma foto. Explique que a luz 'quica' dentro do vidro. Planos comuns: 300 Mbps, 500 Mbps, 1 Gbps (1.000 Mbps).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símbolo 4G/5G na barra do celular. Explique franquia: quando acaba o pacote, a internet fica lenta ou para. Dica: o celular pode virar roteador ('roteador Wi-Fi / ancoragem').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Satélites antigos ficavam muito longe (36 mil km): a internet era lenta para responder. Os novos, como os da Starlink, ficam mais perto (cerca de 550 km), por isso respondem mais rápido. Bom exemplo para quem tem família na zona rural. Chuva forte pode atrapalhar o sinal.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tabela junto com a turma. Pergunte: 'Qual desses você usa em casa? E no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Respostas: 1) Fibra óptica  2) 3G/4G/5G  3) ADSL  4) Satélite (ex.: Starlink). Leia em voz alta e deixe a turma responder junta. Pode ser em equipes, valendo pontos.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muito importante para o público da EJA, que é alvo frequente de golpes. Pergunte se alguém já recebeu mensagem pedindo código. Reforce: banco e WhatsApp nunca pedem código por telefone.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Ping é medido em ms (milissegundos). Ex.: ping 10 ms é ótimo; 600 ms (satélite antigo) é lento para responder. Lembre: 1 Gbps = 1.000 Mbps.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 a diferença: a internet é medida em megaBITS (Mbps) e os arquivos em megaBYTES (MB). 1 byte = 8 bits, por isso divide por 8. Exercício: 'Minha internet é de 80 Mbps. Quantos MB baixa por segundo?' (80 ÷ 8 = 10 MB/s). 'Quanto tempo para um app de 100 MB?' (100 ÷ 10 = 10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Valores aproximados — variam conforme a qualidade do vídeo e do aplicativo. Mensagem principal: vídeo é o que mais gasta; texto e áudio gastam muito pouco. Dicas para economizar: baixar aplicativos e atualizações só no Wi-Fi, desligar o download automático de vídeos no WhatsApp, assistir vídeo em qualidade menor nos dados móveis. Pergunte: 'Quantos GB tem o plano de vocês?' (aparece no app da operadora).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Demonstre no projetor antes de os alunos fazerem. Se o laboratório for lento, avise que muitos testando ao mesmo tempo dividem a internet — isso também é um aprendizado! A Anatel diz que a operadora deve entregar, na média, pelo menos 80% da velocidade contratada.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Prática (15 min). Em duplas. Quem não quiser gastar dados do celular pode pular a última linha. No fim, monte no quadro a média da turma.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Prática (20 a 25 min). Ensine a digitar a pesquisa e a abrir os sites das operadoras. Ajude a achar o preço e a velocidade. Conta simples: preço ÷ (Mbps ÷ 100). Conversa final: o mais barato nem sempre é o melhor; ver também se a empresa atende o bairro.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Revisão oral: peça que cada aluno diga uma coisa que aprendeu. Se der tempo, faça as charadas de novo.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Tarefa de casa simples e ligada à vida real. Na próxima aula, retome os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PA">
    <p:bg>
      <p:bgPr>
        <a:solidFill>
          <a:schemeClr val="tx2"/>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326880" y="1188720"/>
            <a:ext cx="2011680" cy="2724912"/>
          </a:xfrm>
          <a:prstGeom prst="rect">
            <a:avLst/>
          </a:prstGeom>
        </p:spPr>
      </p:pic>
      <p:sp>
        <p:nvSpPr>
          <p:cNvPr id="3" name="Text 0"/>
          <p:cNvSpPr/>
          <p:nvPr>
            <p:ph idx="101" type="body" hasCustomPrompt="1"/>
          </p:nvPr>
        </p:nvSpPr>
        <p:spPr>
          <a:xfrm>
            <a:off x="731520" y="1280160"/>
            <a:ext cx="8229600" cy="457200"/>
          </a:xfrm>
          <a:prstGeom prst="rect">
            <a:avLst/>
          </a:prstGeom>
          <a:noFill/>
          <a:ln/>
        </p:spPr>
        <p:txBody>
          <a:bodyPr wrap="square" rtlCol="0"/>
          <a:lstStyle>
            <a:lvl1pPr algn="l" indent="0" marL="0">
              <a:buNone/>
              <a:defRPr lang="en-US" sz="1800" b="1" dirty="0">
                <a:solidFill>
                  <a:schemeClr val="accent6"/>
                </a:solidFill>
              </a:defRPr>
            </a:lvl1pPr>
          </a:lstStyle>
          <a:p>
            <a:pPr algn="l" indent="0" marL="0">
              <a:buNone/>
            </a:pPr>
            <a:endParaRPr lang="en-US" sz="1800" dirty="0"/>
          </a:p>
        </p:txBody>
      </p:sp>
      <p:sp>
        <p:nvSpPr>
          <p:cNvPr id="4" name="Text 0"/>
          <p:cNvSpPr/>
          <p:nvPr>
            <p:ph idx="102" type="title" hasCustomPrompt="1"/>
          </p:nvPr>
        </p:nvSpPr>
        <p:spPr>
          <a:xfrm>
            <a:off x="731520" y="1828800"/>
            <a:ext cx="8412480" cy="20116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5" name="Text 0"/>
          <p:cNvSpPr/>
          <p:nvPr>
            <p:ph idx="103" type="body" hasCustomPrompt="1"/>
          </p:nvPr>
        </p:nvSpPr>
        <p:spPr>
          <a:xfrm>
            <a:off x="731520" y="4114800"/>
            <a:ext cx="8229600" cy="128016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AO">
    <p:bg>
      <p:bgPr>
        <a:solidFill>
          <a:schemeClr val="accent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692640" y="1828800"/>
            <a:ext cx="1737360" cy="2350008"/>
          </a:xfrm>
          <a:prstGeom prst="rect">
            <a:avLst/>
          </a:prstGeom>
        </p:spPr>
      </p:pic>
      <p:sp>
        <p:nvSpPr>
          <p:cNvPr id="3" name="Text 0"/>
          <p:cNvSpPr/>
          <p:nvPr>
            <p:ph idx="101" type="body" hasCustomPrompt="1"/>
          </p:nvPr>
        </p:nvSpPr>
        <p:spPr>
          <a:xfrm>
            <a:off x="731520" y="1463040"/>
            <a:ext cx="8229600" cy="1097280"/>
          </a:xfrm>
          <a:prstGeom prst="rect">
            <a:avLst/>
          </a:prstGeom>
          <a:noFill/>
          <a:ln/>
        </p:spPr>
        <p:txBody>
          <a:bodyPr wrap="square" rtlCol="0"/>
          <a:lstStyle>
            <a:lvl1pPr algn="l" indent="0" marL="0">
              <a:buNone/>
              <a:defRPr lang="en-US" sz="6000" b="1" dirty="0">
                <a:solidFill>
                  <a:schemeClr val="tx2"/>
                </a:solidFill>
              </a:defRPr>
            </a:lvl1pPr>
          </a:lstStyle>
          <a:p>
            <a:pPr algn="l" indent="0" marL="0">
              <a:buNone/>
            </a:pPr>
            <a:endParaRPr lang="en-US" sz="6000" dirty="0"/>
          </a:p>
        </p:txBody>
      </p:sp>
      <p:sp>
        <p:nvSpPr>
          <p:cNvPr id="4" name="Text 0"/>
          <p:cNvSpPr/>
          <p:nvPr>
            <p:ph idx="102" type="title" hasCustomPrompt="1"/>
          </p:nvPr>
        </p:nvSpPr>
        <p:spPr>
          <a:xfrm>
            <a:off x="731520" y="2651760"/>
            <a:ext cx="859536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5" name="Text 0"/>
          <p:cNvSpPr/>
          <p:nvPr>
            <p:ph idx="103" type="body" hasCustomPrompt="1"/>
          </p:nvPr>
        </p:nvSpPr>
        <p:spPr>
          <a:xfrm>
            <a:off x="731520" y="4297680"/>
            <a:ext cx="8229600" cy="109728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
        <p:nvSpPr>
          <p:cNvPr id="6"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100" dirty="0">
                <a:solidFill>
                  <a:schemeClr val="bg1"/>
                </a:solidFill>
              </a:rPr>
              <a:t>Informática  •  EJA  •  1.5 Redes de computadores</a:t>
            </a:r>
            <a:endParaRPr lang="en-US" sz="11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UDO">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201400" y="411480"/>
            <a:ext cx="475488" cy="640080"/>
          </a:xfrm>
          <a:prstGeom prst="rect">
            <a:avLst/>
          </a:prstGeom>
        </p:spPr>
      </p:pic>
      <p:sp>
        <p:nvSpPr>
          <p:cNvPr id="3" name="Text 0"/>
          <p:cNvSpPr/>
          <p:nvPr>
            <p:ph idx="101" type="title" hasCustomPrompt="1"/>
          </p:nvPr>
        </p:nvSpPr>
        <p:spPr>
          <a:xfrm>
            <a:off x="548640" y="365760"/>
            <a:ext cx="1024128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100" dirty="0">
                <a:solidFill>
                  <a:schemeClr val="accent5"/>
                </a:solidFill>
              </a:rPr>
              <a:t>Informática  •  EJA  •  1.5 Redes de computadores</a:t>
            </a:r>
            <a:endParaRPr lang="en-US" sz="11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731520" y="1280160"/>
            <a:ext cx="8229600" cy="457200"/>
          </a:xfrm>
          <a:prstGeom prst="rect">
            <a:avLst/>
          </a:prstGeom>
          <a:noFill/>
          <a:ln/>
        </p:spPr>
        <p:txBody>
          <a:bodyPr wrap="square" lIns="0" tIns="0" rIns="0" bIns="0" rtlCol="0"/>
          <a:lstStyle/>
          <a:p>
            <a:pPr algn="l" indent="0" marL="0">
              <a:buNone/>
            </a:pPr>
            <a:r>
              <a:rPr lang="en-US" sz="1800" b="1" dirty="0">
                <a:solidFill>
                  <a:schemeClr val="accent6"/>
                </a:solidFill>
              </a:rPr>
              <a:t>Informática  •  EJA</a:t>
            </a:r>
            <a:endParaRPr lang="en-US" sz="1800" dirty="0"/>
          </a:p>
        </p:txBody>
      </p:sp>
      <p:sp>
        <p:nvSpPr>
          <p:cNvPr id="3" name="Text 0"/>
          <p:cNvSpPr/>
          <p:nvPr>
            <p:ph idx="102" type="title" hasCustomPrompt="1"/>
          </p:nvPr>
        </p:nvSpPr>
        <p:spPr>
          <a:xfrm>
            <a:off x="731520" y="1828800"/>
            <a:ext cx="8412480" cy="2011680"/>
          </a:xfrm>
          <a:prstGeom prst="rect">
            <a:avLst/>
          </a:prstGeom>
          <a:noFill/>
          <a:ln/>
        </p:spPr>
        <p:txBody>
          <a:bodyPr wrap="square" lIns="0" tIns="0" rIns="0" bIns="0" rtlCol="0" anchor="t"/>
          <a:lstStyle/>
          <a:p>
            <a:pPr algn="l" indent="0" marL="0">
              <a:buNone/>
            </a:pPr>
            <a:r>
              <a:rPr lang="en-US" sz="5400" b="1" dirty="0">
                <a:solidFill>
                  <a:schemeClr val="bg1"/>
                </a:solidFill>
              </a:rPr>
              <a:t>Redes de Computadores</a:t>
            </a:r>
            <a:endParaRPr lang="en-US" sz="5400" dirty="0"/>
          </a:p>
        </p:txBody>
      </p:sp>
      <p:sp>
        <p:nvSpPr>
          <p:cNvPr id="4" name="Text 0"/>
          <p:cNvSpPr/>
          <p:nvPr>
            <p:ph idx="103" type="body" hasCustomPrompt="1"/>
          </p:nvPr>
        </p:nvSpPr>
        <p:spPr>
          <a:xfrm>
            <a:off x="731520" y="4114800"/>
            <a:ext cx="8229600" cy="1280160"/>
          </a:xfrm>
          <a:prstGeom prst="rect">
            <a:avLst/>
          </a:prstGeom>
          <a:noFill/>
          <a:ln/>
        </p:spPr>
        <p:txBody>
          <a:bodyPr wrap="square" lIns="0" tIns="0" rIns="0" bIns="0" rtlCol="0" anchor="t"/>
          <a:lstStyle/>
          <a:p>
            <a:pPr algn="l" indent="0" marL="0">
              <a:buNone/>
            </a:pPr>
            <a:r>
              <a:rPr lang="en-US" sz="2200" dirty="0">
                <a:solidFill>
                  <a:schemeClr val="bg1"/>
                </a:solidFill>
              </a:rPr>
              <a:t>Como os aparelhos conversam entre si — e como a internet chega até você</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O que vamos ver hoje</a:t>
            </a:r>
            <a:endParaRPr lang="en-US" sz="3400" dirty="0"/>
          </a:p>
        </p:txBody>
      </p:sp>
      <p:sp>
        <p:nvSpPr>
          <p:cNvPr id="3" name="Shape 1"/>
          <p:cNvSpPr/>
          <p:nvPr/>
        </p:nvSpPr>
        <p:spPr>
          <a:xfrm>
            <a:off x="731520" y="1417320"/>
            <a:ext cx="731520" cy="731520"/>
          </a:xfrm>
          <a:prstGeom prst="ellipse">
            <a:avLst/>
          </a:prstGeom>
          <a:solidFill>
            <a:schemeClr val="accent1"/>
          </a:solidFill>
          <a:ln w="12700">
            <a:solidFill>
              <a:schemeClr val="accent1"/>
            </a:solidFill>
            <a:prstDash val="solid"/>
          </a:ln>
        </p:spPr>
      </p:sp>
      <p:sp>
        <p:nvSpPr>
          <p:cNvPr id="4" name="Text 2"/>
          <p:cNvSpPr txBox="1"/>
          <p:nvPr/>
        </p:nvSpPr>
        <p:spPr>
          <a:xfrm>
            <a:off x="731520" y="141732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1737360" y="1399032"/>
            <a:ext cx="8686800" cy="822960"/>
          </a:xfrm>
          <a:prstGeom prst="rect">
            <a:avLst/>
          </a:prstGeom>
          <a:noFill/>
          <a:ln/>
        </p:spPr>
        <p:txBody>
          <a:bodyPr wrap="square" lIns="0" tIns="0" rIns="0" bIns="0" rtlCol="0" anchor="ctr"/>
          <a:lstStyle/>
          <a:p>
            <a:pPr indent="0" marL="0">
              <a:buNone/>
            </a:pPr>
            <a:r>
              <a:rPr lang="en-US" sz="2200" b="1" dirty="0">
                <a:solidFill>
                  <a:schemeClr val="tx2"/>
                </a:solidFill>
              </a:rPr>
              <a:t>Elementos de uma rede</a:t>
            </a:r>
            <a:endParaRPr lang="en-US" sz="1800" dirty="0"/>
          </a:p>
          <a:p>
            <a:pPr indent="0" marL="0">
              <a:buNone/>
            </a:pPr>
            <a:r>
              <a:rPr lang="en-US" sz="1600" dirty="0">
                <a:solidFill>
                  <a:schemeClr val="accent5"/>
                </a:solidFill>
              </a:rPr>
              <a:t>O que é preciso para montar uma rede</a:t>
            </a:r>
            <a:endParaRPr lang="en-US" sz="1800" dirty="0"/>
          </a:p>
        </p:txBody>
      </p:sp>
      <p:sp>
        <p:nvSpPr>
          <p:cNvPr id="6" name="Shape 4"/>
          <p:cNvSpPr/>
          <p:nvPr/>
        </p:nvSpPr>
        <p:spPr>
          <a:xfrm>
            <a:off x="731520" y="2359152"/>
            <a:ext cx="731520" cy="731520"/>
          </a:xfrm>
          <a:prstGeom prst="ellipse">
            <a:avLst/>
          </a:prstGeom>
          <a:solidFill>
            <a:schemeClr val="accent1"/>
          </a:solidFill>
          <a:ln w="12700">
            <a:solidFill>
              <a:schemeClr val="accent1"/>
            </a:solidFill>
            <a:prstDash val="solid"/>
          </a:ln>
        </p:spPr>
      </p:sp>
      <p:sp>
        <p:nvSpPr>
          <p:cNvPr id="7" name="Text 5"/>
          <p:cNvSpPr txBox="1"/>
          <p:nvPr/>
        </p:nvSpPr>
        <p:spPr>
          <a:xfrm>
            <a:off x="731520" y="2359152"/>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8" name="Text 6"/>
          <p:cNvSpPr txBox="1"/>
          <p:nvPr/>
        </p:nvSpPr>
        <p:spPr>
          <a:xfrm>
            <a:off x="1737360" y="2340864"/>
            <a:ext cx="8686800" cy="822960"/>
          </a:xfrm>
          <a:prstGeom prst="rect">
            <a:avLst/>
          </a:prstGeom>
          <a:noFill/>
          <a:ln/>
        </p:spPr>
        <p:txBody>
          <a:bodyPr wrap="square" lIns="0" tIns="0" rIns="0" bIns="0" rtlCol="0" anchor="ctr"/>
          <a:lstStyle/>
          <a:p>
            <a:pPr indent="0" marL="0">
              <a:buNone/>
            </a:pPr>
            <a:r>
              <a:rPr lang="en-US" sz="2200" b="1" dirty="0">
                <a:solidFill>
                  <a:schemeClr val="tx2"/>
                </a:solidFill>
              </a:rPr>
              <a:t>Importância de uma rede</a:t>
            </a:r>
            <a:endParaRPr lang="en-US" sz="1800" dirty="0"/>
          </a:p>
          <a:p>
            <a:pPr indent="0" marL="0">
              <a:buNone/>
            </a:pPr>
            <a:r>
              <a:rPr lang="en-US" sz="1600" dirty="0">
                <a:solidFill>
                  <a:schemeClr val="accent5"/>
                </a:solidFill>
              </a:rPr>
              <a:t>Para que ela serve no nosso dia a dia</a:t>
            </a:r>
            <a:endParaRPr lang="en-US" sz="1800" dirty="0"/>
          </a:p>
        </p:txBody>
      </p:sp>
      <p:sp>
        <p:nvSpPr>
          <p:cNvPr id="9" name="Shape 7"/>
          <p:cNvSpPr/>
          <p:nvPr/>
        </p:nvSpPr>
        <p:spPr>
          <a:xfrm>
            <a:off x="731520" y="3300984"/>
            <a:ext cx="731520" cy="731520"/>
          </a:xfrm>
          <a:prstGeom prst="ellipse">
            <a:avLst/>
          </a:prstGeom>
          <a:solidFill>
            <a:schemeClr val="accent1"/>
          </a:solidFill>
          <a:ln w="12700">
            <a:solidFill>
              <a:schemeClr val="accent1"/>
            </a:solidFill>
            <a:prstDash val="solid"/>
          </a:ln>
        </p:spPr>
      </p:sp>
      <p:sp>
        <p:nvSpPr>
          <p:cNvPr id="10" name="Text 8"/>
          <p:cNvSpPr txBox="1"/>
          <p:nvPr/>
        </p:nvSpPr>
        <p:spPr>
          <a:xfrm>
            <a:off x="731520" y="3300984"/>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1" name="Text 9"/>
          <p:cNvSpPr txBox="1"/>
          <p:nvPr/>
        </p:nvSpPr>
        <p:spPr>
          <a:xfrm>
            <a:off x="1737360" y="3282696"/>
            <a:ext cx="8686800" cy="822960"/>
          </a:xfrm>
          <a:prstGeom prst="rect">
            <a:avLst/>
          </a:prstGeom>
          <a:noFill/>
          <a:ln/>
        </p:spPr>
        <p:txBody>
          <a:bodyPr wrap="square" lIns="0" tIns="0" rIns="0" bIns="0" rtlCol="0" anchor="ctr"/>
          <a:lstStyle/>
          <a:p>
            <a:pPr indent="0" marL="0">
              <a:buNone/>
            </a:pPr>
            <a:r>
              <a:rPr lang="en-US" sz="2200" b="1" dirty="0">
                <a:solidFill>
                  <a:schemeClr val="tx2"/>
                </a:solidFill>
              </a:rPr>
              <a:t>Tipos de conexão</a:t>
            </a:r>
            <a:endParaRPr lang="en-US" sz="1800" dirty="0"/>
          </a:p>
          <a:p>
            <a:pPr indent="0" marL="0">
              <a:buNone/>
            </a:pPr>
            <a:r>
              <a:rPr lang="en-US" sz="1600" dirty="0">
                <a:solidFill>
                  <a:schemeClr val="accent5"/>
                </a:solidFill>
              </a:rPr>
              <a:t>Rede local, ADSL, fibra, 3G/4G/5G e satélite</a:t>
            </a:r>
            <a:endParaRPr lang="en-US" sz="1800" dirty="0"/>
          </a:p>
        </p:txBody>
      </p:sp>
      <p:sp>
        <p:nvSpPr>
          <p:cNvPr id="12" name="Shape 10"/>
          <p:cNvSpPr/>
          <p:nvPr/>
        </p:nvSpPr>
        <p:spPr>
          <a:xfrm>
            <a:off x="731520" y="4242816"/>
            <a:ext cx="731520" cy="731520"/>
          </a:xfrm>
          <a:prstGeom prst="ellipse">
            <a:avLst/>
          </a:prstGeom>
          <a:solidFill>
            <a:schemeClr val="accent1"/>
          </a:solidFill>
          <a:ln w="12700">
            <a:solidFill>
              <a:schemeClr val="accent1"/>
            </a:solidFill>
            <a:prstDash val="solid"/>
          </a:ln>
        </p:spPr>
      </p:sp>
      <p:sp>
        <p:nvSpPr>
          <p:cNvPr id="13" name="Text 11"/>
          <p:cNvSpPr txBox="1"/>
          <p:nvPr/>
        </p:nvSpPr>
        <p:spPr>
          <a:xfrm>
            <a:off x="731520" y="4242816"/>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4" name="Text 12"/>
          <p:cNvSpPr txBox="1"/>
          <p:nvPr/>
        </p:nvSpPr>
        <p:spPr>
          <a:xfrm>
            <a:off x="1737360" y="4224528"/>
            <a:ext cx="8686800" cy="822960"/>
          </a:xfrm>
          <a:prstGeom prst="rect">
            <a:avLst/>
          </a:prstGeom>
          <a:noFill/>
          <a:ln/>
        </p:spPr>
        <p:txBody>
          <a:bodyPr wrap="square" lIns="0" tIns="0" rIns="0" bIns="0" rtlCol="0" anchor="ctr"/>
          <a:lstStyle/>
          <a:p>
            <a:pPr indent="0" marL="0">
              <a:buNone/>
            </a:pPr>
            <a:r>
              <a:rPr lang="en-US" sz="2200" b="1" dirty="0">
                <a:solidFill>
                  <a:schemeClr val="tx2"/>
                </a:solidFill>
              </a:rPr>
              <a:t>Velocidade da conexão</a:t>
            </a:r>
            <a:endParaRPr lang="en-US" sz="1800" dirty="0"/>
          </a:p>
          <a:p>
            <a:pPr indent="0" marL="0">
              <a:buNone/>
            </a:pPr>
            <a:r>
              <a:rPr lang="en-US" sz="1600" dirty="0">
                <a:solidFill>
                  <a:schemeClr val="accent5"/>
                </a:solidFill>
              </a:rPr>
              <a:t>Como medir e entender os números</a:t>
            </a:r>
            <a:endParaRPr lang="en-US" sz="1800" dirty="0"/>
          </a:p>
        </p:txBody>
      </p:sp>
      <p:sp>
        <p:nvSpPr>
          <p:cNvPr id="15" name="Shape 13"/>
          <p:cNvSpPr/>
          <p:nvPr/>
        </p:nvSpPr>
        <p:spPr>
          <a:xfrm>
            <a:off x="731520" y="5184648"/>
            <a:ext cx="731520" cy="731520"/>
          </a:xfrm>
          <a:prstGeom prst="ellipse">
            <a:avLst/>
          </a:prstGeom>
          <a:solidFill>
            <a:schemeClr val="accent2"/>
          </a:solidFill>
          <a:ln w="12700">
            <a:solidFill>
              <a:schemeClr val="accent2"/>
            </a:solidFill>
            <a:prstDash val="solid"/>
          </a:ln>
        </p:spPr>
      </p:sp>
      <p:sp>
        <p:nvSpPr>
          <p:cNvPr id="16" name="Text 14"/>
          <p:cNvSpPr txBox="1"/>
          <p:nvPr/>
        </p:nvSpPr>
        <p:spPr>
          <a:xfrm>
            <a:off x="731520" y="5184648"/>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a:t>
            </a:r>
            <a:endParaRPr lang="en-US" sz="2400" dirty="0"/>
          </a:p>
        </p:txBody>
      </p:sp>
      <p:sp>
        <p:nvSpPr>
          <p:cNvPr id="17" name="Text 15"/>
          <p:cNvSpPr txBox="1"/>
          <p:nvPr/>
        </p:nvSpPr>
        <p:spPr>
          <a:xfrm>
            <a:off x="1737360" y="5166360"/>
            <a:ext cx="8686800" cy="822960"/>
          </a:xfrm>
          <a:prstGeom prst="rect">
            <a:avLst/>
          </a:prstGeom>
          <a:noFill/>
          <a:ln/>
        </p:spPr>
        <p:txBody>
          <a:bodyPr wrap="square" lIns="0" tIns="0" rIns="0" bIns="0" rtlCol="0" anchor="ctr"/>
          <a:lstStyle/>
          <a:p>
            <a:pPr indent="0" marL="0">
              <a:buNone/>
            </a:pPr>
            <a:r>
              <a:rPr lang="en-US" sz="2200" b="1" dirty="0">
                <a:solidFill>
                  <a:schemeClr val="tx2"/>
                </a:solidFill>
              </a:rPr>
              <a:t>Mão na massa</a:t>
            </a:r>
            <a:endParaRPr lang="en-US" sz="1800" dirty="0"/>
          </a:p>
          <a:p>
            <a:pPr indent="0" marL="0">
              <a:buNone/>
            </a:pPr>
            <a:r>
              <a:rPr lang="en-US" sz="1600" dirty="0">
                <a:solidFill>
                  <a:schemeClr val="accent5"/>
                </a:solidFill>
              </a:rPr>
              <a:t>Teste e pesquisa no computador</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Vamos conversar?</a:t>
            </a:r>
            <a:endParaRPr lang="en-US" sz="3400" dirty="0"/>
          </a:p>
        </p:txBody>
      </p:sp>
      <p:sp>
        <p:nvSpPr>
          <p:cNvPr id="3" name="Selo atividade"/>
          <p:cNvSpPr/>
          <p:nvPr/>
        </p:nvSpPr>
        <p:spPr>
          <a:xfrm>
            <a:off x="8503920" y="502920"/>
            <a:ext cx="2377440" cy="502920"/>
          </a:xfrm>
          <a:prstGeom prst="roundRect">
            <a:avLst>
              <a:gd name="adj" fmla="val 49091"/>
            </a:avLst>
          </a:prstGeom>
          <a:solidFill>
            <a:schemeClr val="accent2"/>
          </a:solidFill>
          <a:ln w="12700">
            <a:solidFill>
              <a:schemeClr val="accent2"/>
            </a:solidFill>
            <a:prstDash val="solid"/>
          </a:ln>
        </p:spPr>
      </p:sp>
      <p:sp>
        <p:nvSpPr>
          <p:cNvPr id="4" name="Text 2"/>
          <p:cNvSpPr txBox="1"/>
          <p:nvPr/>
        </p:nvSpPr>
        <p:spPr>
          <a:xfrm>
            <a:off x="8503920" y="50292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rPr>
              <a:t>CONVERSA</a:t>
            </a:r>
            <a:endParaRPr lang="en-US" sz="1500" dirty="0"/>
          </a:p>
        </p:txBody>
      </p:sp>
      <p:sp>
        <p:nvSpPr>
          <p:cNvPr id="5" name="Pergunta 1"/>
          <p:cNvSpPr/>
          <p:nvPr/>
        </p:nvSpPr>
        <p:spPr>
          <a:xfrm>
            <a:off x="548640" y="1463040"/>
            <a:ext cx="3474720" cy="3200400"/>
          </a:xfrm>
          <a:prstGeom prst="roundRect">
            <a:avLst>
              <a:gd name="adj" fmla="val 4286"/>
            </a:avLst>
          </a:prstGeom>
          <a:solidFill>
            <a:schemeClr val="bg2"/>
          </a:solidFill>
          <a:ln w="12700">
            <a:solidFill>
              <a:schemeClr val="bg2"/>
            </a:solidFill>
            <a:prstDash val="solid"/>
          </a:ln>
        </p:spPr>
      </p:sp>
      <p:sp>
        <p:nvSpPr>
          <p:cNvPr id="6" name="Shape 4"/>
          <p:cNvSpPr/>
          <p:nvPr/>
        </p:nvSpPr>
        <p:spPr>
          <a:xfrm>
            <a:off x="1737360" y="1783080"/>
            <a:ext cx="1097280" cy="1097280"/>
          </a:xfrm>
          <a:prstGeom prst="ellipse">
            <a:avLst/>
          </a:prstGeom>
          <a:solidFill>
            <a:srgbClr val="2F9E41"/>
          </a:solidFill>
          <a:ln w="12700">
            <a:solidFill>
              <a:srgbClr val="2F9E41"/>
            </a:solidFill>
            <a:prstDash val="solid"/>
          </a:ln>
        </p:spPr>
      </p:sp>
      <p:pic>
        <p:nvPicPr>
          <p:cNvPr id="7" name="Image 0" descr="preencoded.png">    </p:cNvPr>
          <p:cNvPicPr>
            <a:picLocks noChangeAspect="1"/>
          </p:cNvPicPr>
          <p:nvPr/>
        </p:nvPicPr>
        <p:blipFill>
          <a:blip r:embed="rId1"/>
          <a:stretch>
            <a:fillRect/>
          </a:stretch>
        </p:blipFill>
        <p:spPr>
          <a:xfrm>
            <a:off x="2011680" y="2057400"/>
            <a:ext cx="548640" cy="548640"/>
          </a:xfrm>
          <a:prstGeom prst="rect">
            <a:avLst/>
          </a:prstGeom>
        </p:spPr>
      </p:pic>
      <p:sp>
        <p:nvSpPr>
          <p:cNvPr id="8" name="Text 5"/>
          <p:cNvSpPr txBox="1"/>
          <p:nvPr/>
        </p:nvSpPr>
        <p:spPr>
          <a:xfrm>
            <a:off x="822960" y="3108960"/>
            <a:ext cx="2926080" cy="1371600"/>
          </a:xfrm>
          <a:prstGeom prst="rect">
            <a:avLst/>
          </a:prstGeom>
          <a:noFill/>
          <a:ln/>
        </p:spPr>
        <p:txBody>
          <a:bodyPr wrap="square" lIns="0" tIns="0" rIns="0" bIns="0" rtlCol="0" anchor="t"/>
          <a:lstStyle/>
          <a:p>
            <a:pPr algn="ctr" indent="0" marL="0">
              <a:buNone/>
            </a:pPr>
            <a:r>
              <a:rPr lang="en-US" sz="2200" b="1" dirty="0">
                <a:solidFill>
                  <a:schemeClr val="tx2"/>
                </a:solidFill>
              </a:rPr>
              <a:t>Você tem Wi-Fi em casa?</a:t>
            </a:r>
            <a:endParaRPr lang="en-US" sz="2200" dirty="0"/>
          </a:p>
        </p:txBody>
      </p:sp>
      <p:sp>
        <p:nvSpPr>
          <p:cNvPr id="9" name="Pergunta 2"/>
          <p:cNvSpPr/>
          <p:nvPr/>
        </p:nvSpPr>
        <p:spPr>
          <a:xfrm>
            <a:off x="4297680" y="1463040"/>
            <a:ext cx="3474720" cy="3200400"/>
          </a:xfrm>
          <a:prstGeom prst="roundRect">
            <a:avLst>
              <a:gd name="adj" fmla="val 4286"/>
            </a:avLst>
          </a:prstGeom>
          <a:solidFill>
            <a:schemeClr val="bg2"/>
          </a:solidFill>
          <a:ln w="12700">
            <a:solidFill>
              <a:schemeClr val="bg2"/>
            </a:solidFill>
            <a:prstDash val="solid"/>
          </a:ln>
        </p:spPr>
      </p:sp>
      <p:sp>
        <p:nvSpPr>
          <p:cNvPr id="10" name="Shape 7"/>
          <p:cNvSpPr/>
          <p:nvPr/>
        </p:nvSpPr>
        <p:spPr>
          <a:xfrm>
            <a:off x="5486400" y="1783080"/>
            <a:ext cx="1097280" cy="1097280"/>
          </a:xfrm>
          <a:prstGeom prst="ellipse">
            <a:avLst/>
          </a:prstGeom>
          <a:solidFill>
            <a:srgbClr val="2F9E41"/>
          </a:solidFill>
          <a:ln w="12700">
            <a:solidFill>
              <a:srgbClr val="2F9E41"/>
            </a:solidFill>
            <a:prstDash val="solid"/>
          </a:ln>
        </p:spPr>
      </p:sp>
      <p:pic>
        <p:nvPicPr>
          <p:cNvPr id="11" name="Image 1" descr="preencoded.png">    </p:cNvPr>
          <p:cNvPicPr>
            <a:picLocks noChangeAspect="1"/>
          </p:cNvPicPr>
          <p:nvPr/>
        </p:nvPicPr>
        <p:blipFill>
          <a:blip r:embed="rId2"/>
          <a:stretch>
            <a:fillRect/>
          </a:stretch>
        </p:blipFill>
        <p:spPr>
          <a:xfrm>
            <a:off x="5760720" y="2057400"/>
            <a:ext cx="548640" cy="548640"/>
          </a:xfrm>
          <a:prstGeom prst="rect">
            <a:avLst/>
          </a:prstGeom>
        </p:spPr>
      </p:pic>
      <p:sp>
        <p:nvSpPr>
          <p:cNvPr id="12" name="Text 8"/>
          <p:cNvSpPr txBox="1"/>
          <p:nvPr/>
        </p:nvSpPr>
        <p:spPr>
          <a:xfrm>
            <a:off x="4572000" y="3108960"/>
            <a:ext cx="2926080" cy="1371600"/>
          </a:xfrm>
          <a:prstGeom prst="rect">
            <a:avLst/>
          </a:prstGeom>
          <a:noFill/>
          <a:ln/>
        </p:spPr>
        <p:txBody>
          <a:bodyPr wrap="square" lIns="0" tIns="0" rIns="0" bIns="0" rtlCol="0" anchor="t"/>
          <a:lstStyle/>
          <a:p>
            <a:pPr algn="ctr" indent="0" marL="0">
              <a:buNone/>
            </a:pPr>
            <a:r>
              <a:rPr lang="en-US" sz="2200" b="1" dirty="0">
                <a:solidFill>
                  <a:schemeClr val="tx2"/>
                </a:solidFill>
              </a:rPr>
              <a:t>Você manda áudios e fotos pelo celular?</a:t>
            </a:r>
            <a:endParaRPr lang="en-US" sz="2200" dirty="0"/>
          </a:p>
        </p:txBody>
      </p:sp>
      <p:sp>
        <p:nvSpPr>
          <p:cNvPr id="13" name="Pergunta 3"/>
          <p:cNvSpPr/>
          <p:nvPr/>
        </p:nvSpPr>
        <p:spPr>
          <a:xfrm>
            <a:off x="8046720" y="1463040"/>
            <a:ext cx="3474720" cy="3200400"/>
          </a:xfrm>
          <a:prstGeom prst="roundRect">
            <a:avLst>
              <a:gd name="adj" fmla="val 4286"/>
            </a:avLst>
          </a:prstGeom>
          <a:solidFill>
            <a:schemeClr val="bg2"/>
          </a:solidFill>
          <a:ln w="12700">
            <a:solidFill>
              <a:schemeClr val="bg2"/>
            </a:solidFill>
            <a:prstDash val="solid"/>
          </a:ln>
        </p:spPr>
      </p:sp>
      <p:sp>
        <p:nvSpPr>
          <p:cNvPr id="14" name="Shape 10"/>
          <p:cNvSpPr/>
          <p:nvPr/>
        </p:nvSpPr>
        <p:spPr>
          <a:xfrm>
            <a:off x="9235440" y="1783080"/>
            <a:ext cx="1097280" cy="1097280"/>
          </a:xfrm>
          <a:prstGeom prst="ellipse">
            <a:avLst/>
          </a:prstGeom>
          <a:solidFill>
            <a:srgbClr val="2F9E41"/>
          </a:solidFill>
          <a:ln w="12700">
            <a:solidFill>
              <a:srgbClr val="2F9E41"/>
            </a:solidFill>
            <a:prstDash val="solid"/>
          </a:ln>
        </p:spPr>
      </p:sp>
      <p:pic>
        <p:nvPicPr>
          <p:cNvPr id="15" name="Image 2" descr="preencoded.png">    </p:cNvPr>
          <p:cNvPicPr>
            <a:picLocks noChangeAspect="1"/>
          </p:cNvPicPr>
          <p:nvPr/>
        </p:nvPicPr>
        <p:blipFill>
          <a:blip r:embed="rId3"/>
          <a:stretch>
            <a:fillRect/>
          </a:stretch>
        </p:blipFill>
        <p:spPr>
          <a:xfrm>
            <a:off x="9509760" y="2057400"/>
            <a:ext cx="548640" cy="548640"/>
          </a:xfrm>
          <a:prstGeom prst="rect">
            <a:avLst/>
          </a:prstGeom>
        </p:spPr>
      </p:pic>
      <p:sp>
        <p:nvSpPr>
          <p:cNvPr id="16" name="Text 11"/>
          <p:cNvSpPr txBox="1"/>
          <p:nvPr/>
        </p:nvSpPr>
        <p:spPr>
          <a:xfrm>
            <a:off x="8321040" y="3108960"/>
            <a:ext cx="2926080" cy="1371600"/>
          </a:xfrm>
          <a:prstGeom prst="rect">
            <a:avLst/>
          </a:prstGeom>
          <a:noFill/>
          <a:ln/>
        </p:spPr>
        <p:txBody>
          <a:bodyPr wrap="square" lIns="0" tIns="0" rIns="0" bIns="0" rtlCol="0" anchor="t"/>
          <a:lstStyle/>
          <a:p>
            <a:pPr algn="ctr" indent="0" marL="0">
              <a:buNone/>
            </a:pPr>
            <a:r>
              <a:rPr lang="en-US" sz="2200" b="1" dirty="0">
                <a:solidFill>
                  <a:schemeClr val="tx2"/>
                </a:solidFill>
              </a:rPr>
              <a:t>Já usou banco, Gov.br ou Meu INSS pelo celular?</a:t>
            </a:r>
            <a:endParaRPr lang="en-US" sz="2200" dirty="0"/>
          </a:p>
        </p:txBody>
      </p:sp>
      <p:sp>
        <p:nvSpPr>
          <p:cNvPr id="17" name="Text 12"/>
          <p:cNvSpPr txBox="1"/>
          <p:nvPr/>
        </p:nvSpPr>
        <p:spPr>
          <a:xfrm>
            <a:off x="548640" y="5029200"/>
            <a:ext cx="10972800" cy="731520"/>
          </a:xfrm>
          <a:prstGeom prst="rect">
            <a:avLst/>
          </a:prstGeom>
          <a:noFill/>
          <a:ln/>
        </p:spPr>
        <p:txBody>
          <a:bodyPr wrap="square" lIns="0" tIns="0" rIns="0" bIns="0" rtlCol="0" anchor="ctr"/>
          <a:lstStyle/>
          <a:p>
            <a:pPr algn="ctr" indent="0" marL="0">
              <a:buNone/>
            </a:pPr>
            <a:r>
              <a:rPr lang="en-US" sz="2400" dirty="0">
                <a:solidFill>
                  <a:schemeClr val="tx1"/>
                </a:solidFill>
              </a:rPr>
              <a:t>Tudo isso só funciona porque existe uma </a:t>
            </a:r>
            <a:pPr algn="ctr" indent="0" marL="0">
              <a:buNone/>
            </a:pPr>
            <a:r>
              <a:rPr lang="en-US" sz="2400" b="1" dirty="0">
                <a:solidFill>
                  <a:schemeClr val="accent2"/>
                </a:solidFill>
              </a:rPr>
              <a:t>REDE</a:t>
            </a:r>
            <a:pPr algn="ctr" indent="0" marL="0">
              <a:buNone/>
            </a:pPr>
            <a:r>
              <a:rPr lang="en-US" sz="2400" dirty="0">
                <a:solidFill>
                  <a:schemeClr val="tx1"/>
                </a:solidFill>
              </a:rPr>
              <a:t> ligando os aparelhos.</a:t>
            </a:r>
            <a:endParaRPr lang="en-US" sz="24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O que é uma rede de computadores?</a:t>
            </a:r>
            <a:endParaRPr lang="en-US" sz="3400" dirty="0"/>
          </a:p>
        </p:txBody>
      </p:sp>
      <p:sp>
        <p:nvSpPr>
          <p:cNvPr id="3" name="Text 1"/>
          <p:cNvSpPr txBox="1"/>
          <p:nvPr/>
        </p:nvSpPr>
        <p:spPr>
          <a:xfrm>
            <a:off x="548640" y="1554480"/>
            <a:ext cx="5303520" cy="2011680"/>
          </a:xfrm>
          <a:prstGeom prst="rect">
            <a:avLst/>
          </a:prstGeom>
          <a:noFill/>
          <a:ln/>
        </p:spPr>
        <p:txBody>
          <a:bodyPr wrap="square" lIns="0" tIns="0" rIns="0" bIns="0" rtlCol="0" anchor="t"/>
          <a:lstStyle/>
          <a:p>
            <a:pPr indent="0" marL="0">
              <a:buNone/>
            </a:pPr>
            <a:r>
              <a:rPr lang="en-US" sz="2800" dirty="0">
                <a:solidFill>
                  <a:schemeClr val="tx1"/>
                </a:solidFill>
              </a:rPr>
              <a:t>É quando dois ou mais aparelhos estão </a:t>
            </a:r>
            <a:pPr indent="0" marL="0">
              <a:buNone/>
            </a:pPr>
            <a:r>
              <a:rPr lang="en-US" sz="2800" b="1" dirty="0">
                <a:solidFill>
                  <a:schemeClr val="accent1"/>
                </a:solidFill>
              </a:rPr>
              <a:t>ligados entre si</a:t>
            </a:r>
            <a:pPr indent="0" marL="0">
              <a:buNone/>
            </a:pPr>
            <a:r>
              <a:rPr lang="en-US" sz="2800" dirty="0">
                <a:solidFill>
                  <a:schemeClr val="tx1"/>
                </a:solidFill>
              </a:rPr>
              <a:t> para </a:t>
            </a:r>
            <a:pPr indent="0" marL="0">
              <a:buNone/>
            </a:pPr>
            <a:r>
              <a:rPr lang="en-US" sz="2800" b="1" dirty="0">
                <a:solidFill>
                  <a:schemeClr val="accent1"/>
                </a:solidFill>
              </a:rPr>
              <a:t>trocar informações</a:t>
            </a:r>
            <a:pPr indent="0" marL="0">
              <a:buNone/>
            </a:pPr>
            <a:r>
              <a:rPr lang="en-US" sz="2800" dirty="0">
                <a:solidFill>
                  <a:schemeClr val="tx1"/>
                </a:solidFill>
              </a:rPr>
              <a:t> e </a:t>
            </a:r>
            <a:pPr indent="0" marL="0">
              <a:buNone/>
            </a:pPr>
            <a:r>
              <a:rPr lang="en-US" sz="2800" b="1" dirty="0">
                <a:solidFill>
                  <a:schemeClr val="accent1"/>
                </a:solidFill>
              </a:rPr>
              <a:t>dividir recursos</a:t>
            </a:r>
            <a:pPr indent="0" marL="0">
              <a:buNone/>
            </a:pPr>
            <a:r>
              <a:rPr lang="en-US" sz="2800" dirty="0">
                <a:solidFill>
                  <a:schemeClr val="tx1"/>
                </a:solidFill>
              </a:rPr>
              <a:t>.</a:t>
            </a:r>
            <a:endParaRPr lang="en-US" sz="2800" dirty="0"/>
          </a:p>
        </p:txBody>
      </p:sp>
      <p:sp>
        <p:nvSpPr>
          <p:cNvPr id="4" name="Comparação"/>
          <p:cNvSpPr/>
          <p:nvPr/>
        </p:nvSpPr>
        <p:spPr>
          <a:xfrm>
            <a:off x="548640" y="3931920"/>
            <a:ext cx="5303520" cy="1737360"/>
          </a:xfrm>
          <a:prstGeom prst="roundRect">
            <a:avLst>
              <a:gd name="adj" fmla="val 7895"/>
            </a:avLst>
          </a:prstGeom>
          <a:solidFill>
            <a:schemeClr val="bg2"/>
          </a:solidFill>
          <a:ln w="12700">
            <a:solidFill>
              <a:schemeClr val="bg2"/>
            </a:solidFill>
            <a:prstDash val="solid"/>
          </a:ln>
        </p:spPr>
      </p:sp>
      <p:sp>
        <p:nvSpPr>
          <p:cNvPr id="5" name="Text 3"/>
          <p:cNvSpPr txBox="1"/>
          <p:nvPr/>
        </p:nvSpPr>
        <p:spPr>
          <a:xfrm>
            <a:off x="822960" y="4114800"/>
            <a:ext cx="4754880" cy="1463040"/>
          </a:xfrm>
          <a:prstGeom prst="rect">
            <a:avLst/>
          </a:prstGeom>
          <a:noFill/>
          <a:ln/>
        </p:spPr>
        <p:txBody>
          <a:bodyPr wrap="square" lIns="0" tIns="0" rIns="0" bIns="0" rtlCol="0" anchor="t"/>
          <a:lstStyle/>
          <a:p>
            <a:pPr indent="0" marL="0">
              <a:buNone/>
            </a:pPr>
            <a:r>
              <a:rPr lang="en-US" sz="1800" b="1" dirty="0">
                <a:solidFill>
                  <a:schemeClr val="tx2"/>
                </a:solidFill>
              </a:rPr>
              <a:t>Pense assim: </a:t>
            </a:r>
            <a:pPr indent="0" marL="0">
              <a:buNone/>
            </a:pPr>
            <a:r>
              <a:rPr lang="en-US" sz="1800" dirty="0">
                <a:solidFill>
                  <a:schemeClr val="tx1"/>
                </a:solidFill>
              </a:rPr>
              <a:t>uma rede é como as ruas de uma cidade. As casas são os aparelhos, as ruas são os cabos ou o Wi-Fi, e as informações são as cartas que vão de um lugar para outro.</a:t>
            </a:r>
            <a:endParaRPr lang="en-US" sz="1800" dirty="0"/>
          </a:p>
        </p:txBody>
      </p:sp>
      <p:sp>
        <p:nvSpPr>
          <p:cNvPr id="6" name="Shape 4"/>
          <p:cNvSpPr/>
          <p:nvPr/>
        </p:nvSpPr>
        <p:spPr>
          <a:xfrm>
            <a:off x="7269480" y="2057400"/>
            <a:ext cx="1508760" cy="1508760"/>
          </a:xfrm>
          <a:prstGeom prst="line">
            <a:avLst/>
          </a:prstGeom>
          <a:noFill/>
          <a:ln w="31750">
            <a:solidFill>
              <a:srgbClr val="5F6B62"/>
            </a:solidFill>
            <a:prstDash val="solid"/>
          </a:ln>
        </p:spPr>
      </p:sp>
      <p:sp>
        <p:nvSpPr>
          <p:cNvPr id="7" name="Shape 5"/>
          <p:cNvSpPr/>
          <p:nvPr/>
        </p:nvSpPr>
        <p:spPr>
          <a:xfrm flipV="1">
            <a:off x="8778240" y="2057400"/>
            <a:ext cx="1783080" cy="1508760"/>
          </a:xfrm>
          <a:prstGeom prst="line">
            <a:avLst/>
          </a:prstGeom>
          <a:noFill/>
          <a:ln w="31750">
            <a:solidFill>
              <a:srgbClr val="5F6B62"/>
            </a:solidFill>
            <a:prstDash val="solid"/>
          </a:ln>
        </p:spPr>
      </p:sp>
      <p:sp>
        <p:nvSpPr>
          <p:cNvPr id="8" name="Shape 6"/>
          <p:cNvSpPr/>
          <p:nvPr/>
        </p:nvSpPr>
        <p:spPr>
          <a:xfrm flipV="1">
            <a:off x="7269480" y="3566160"/>
            <a:ext cx="1508760" cy="1600200"/>
          </a:xfrm>
          <a:prstGeom prst="line">
            <a:avLst/>
          </a:prstGeom>
          <a:noFill/>
          <a:ln w="31750">
            <a:solidFill>
              <a:srgbClr val="5F6B62"/>
            </a:solidFill>
            <a:prstDash val="solid"/>
          </a:ln>
        </p:spPr>
      </p:sp>
      <p:sp>
        <p:nvSpPr>
          <p:cNvPr id="9" name="Shape 7"/>
          <p:cNvSpPr/>
          <p:nvPr/>
        </p:nvSpPr>
        <p:spPr>
          <a:xfrm>
            <a:off x="8778240" y="3566160"/>
            <a:ext cx="1783080" cy="1600200"/>
          </a:xfrm>
          <a:prstGeom prst="line">
            <a:avLst/>
          </a:prstGeom>
          <a:noFill/>
          <a:ln w="31750">
            <a:solidFill>
              <a:srgbClr val="5F6B62"/>
            </a:solidFill>
            <a:prstDash val="solid"/>
          </a:ln>
        </p:spPr>
      </p:sp>
      <p:sp>
        <p:nvSpPr>
          <p:cNvPr id="10" name="Shape 8"/>
          <p:cNvSpPr/>
          <p:nvPr/>
        </p:nvSpPr>
        <p:spPr>
          <a:xfrm>
            <a:off x="6766560" y="1554480"/>
            <a:ext cx="1005840" cy="1005840"/>
          </a:xfrm>
          <a:prstGeom prst="ellipse">
            <a:avLst/>
          </a:prstGeom>
          <a:solidFill>
            <a:srgbClr val="2F9E41"/>
          </a:solidFill>
          <a:ln w="12700">
            <a:solidFill>
              <a:srgbClr val="2F9E41"/>
            </a:solidFill>
            <a:prstDash val="solid"/>
          </a:ln>
        </p:spPr>
      </p:sp>
      <p:pic>
        <p:nvPicPr>
          <p:cNvPr id="11" name="Image 0" descr="preencoded.png">    </p:cNvPr>
          <p:cNvPicPr>
            <a:picLocks noChangeAspect="1"/>
          </p:cNvPicPr>
          <p:nvPr/>
        </p:nvPicPr>
        <p:blipFill>
          <a:blip r:embed="rId1"/>
          <a:stretch>
            <a:fillRect/>
          </a:stretch>
        </p:blipFill>
        <p:spPr>
          <a:xfrm>
            <a:off x="7018020" y="1805940"/>
            <a:ext cx="502920" cy="502920"/>
          </a:xfrm>
          <a:prstGeom prst="rect">
            <a:avLst/>
          </a:prstGeom>
        </p:spPr>
      </p:pic>
      <p:sp>
        <p:nvSpPr>
          <p:cNvPr id="12" name="Shape 9"/>
          <p:cNvSpPr/>
          <p:nvPr/>
        </p:nvSpPr>
        <p:spPr>
          <a:xfrm>
            <a:off x="10058400" y="1554480"/>
            <a:ext cx="1005840" cy="1005840"/>
          </a:xfrm>
          <a:prstGeom prst="ellipse">
            <a:avLst/>
          </a:prstGeom>
          <a:solidFill>
            <a:srgbClr val="2F9E41"/>
          </a:solidFill>
          <a:ln w="12700">
            <a:solidFill>
              <a:srgbClr val="2F9E41"/>
            </a:solidFill>
            <a:prstDash val="solid"/>
          </a:ln>
        </p:spPr>
      </p:sp>
      <p:pic>
        <p:nvPicPr>
          <p:cNvPr id="13" name="Image 1" descr="preencoded.png">    </p:cNvPr>
          <p:cNvPicPr>
            <a:picLocks noChangeAspect="1"/>
          </p:cNvPicPr>
          <p:nvPr/>
        </p:nvPicPr>
        <p:blipFill>
          <a:blip r:embed="rId2"/>
          <a:stretch>
            <a:fillRect/>
          </a:stretch>
        </p:blipFill>
        <p:spPr>
          <a:xfrm>
            <a:off x="10309860" y="1805940"/>
            <a:ext cx="502920" cy="502920"/>
          </a:xfrm>
          <a:prstGeom prst="rect">
            <a:avLst/>
          </a:prstGeom>
        </p:spPr>
      </p:pic>
      <p:sp>
        <p:nvSpPr>
          <p:cNvPr id="14" name="Shape 10"/>
          <p:cNvSpPr/>
          <p:nvPr/>
        </p:nvSpPr>
        <p:spPr>
          <a:xfrm>
            <a:off x="6766560" y="4663440"/>
            <a:ext cx="1005840" cy="1005840"/>
          </a:xfrm>
          <a:prstGeom prst="ellipse">
            <a:avLst/>
          </a:prstGeom>
          <a:solidFill>
            <a:srgbClr val="2F9E41"/>
          </a:solidFill>
          <a:ln w="12700">
            <a:solidFill>
              <a:srgbClr val="2F9E41"/>
            </a:solidFill>
            <a:prstDash val="solid"/>
          </a:ln>
        </p:spPr>
      </p:sp>
      <p:pic>
        <p:nvPicPr>
          <p:cNvPr id="15" name="Image 2" descr="preencoded.png">    </p:cNvPr>
          <p:cNvPicPr>
            <a:picLocks noChangeAspect="1"/>
          </p:cNvPicPr>
          <p:nvPr/>
        </p:nvPicPr>
        <p:blipFill>
          <a:blip r:embed="rId3"/>
          <a:stretch>
            <a:fillRect/>
          </a:stretch>
        </p:blipFill>
        <p:spPr>
          <a:xfrm>
            <a:off x="7018020" y="4914900"/>
            <a:ext cx="502920" cy="502920"/>
          </a:xfrm>
          <a:prstGeom prst="rect">
            <a:avLst/>
          </a:prstGeom>
        </p:spPr>
      </p:pic>
      <p:sp>
        <p:nvSpPr>
          <p:cNvPr id="16" name="Shape 11"/>
          <p:cNvSpPr/>
          <p:nvPr/>
        </p:nvSpPr>
        <p:spPr>
          <a:xfrm>
            <a:off x="10058400" y="4663440"/>
            <a:ext cx="1005840" cy="1005840"/>
          </a:xfrm>
          <a:prstGeom prst="ellipse">
            <a:avLst/>
          </a:prstGeom>
          <a:solidFill>
            <a:srgbClr val="2F9E41"/>
          </a:solidFill>
          <a:ln w="12700">
            <a:solidFill>
              <a:srgbClr val="2F9E41"/>
            </a:solidFill>
            <a:prstDash val="solid"/>
          </a:ln>
        </p:spPr>
      </p:sp>
      <p:pic>
        <p:nvPicPr>
          <p:cNvPr id="17" name="Image 3" descr="preencoded.png">    </p:cNvPr>
          <p:cNvPicPr>
            <a:picLocks noChangeAspect="1"/>
          </p:cNvPicPr>
          <p:nvPr/>
        </p:nvPicPr>
        <p:blipFill>
          <a:blip r:embed="rId4"/>
          <a:stretch>
            <a:fillRect/>
          </a:stretch>
        </p:blipFill>
        <p:spPr>
          <a:xfrm>
            <a:off x="10309860" y="4914900"/>
            <a:ext cx="502920" cy="502920"/>
          </a:xfrm>
          <a:prstGeom prst="rect">
            <a:avLst/>
          </a:prstGeom>
        </p:spPr>
      </p:pic>
      <p:sp>
        <p:nvSpPr>
          <p:cNvPr id="18" name="Shape 12"/>
          <p:cNvSpPr/>
          <p:nvPr/>
        </p:nvSpPr>
        <p:spPr>
          <a:xfrm>
            <a:off x="8183880" y="2971800"/>
            <a:ext cx="1188720" cy="1188720"/>
          </a:xfrm>
          <a:prstGeom prst="ellipse">
            <a:avLst/>
          </a:prstGeom>
          <a:solidFill>
            <a:srgbClr val="C8191E"/>
          </a:solidFill>
          <a:ln w="12700">
            <a:solidFill>
              <a:srgbClr val="C8191E"/>
            </a:solidFill>
            <a:prstDash val="solid"/>
          </a:ln>
        </p:spPr>
      </p:sp>
      <p:pic>
        <p:nvPicPr>
          <p:cNvPr id="19" name="Image 4" descr="preencoded.png">    </p:cNvPr>
          <p:cNvPicPr>
            <a:picLocks noChangeAspect="1"/>
          </p:cNvPicPr>
          <p:nvPr/>
        </p:nvPicPr>
        <p:blipFill>
          <a:blip r:embed="rId5"/>
          <a:stretch>
            <a:fillRect/>
          </a:stretch>
        </p:blipFill>
        <p:spPr>
          <a:xfrm>
            <a:off x="8481060" y="3268980"/>
            <a:ext cx="594360" cy="594360"/>
          </a:xfrm>
          <a:prstGeom prst="rect">
            <a:avLst/>
          </a:prstGeom>
        </p:spPr>
      </p:pic>
      <p:sp>
        <p:nvSpPr>
          <p:cNvPr id="20" name="Text 13"/>
          <p:cNvSpPr txBox="1"/>
          <p:nvPr/>
        </p:nvSpPr>
        <p:spPr>
          <a:xfrm>
            <a:off x="7863840" y="4206240"/>
            <a:ext cx="1828800" cy="365760"/>
          </a:xfrm>
          <a:prstGeom prst="rect">
            <a:avLst/>
          </a:prstGeom>
          <a:noFill/>
          <a:ln/>
        </p:spPr>
        <p:txBody>
          <a:bodyPr wrap="square" lIns="0" tIns="0" rIns="0" bIns="0" rtlCol="0" anchor="t"/>
          <a:lstStyle/>
          <a:p>
            <a:pPr algn="ctr" indent="0" marL="0">
              <a:buNone/>
            </a:pPr>
            <a:r>
              <a:rPr lang="en-US" sz="1400" dirty="0">
                <a:solidFill>
                  <a:schemeClr val="accent5"/>
                </a:solidFill>
              </a:rPr>
              <a:t>roteador</a:t>
            </a:r>
            <a:endParaRPr lang="en-US" sz="14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8229600" cy="1097280"/>
          </a:xfrm>
          <a:prstGeom prst="rect">
            <a:avLst/>
          </a:prstGeom>
          <a:noFill/>
          <a:ln/>
        </p:spPr>
        <p:txBody>
          <a:bodyPr wrap="square" lIns="0" tIns="0" rIns="0" bIns="0" rtlCol="0"/>
          <a:lstStyle/>
          <a:p>
            <a:pPr algn="l" indent="0" marL="0">
              <a:buNone/>
            </a:pPr>
            <a:r>
              <a:rPr lang="en-US" sz="6000" b="1" dirty="0">
                <a:solidFill>
                  <a:schemeClr val="tx2"/>
                </a:solidFill>
              </a:rPr>
              <a:t>1.5.1</a:t>
            </a:r>
            <a:endParaRPr lang="en-US" sz="6000" dirty="0"/>
          </a:p>
        </p:txBody>
      </p:sp>
      <p:sp>
        <p:nvSpPr>
          <p:cNvPr id="3" name="Text 0"/>
          <p:cNvSpPr/>
          <p:nvPr>
            <p:ph idx="102" type="title" hasCustomPrompt="1"/>
          </p:nvPr>
        </p:nvSpPr>
        <p:spPr>
          <a:xfrm>
            <a:off x="731520" y="2651760"/>
            <a:ext cx="8595360" cy="1463040"/>
          </a:xfrm>
          <a:prstGeom prst="rect">
            <a:avLst/>
          </a:prstGeom>
          <a:noFill/>
          <a:ln/>
        </p:spPr>
        <p:txBody>
          <a:bodyPr wrap="square" lIns="0" tIns="0" rIns="0" bIns="0" rtlCol="0" anchor="t"/>
          <a:lstStyle/>
          <a:p>
            <a:pPr algn="l" indent="0" marL="0">
              <a:buNone/>
            </a:pPr>
            <a:r>
              <a:rPr lang="en-US" sz="4400" b="1" dirty="0">
                <a:solidFill>
                  <a:schemeClr val="bg1"/>
                </a:solidFill>
              </a:rPr>
              <a:t>Elementos de uma rede</a:t>
            </a:r>
            <a:endParaRPr lang="en-US" sz="4400" dirty="0"/>
          </a:p>
        </p:txBody>
      </p:sp>
      <p:sp>
        <p:nvSpPr>
          <p:cNvPr id="4" name="Text 0"/>
          <p:cNvSpPr/>
          <p:nvPr>
            <p:ph idx="103" type="body" hasCustomPrompt="1"/>
          </p:nvPr>
        </p:nvSpPr>
        <p:spPr>
          <a:xfrm>
            <a:off x="731520" y="4297680"/>
            <a:ext cx="8229600" cy="1097280"/>
          </a:xfrm>
          <a:prstGeom prst="rect">
            <a:avLst/>
          </a:prstGeom>
          <a:noFill/>
          <a:ln/>
        </p:spPr>
        <p:txBody>
          <a:bodyPr wrap="square" lIns="0" tIns="0" rIns="0" bIns="0" rtlCol="0" anchor="t"/>
          <a:lstStyle/>
          <a:p>
            <a:pPr algn="l" indent="0" marL="0">
              <a:buNone/>
            </a:pPr>
            <a:r>
              <a:rPr lang="en-US" sz="2200" dirty="0">
                <a:solidFill>
                  <a:schemeClr val="bg1"/>
                </a:solidFill>
              </a:rPr>
              <a:t>O que é preciso para uma rede funcionar?</a:t>
            </a:r>
            <a:endParaRPr lang="en-US" sz="2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As peças de uma rede</a:t>
            </a:r>
            <a:endParaRPr lang="en-US" sz="3400" dirty="0"/>
          </a:p>
        </p:txBody>
      </p:sp>
      <p:sp>
        <p:nvSpPr>
          <p:cNvPr id="3" name="Elemento 1"/>
          <p:cNvSpPr/>
          <p:nvPr/>
        </p:nvSpPr>
        <p:spPr>
          <a:xfrm>
            <a:off x="548640" y="1417320"/>
            <a:ext cx="3474720" cy="2103120"/>
          </a:xfrm>
          <a:prstGeom prst="roundRect">
            <a:avLst>
              <a:gd name="adj" fmla="val 6522"/>
            </a:avLst>
          </a:prstGeom>
          <a:solidFill>
            <a:schemeClr val="bg2"/>
          </a:solidFill>
          <a:ln w="12700">
            <a:solidFill>
              <a:schemeClr val="bg2"/>
            </a:solidFill>
            <a:prstDash val="solid"/>
          </a:ln>
        </p:spPr>
      </p:sp>
      <p:sp>
        <p:nvSpPr>
          <p:cNvPr id="4" name="Shape 2"/>
          <p:cNvSpPr/>
          <p:nvPr/>
        </p:nvSpPr>
        <p:spPr>
          <a:xfrm>
            <a:off x="822960" y="1737360"/>
            <a:ext cx="914400" cy="914400"/>
          </a:xfrm>
          <a:prstGeom prst="ellipse">
            <a:avLst/>
          </a:prstGeom>
          <a:solidFill>
            <a:srgbClr val="2F9E41"/>
          </a:solidFill>
          <a:ln w="12700">
            <a:solidFill>
              <a:srgbClr val="2F9E41"/>
            </a:solidFill>
            <a:prstDash val="solid"/>
          </a:ln>
        </p:spPr>
      </p:sp>
      <p:pic>
        <p:nvPicPr>
          <p:cNvPr id="5" name="Image 0" descr="preencoded.png">    </p:cNvPr>
          <p:cNvPicPr>
            <a:picLocks noChangeAspect="1"/>
          </p:cNvPicPr>
          <p:nvPr/>
        </p:nvPicPr>
        <p:blipFill>
          <a:blip r:embed="rId1"/>
          <a:stretch>
            <a:fillRect/>
          </a:stretch>
        </p:blipFill>
        <p:spPr>
          <a:xfrm>
            <a:off x="1051560" y="1965960"/>
            <a:ext cx="457200" cy="457200"/>
          </a:xfrm>
          <a:prstGeom prst="rect">
            <a:avLst/>
          </a:prstGeom>
        </p:spPr>
      </p:pic>
      <p:sp>
        <p:nvSpPr>
          <p:cNvPr id="6" name="Text 3"/>
          <p:cNvSpPr txBox="1"/>
          <p:nvPr/>
        </p:nvSpPr>
        <p:spPr>
          <a:xfrm>
            <a:off x="1920240" y="1737360"/>
            <a:ext cx="1965960" cy="914400"/>
          </a:xfrm>
          <a:prstGeom prst="rect">
            <a:avLst/>
          </a:prstGeom>
          <a:noFill/>
          <a:ln/>
        </p:spPr>
        <p:txBody>
          <a:bodyPr wrap="square" lIns="0" tIns="0" rIns="0" bIns="0" rtlCol="0" anchor="ctr"/>
          <a:lstStyle/>
          <a:p>
            <a:pPr indent="0" marL="0">
              <a:buNone/>
            </a:pPr>
            <a:r>
              <a:rPr lang="en-US" sz="2000" b="1" dirty="0">
                <a:solidFill>
                  <a:schemeClr val="tx2"/>
                </a:solidFill>
              </a:rPr>
              <a:t>Aparelhos</a:t>
            </a:r>
            <a:endParaRPr lang="en-US" sz="2000" dirty="0"/>
          </a:p>
        </p:txBody>
      </p:sp>
      <p:sp>
        <p:nvSpPr>
          <p:cNvPr id="7" name="Text 4"/>
          <p:cNvSpPr txBox="1"/>
          <p:nvPr/>
        </p:nvSpPr>
        <p:spPr>
          <a:xfrm>
            <a:off x="822960" y="2788920"/>
            <a:ext cx="3017520" cy="640080"/>
          </a:xfrm>
          <a:prstGeom prst="rect">
            <a:avLst/>
          </a:prstGeom>
          <a:noFill/>
          <a:ln/>
        </p:spPr>
        <p:txBody>
          <a:bodyPr wrap="square" lIns="0" tIns="0" rIns="0" bIns="0" rtlCol="0" anchor="t"/>
          <a:lstStyle/>
          <a:p>
            <a:pPr indent="0" marL="0">
              <a:buNone/>
            </a:pPr>
            <a:r>
              <a:rPr lang="en-US" sz="1600" dirty="0">
                <a:solidFill>
                  <a:schemeClr val="tx1"/>
                </a:solidFill>
              </a:rPr>
              <a:t>Computador, celular, TV, impressora</a:t>
            </a:r>
            <a:endParaRPr lang="en-US" sz="1600" dirty="0"/>
          </a:p>
        </p:txBody>
      </p:sp>
      <p:sp>
        <p:nvSpPr>
          <p:cNvPr id="8" name="Elemento 2"/>
          <p:cNvSpPr/>
          <p:nvPr/>
        </p:nvSpPr>
        <p:spPr>
          <a:xfrm>
            <a:off x="4297680" y="1417320"/>
            <a:ext cx="3474720" cy="2103120"/>
          </a:xfrm>
          <a:prstGeom prst="roundRect">
            <a:avLst>
              <a:gd name="adj" fmla="val 6522"/>
            </a:avLst>
          </a:prstGeom>
          <a:solidFill>
            <a:schemeClr val="bg2"/>
          </a:solidFill>
          <a:ln w="12700">
            <a:solidFill>
              <a:schemeClr val="bg2"/>
            </a:solidFill>
            <a:prstDash val="solid"/>
          </a:ln>
        </p:spPr>
      </p:sp>
      <p:sp>
        <p:nvSpPr>
          <p:cNvPr id="9" name="Shape 6"/>
          <p:cNvSpPr/>
          <p:nvPr/>
        </p:nvSpPr>
        <p:spPr>
          <a:xfrm>
            <a:off x="4572000" y="1737360"/>
            <a:ext cx="914400" cy="914400"/>
          </a:xfrm>
          <a:prstGeom prst="ellipse">
            <a:avLst/>
          </a:prstGeom>
          <a:solidFill>
            <a:srgbClr val="2F9E41"/>
          </a:solidFill>
          <a:ln w="12700">
            <a:solidFill>
              <a:srgbClr val="2F9E41"/>
            </a:solidFill>
            <a:prstDash val="solid"/>
          </a:ln>
        </p:spPr>
      </p:sp>
      <p:pic>
        <p:nvPicPr>
          <p:cNvPr id="10" name="Image 1" descr="preencoded.png">    </p:cNvPr>
          <p:cNvPicPr>
            <a:picLocks noChangeAspect="1"/>
          </p:cNvPicPr>
          <p:nvPr/>
        </p:nvPicPr>
        <p:blipFill>
          <a:blip r:embed="rId2"/>
          <a:stretch>
            <a:fillRect/>
          </a:stretch>
        </p:blipFill>
        <p:spPr>
          <a:xfrm>
            <a:off x="4800600" y="1965960"/>
            <a:ext cx="457200" cy="457200"/>
          </a:xfrm>
          <a:prstGeom prst="rect">
            <a:avLst/>
          </a:prstGeom>
        </p:spPr>
      </p:pic>
      <p:sp>
        <p:nvSpPr>
          <p:cNvPr id="11" name="Text 7"/>
          <p:cNvSpPr txBox="1"/>
          <p:nvPr/>
        </p:nvSpPr>
        <p:spPr>
          <a:xfrm>
            <a:off x="5669280" y="1737360"/>
            <a:ext cx="1965960" cy="914400"/>
          </a:xfrm>
          <a:prstGeom prst="rect">
            <a:avLst/>
          </a:prstGeom>
          <a:noFill/>
          <a:ln/>
        </p:spPr>
        <p:txBody>
          <a:bodyPr wrap="square" lIns="0" tIns="0" rIns="0" bIns="0" rtlCol="0" anchor="ctr"/>
          <a:lstStyle/>
          <a:p>
            <a:pPr indent="0" marL="0">
              <a:buNone/>
            </a:pPr>
            <a:r>
              <a:rPr lang="en-US" sz="2000" b="1" dirty="0">
                <a:solidFill>
                  <a:schemeClr val="tx2"/>
                </a:solidFill>
              </a:rPr>
              <a:t>Meio de ligação</a:t>
            </a:r>
            <a:endParaRPr lang="en-US" sz="2000" dirty="0"/>
          </a:p>
        </p:txBody>
      </p:sp>
      <p:sp>
        <p:nvSpPr>
          <p:cNvPr id="12" name="Text 8"/>
          <p:cNvSpPr txBox="1"/>
          <p:nvPr/>
        </p:nvSpPr>
        <p:spPr>
          <a:xfrm>
            <a:off x="4572000" y="2788920"/>
            <a:ext cx="3017520" cy="640080"/>
          </a:xfrm>
          <a:prstGeom prst="rect">
            <a:avLst/>
          </a:prstGeom>
          <a:noFill/>
          <a:ln/>
        </p:spPr>
        <p:txBody>
          <a:bodyPr wrap="square" lIns="0" tIns="0" rIns="0" bIns="0" rtlCol="0" anchor="t"/>
          <a:lstStyle/>
          <a:p>
            <a:pPr indent="0" marL="0">
              <a:buNone/>
            </a:pPr>
            <a:r>
              <a:rPr lang="en-US" sz="1600" dirty="0">
                <a:solidFill>
                  <a:schemeClr val="tx1"/>
                </a:solidFill>
              </a:rPr>
              <a:t>Cabo ou sem fio (Wi-Fi)</a:t>
            </a:r>
            <a:endParaRPr lang="en-US" sz="1600" dirty="0"/>
          </a:p>
        </p:txBody>
      </p:sp>
      <p:sp>
        <p:nvSpPr>
          <p:cNvPr id="13" name="Elemento 3"/>
          <p:cNvSpPr/>
          <p:nvPr/>
        </p:nvSpPr>
        <p:spPr>
          <a:xfrm>
            <a:off x="8046720" y="1417320"/>
            <a:ext cx="3474720" cy="2103120"/>
          </a:xfrm>
          <a:prstGeom prst="roundRect">
            <a:avLst>
              <a:gd name="adj" fmla="val 6522"/>
            </a:avLst>
          </a:prstGeom>
          <a:solidFill>
            <a:schemeClr val="bg2"/>
          </a:solidFill>
          <a:ln w="12700">
            <a:solidFill>
              <a:schemeClr val="bg2"/>
            </a:solidFill>
            <a:prstDash val="solid"/>
          </a:ln>
        </p:spPr>
      </p:sp>
      <p:sp>
        <p:nvSpPr>
          <p:cNvPr id="14" name="Shape 10"/>
          <p:cNvSpPr/>
          <p:nvPr/>
        </p:nvSpPr>
        <p:spPr>
          <a:xfrm>
            <a:off x="8321040" y="1737360"/>
            <a:ext cx="914400" cy="914400"/>
          </a:xfrm>
          <a:prstGeom prst="ellipse">
            <a:avLst/>
          </a:prstGeom>
          <a:solidFill>
            <a:srgbClr val="C8191E"/>
          </a:solidFill>
          <a:ln w="12700">
            <a:solidFill>
              <a:srgbClr val="C8191E"/>
            </a:solidFill>
            <a:prstDash val="solid"/>
          </a:ln>
        </p:spPr>
      </p:sp>
      <p:pic>
        <p:nvPicPr>
          <p:cNvPr id="15" name="Image 2" descr="preencoded.png">    </p:cNvPr>
          <p:cNvPicPr>
            <a:picLocks noChangeAspect="1"/>
          </p:cNvPicPr>
          <p:nvPr/>
        </p:nvPicPr>
        <p:blipFill>
          <a:blip r:embed="rId3"/>
          <a:stretch>
            <a:fillRect/>
          </a:stretch>
        </p:blipFill>
        <p:spPr>
          <a:xfrm>
            <a:off x="8549640" y="1965960"/>
            <a:ext cx="457200" cy="457200"/>
          </a:xfrm>
          <a:prstGeom prst="rect">
            <a:avLst/>
          </a:prstGeom>
        </p:spPr>
      </p:pic>
      <p:sp>
        <p:nvSpPr>
          <p:cNvPr id="16" name="Text 11"/>
          <p:cNvSpPr txBox="1"/>
          <p:nvPr/>
        </p:nvSpPr>
        <p:spPr>
          <a:xfrm>
            <a:off x="9418320" y="1737360"/>
            <a:ext cx="1965960" cy="914400"/>
          </a:xfrm>
          <a:prstGeom prst="rect">
            <a:avLst/>
          </a:prstGeom>
          <a:noFill/>
          <a:ln/>
        </p:spPr>
        <p:txBody>
          <a:bodyPr wrap="square" lIns="0" tIns="0" rIns="0" bIns="0" rtlCol="0" anchor="ctr"/>
          <a:lstStyle/>
          <a:p>
            <a:pPr indent="0" marL="0">
              <a:buNone/>
            </a:pPr>
            <a:r>
              <a:rPr lang="en-US" sz="2000" b="1" dirty="0">
                <a:solidFill>
                  <a:schemeClr val="tx2"/>
                </a:solidFill>
              </a:rPr>
              <a:t>Equipamentos</a:t>
            </a:r>
            <a:endParaRPr lang="en-US" sz="2000" dirty="0"/>
          </a:p>
        </p:txBody>
      </p:sp>
      <p:sp>
        <p:nvSpPr>
          <p:cNvPr id="17" name="Text 12"/>
          <p:cNvSpPr txBox="1"/>
          <p:nvPr/>
        </p:nvSpPr>
        <p:spPr>
          <a:xfrm>
            <a:off x="8321040" y="2788920"/>
            <a:ext cx="3017520" cy="640080"/>
          </a:xfrm>
          <a:prstGeom prst="rect">
            <a:avLst/>
          </a:prstGeom>
          <a:noFill/>
          <a:ln/>
        </p:spPr>
        <p:txBody>
          <a:bodyPr wrap="square" lIns="0" tIns="0" rIns="0" bIns="0" rtlCol="0" anchor="t"/>
          <a:lstStyle/>
          <a:p>
            <a:pPr indent="0" marL="0">
              <a:buNone/>
            </a:pPr>
            <a:r>
              <a:rPr lang="en-US" sz="1600" dirty="0">
                <a:solidFill>
                  <a:schemeClr val="tx1"/>
                </a:solidFill>
              </a:rPr>
              <a:t>Roteador, modem, switch</a:t>
            </a:r>
            <a:endParaRPr lang="en-US" sz="1600" dirty="0"/>
          </a:p>
        </p:txBody>
      </p:sp>
      <p:sp>
        <p:nvSpPr>
          <p:cNvPr id="18" name="Elemento 4"/>
          <p:cNvSpPr/>
          <p:nvPr/>
        </p:nvSpPr>
        <p:spPr>
          <a:xfrm>
            <a:off x="548640" y="3794760"/>
            <a:ext cx="3474720" cy="2103120"/>
          </a:xfrm>
          <a:prstGeom prst="roundRect">
            <a:avLst>
              <a:gd name="adj" fmla="val 6522"/>
            </a:avLst>
          </a:prstGeom>
          <a:solidFill>
            <a:schemeClr val="bg2"/>
          </a:solidFill>
          <a:ln w="12700">
            <a:solidFill>
              <a:schemeClr val="bg2"/>
            </a:solidFill>
            <a:prstDash val="solid"/>
          </a:ln>
        </p:spPr>
      </p:sp>
      <p:sp>
        <p:nvSpPr>
          <p:cNvPr id="19" name="Shape 14"/>
          <p:cNvSpPr/>
          <p:nvPr/>
        </p:nvSpPr>
        <p:spPr>
          <a:xfrm>
            <a:off x="822960" y="4114800"/>
            <a:ext cx="914400" cy="914400"/>
          </a:xfrm>
          <a:prstGeom prst="ellipse">
            <a:avLst/>
          </a:prstGeom>
          <a:solidFill>
            <a:srgbClr val="2F9E41"/>
          </a:solidFill>
          <a:ln w="12700">
            <a:solidFill>
              <a:srgbClr val="2F9E41"/>
            </a:solidFill>
            <a:prstDash val="solid"/>
          </a:ln>
        </p:spPr>
      </p:sp>
      <p:pic>
        <p:nvPicPr>
          <p:cNvPr id="20" name="Image 3" descr="preencoded.png">    </p:cNvPr>
          <p:cNvPicPr>
            <a:picLocks noChangeAspect="1"/>
          </p:cNvPicPr>
          <p:nvPr/>
        </p:nvPicPr>
        <p:blipFill>
          <a:blip r:embed="rId4"/>
          <a:stretch>
            <a:fillRect/>
          </a:stretch>
        </p:blipFill>
        <p:spPr>
          <a:xfrm>
            <a:off x="1051560" y="4343400"/>
            <a:ext cx="457200" cy="457200"/>
          </a:xfrm>
          <a:prstGeom prst="rect">
            <a:avLst/>
          </a:prstGeom>
        </p:spPr>
      </p:pic>
      <p:sp>
        <p:nvSpPr>
          <p:cNvPr id="21" name="Text 15"/>
          <p:cNvSpPr txBox="1"/>
          <p:nvPr/>
        </p:nvSpPr>
        <p:spPr>
          <a:xfrm>
            <a:off x="1920240" y="4114800"/>
            <a:ext cx="1965960" cy="914400"/>
          </a:xfrm>
          <a:prstGeom prst="rect">
            <a:avLst/>
          </a:prstGeom>
          <a:noFill/>
          <a:ln/>
        </p:spPr>
        <p:txBody>
          <a:bodyPr wrap="square" lIns="0" tIns="0" rIns="0" bIns="0" rtlCol="0" anchor="ctr"/>
          <a:lstStyle/>
          <a:p>
            <a:pPr indent="0" marL="0">
              <a:buNone/>
            </a:pPr>
            <a:r>
              <a:rPr lang="en-US" sz="2000" b="1" dirty="0">
                <a:solidFill>
                  <a:schemeClr val="tx2"/>
                </a:solidFill>
              </a:rPr>
              <a:t>Regras (protocolos)</a:t>
            </a:r>
            <a:endParaRPr lang="en-US" sz="2000" dirty="0"/>
          </a:p>
        </p:txBody>
      </p:sp>
      <p:sp>
        <p:nvSpPr>
          <p:cNvPr id="22" name="Text 16"/>
          <p:cNvSpPr txBox="1"/>
          <p:nvPr/>
        </p:nvSpPr>
        <p:spPr>
          <a:xfrm>
            <a:off x="822960" y="5166360"/>
            <a:ext cx="3017520" cy="640080"/>
          </a:xfrm>
          <a:prstGeom prst="rect">
            <a:avLst/>
          </a:prstGeom>
          <a:noFill/>
          <a:ln/>
        </p:spPr>
        <p:txBody>
          <a:bodyPr wrap="square" lIns="0" tIns="0" rIns="0" bIns="0" rtlCol="0" anchor="t"/>
          <a:lstStyle/>
          <a:p>
            <a:pPr indent="0" marL="0">
              <a:buNone/>
            </a:pPr>
            <a:r>
              <a:rPr lang="en-US" sz="1600" dirty="0">
                <a:solidFill>
                  <a:schemeClr val="tx1"/>
                </a:solidFill>
              </a:rPr>
              <a:t>Um "idioma" que todos entendem</a:t>
            </a:r>
            <a:endParaRPr lang="en-US" sz="1600" dirty="0"/>
          </a:p>
        </p:txBody>
      </p:sp>
      <p:sp>
        <p:nvSpPr>
          <p:cNvPr id="23" name="Elemento 5"/>
          <p:cNvSpPr/>
          <p:nvPr/>
        </p:nvSpPr>
        <p:spPr>
          <a:xfrm>
            <a:off x="4297680" y="3794760"/>
            <a:ext cx="3474720" cy="2103120"/>
          </a:xfrm>
          <a:prstGeom prst="roundRect">
            <a:avLst>
              <a:gd name="adj" fmla="val 6522"/>
            </a:avLst>
          </a:prstGeom>
          <a:solidFill>
            <a:schemeClr val="bg2"/>
          </a:solidFill>
          <a:ln w="12700">
            <a:solidFill>
              <a:schemeClr val="bg2"/>
            </a:solidFill>
            <a:prstDash val="solid"/>
          </a:ln>
        </p:spPr>
      </p:sp>
      <p:sp>
        <p:nvSpPr>
          <p:cNvPr id="24" name="Shape 18"/>
          <p:cNvSpPr/>
          <p:nvPr/>
        </p:nvSpPr>
        <p:spPr>
          <a:xfrm>
            <a:off x="4572000" y="4114800"/>
            <a:ext cx="914400" cy="914400"/>
          </a:xfrm>
          <a:prstGeom prst="ellipse">
            <a:avLst/>
          </a:prstGeom>
          <a:solidFill>
            <a:srgbClr val="2F9E41"/>
          </a:solidFill>
          <a:ln w="12700">
            <a:solidFill>
              <a:srgbClr val="2F9E41"/>
            </a:solidFill>
            <a:prstDash val="solid"/>
          </a:ln>
        </p:spPr>
      </p:sp>
      <p:pic>
        <p:nvPicPr>
          <p:cNvPr id="25" name="Image 4" descr="preencoded.png">    </p:cNvPr>
          <p:cNvPicPr>
            <a:picLocks noChangeAspect="1"/>
          </p:cNvPicPr>
          <p:nvPr/>
        </p:nvPicPr>
        <p:blipFill>
          <a:blip r:embed="rId5"/>
          <a:stretch>
            <a:fillRect/>
          </a:stretch>
        </p:blipFill>
        <p:spPr>
          <a:xfrm>
            <a:off x="4800600" y="4343400"/>
            <a:ext cx="457200" cy="457200"/>
          </a:xfrm>
          <a:prstGeom prst="rect">
            <a:avLst/>
          </a:prstGeom>
        </p:spPr>
      </p:pic>
      <p:sp>
        <p:nvSpPr>
          <p:cNvPr id="26" name="Text 19"/>
          <p:cNvSpPr txBox="1"/>
          <p:nvPr/>
        </p:nvSpPr>
        <p:spPr>
          <a:xfrm>
            <a:off x="5669280" y="4114800"/>
            <a:ext cx="1965960" cy="914400"/>
          </a:xfrm>
          <a:prstGeom prst="rect">
            <a:avLst/>
          </a:prstGeom>
          <a:noFill/>
          <a:ln/>
        </p:spPr>
        <p:txBody>
          <a:bodyPr wrap="square" lIns="0" tIns="0" rIns="0" bIns="0" rtlCol="0" anchor="ctr"/>
          <a:lstStyle/>
          <a:p>
            <a:pPr indent="0" marL="0">
              <a:buNone/>
            </a:pPr>
            <a:r>
              <a:rPr lang="en-US" sz="2000" b="1" dirty="0">
                <a:solidFill>
                  <a:schemeClr val="tx2"/>
                </a:solidFill>
              </a:rPr>
              <a:t>Informação</a:t>
            </a:r>
            <a:endParaRPr lang="en-US" sz="2000" dirty="0"/>
          </a:p>
        </p:txBody>
      </p:sp>
      <p:sp>
        <p:nvSpPr>
          <p:cNvPr id="27" name="Text 20"/>
          <p:cNvSpPr txBox="1"/>
          <p:nvPr/>
        </p:nvSpPr>
        <p:spPr>
          <a:xfrm>
            <a:off x="4572000" y="5166360"/>
            <a:ext cx="3017520" cy="640080"/>
          </a:xfrm>
          <a:prstGeom prst="rect">
            <a:avLst/>
          </a:prstGeom>
          <a:noFill/>
          <a:ln/>
        </p:spPr>
        <p:txBody>
          <a:bodyPr wrap="square" lIns="0" tIns="0" rIns="0" bIns="0" rtlCol="0" anchor="t"/>
          <a:lstStyle/>
          <a:p>
            <a:pPr indent="0" marL="0">
              <a:buNone/>
            </a:pPr>
            <a:r>
              <a:rPr lang="en-US" sz="1600" dirty="0">
                <a:solidFill>
                  <a:schemeClr val="tx1"/>
                </a:solidFill>
              </a:rPr>
              <a:t>Mensagens, fotos, vídeos, arquivos</a:t>
            </a:r>
            <a:endParaRPr lang="en-US" sz="1600" dirty="0"/>
          </a:p>
        </p:txBody>
      </p:sp>
      <p:sp>
        <p:nvSpPr>
          <p:cNvPr id="28" name="Elemento 6"/>
          <p:cNvSpPr/>
          <p:nvPr/>
        </p:nvSpPr>
        <p:spPr>
          <a:xfrm>
            <a:off x="8046720" y="3794760"/>
            <a:ext cx="3474720" cy="2103120"/>
          </a:xfrm>
          <a:prstGeom prst="roundRect">
            <a:avLst>
              <a:gd name="adj" fmla="val 6522"/>
            </a:avLst>
          </a:prstGeom>
          <a:solidFill>
            <a:schemeClr val="bg2"/>
          </a:solidFill>
          <a:ln w="12700">
            <a:solidFill>
              <a:schemeClr val="bg2"/>
            </a:solidFill>
            <a:prstDash val="solid"/>
          </a:ln>
        </p:spPr>
      </p:sp>
      <p:sp>
        <p:nvSpPr>
          <p:cNvPr id="29" name="Shape 22"/>
          <p:cNvSpPr/>
          <p:nvPr/>
        </p:nvSpPr>
        <p:spPr>
          <a:xfrm>
            <a:off x="8321040" y="4114800"/>
            <a:ext cx="914400" cy="914400"/>
          </a:xfrm>
          <a:prstGeom prst="ellipse">
            <a:avLst/>
          </a:prstGeom>
          <a:solidFill>
            <a:srgbClr val="2F9E41"/>
          </a:solidFill>
          <a:ln w="12700">
            <a:solidFill>
              <a:srgbClr val="2F9E41"/>
            </a:solidFill>
            <a:prstDash val="solid"/>
          </a:ln>
        </p:spPr>
      </p:sp>
      <p:pic>
        <p:nvPicPr>
          <p:cNvPr id="30" name="Image 5" descr="preencoded.png">    </p:cNvPr>
          <p:cNvPicPr>
            <a:picLocks noChangeAspect="1"/>
          </p:cNvPicPr>
          <p:nvPr/>
        </p:nvPicPr>
        <p:blipFill>
          <a:blip r:embed="rId6"/>
          <a:stretch>
            <a:fillRect/>
          </a:stretch>
        </p:blipFill>
        <p:spPr>
          <a:xfrm>
            <a:off x="8549640" y="4343400"/>
            <a:ext cx="457200" cy="457200"/>
          </a:xfrm>
          <a:prstGeom prst="rect">
            <a:avLst/>
          </a:prstGeom>
        </p:spPr>
      </p:pic>
      <p:sp>
        <p:nvSpPr>
          <p:cNvPr id="31" name="Text 23"/>
          <p:cNvSpPr txBox="1"/>
          <p:nvPr/>
        </p:nvSpPr>
        <p:spPr>
          <a:xfrm>
            <a:off x="9418320" y="4114800"/>
            <a:ext cx="1965960" cy="914400"/>
          </a:xfrm>
          <a:prstGeom prst="rect">
            <a:avLst/>
          </a:prstGeom>
          <a:noFill/>
          <a:ln/>
        </p:spPr>
        <p:txBody>
          <a:bodyPr wrap="square" lIns="0" tIns="0" rIns="0" bIns="0" rtlCol="0" anchor="ctr"/>
          <a:lstStyle/>
          <a:p>
            <a:pPr indent="0" marL="0">
              <a:buNone/>
            </a:pPr>
            <a:r>
              <a:rPr lang="en-US" sz="2000" b="1" dirty="0">
                <a:solidFill>
                  <a:schemeClr val="tx2"/>
                </a:solidFill>
              </a:rPr>
              <a:t>Provedor</a:t>
            </a:r>
            <a:endParaRPr lang="en-US" sz="2000" dirty="0"/>
          </a:p>
        </p:txBody>
      </p:sp>
      <p:sp>
        <p:nvSpPr>
          <p:cNvPr id="32" name="Text 24"/>
          <p:cNvSpPr txBox="1"/>
          <p:nvPr/>
        </p:nvSpPr>
        <p:spPr>
          <a:xfrm>
            <a:off x="8321040" y="5166360"/>
            <a:ext cx="3017520" cy="640080"/>
          </a:xfrm>
          <a:prstGeom prst="rect">
            <a:avLst/>
          </a:prstGeom>
          <a:noFill/>
          <a:ln/>
        </p:spPr>
        <p:txBody>
          <a:bodyPr wrap="square" lIns="0" tIns="0" rIns="0" bIns="0" rtlCol="0" anchor="t"/>
          <a:lstStyle/>
          <a:p>
            <a:pPr indent="0" marL="0">
              <a:buNone/>
            </a:pPr>
            <a:r>
              <a:rPr lang="en-US" sz="1600" dirty="0">
                <a:solidFill>
                  <a:schemeClr val="tx1"/>
                </a:solidFill>
              </a:rPr>
              <a:t>Empresa que leva a internet até você</a:t>
            </a:r>
            <a:endParaRPr lang="en-US" sz="16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Caça aos elementos</a:t>
            </a:r>
            <a:endParaRPr lang="en-US" sz="3400" dirty="0"/>
          </a:p>
        </p:txBody>
      </p:sp>
      <p:sp>
        <p:nvSpPr>
          <p:cNvPr id="3" name="Selo atividade"/>
          <p:cNvSpPr/>
          <p:nvPr/>
        </p:nvSpPr>
        <p:spPr>
          <a:xfrm>
            <a:off x="8503920" y="502920"/>
            <a:ext cx="2377440" cy="502920"/>
          </a:xfrm>
          <a:prstGeom prst="roundRect">
            <a:avLst>
              <a:gd name="adj" fmla="val 49091"/>
            </a:avLst>
          </a:prstGeom>
          <a:solidFill>
            <a:schemeClr val="accent2"/>
          </a:solidFill>
          <a:ln w="12700">
            <a:solidFill>
              <a:schemeClr val="accent2"/>
            </a:solidFill>
            <a:prstDash val="solid"/>
          </a:ln>
        </p:spPr>
      </p:sp>
      <p:sp>
        <p:nvSpPr>
          <p:cNvPr id="4" name="Text 2"/>
          <p:cNvSpPr txBox="1"/>
          <p:nvPr/>
        </p:nvSpPr>
        <p:spPr>
          <a:xfrm>
            <a:off x="8503920" y="50292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rPr>
              <a:t>ATIVIDADE</a:t>
            </a:r>
            <a:endParaRPr lang="en-US" sz="1500" dirty="0"/>
          </a:p>
        </p:txBody>
      </p:sp>
      <p:sp>
        <p:nvSpPr>
          <p:cNvPr id="5" name="Text 3"/>
          <p:cNvSpPr txBox="1"/>
          <p:nvPr/>
        </p:nvSpPr>
        <p:spPr>
          <a:xfrm>
            <a:off x="548640" y="1554480"/>
            <a:ext cx="5120640" cy="274320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chemeClr val="tx1"/>
                </a:solidFill>
              </a:rPr>
              <a:t>Olhe em volta da sala ou do laboratório</a:t>
            </a:r>
            <a:endParaRPr lang="en-US" sz="1800" dirty="0"/>
          </a:p>
          <a:p>
            <a:pPr marL="342900" indent="-342900">
              <a:spcAft>
                <a:spcPts val="1000"/>
              </a:spcAft>
              <a:buSzPct val="100000"/>
              <a:buChar char="•"/>
            </a:pPr>
            <a:r>
              <a:rPr lang="en-US" sz="2200" dirty="0">
                <a:solidFill>
                  <a:schemeClr val="tx1"/>
                </a:solidFill>
              </a:rPr>
              <a:t>Encontre os elementos da lista ao lado</a:t>
            </a:r>
            <a:endParaRPr lang="en-US" sz="1800" dirty="0"/>
          </a:p>
          <a:p>
            <a:pPr marL="342900" indent="-342900">
              <a:spcAft>
                <a:spcPts val="1000"/>
              </a:spcAft>
              <a:buSzPct val="100000"/>
              <a:buChar char="•"/>
            </a:pPr>
            <a:r>
              <a:rPr lang="en-US" sz="2200" dirty="0">
                <a:solidFill>
                  <a:schemeClr val="tx1"/>
                </a:solidFill>
              </a:rPr>
              <a:t>Mostre para a turma onde achou cada um</a:t>
            </a:r>
            <a:endParaRPr lang="en-US" sz="1800" dirty="0"/>
          </a:p>
        </p:txBody>
      </p:sp>
      <p:sp>
        <p:nvSpPr>
          <p:cNvPr id="6" name="Dica"/>
          <p:cNvSpPr/>
          <p:nvPr/>
        </p:nvSpPr>
        <p:spPr>
          <a:xfrm>
            <a:off x="548640" y="4389120"/>
            <a:ext cx="5120640" cy="1371600"/>
          </a:xfrm>
          <a:prstGeom prst="roundRect">
            <a:avLst>
              <a:gd name="adj" fmla="val 10000"/>
            </a:avLst>
          </a:prstGeom>
          <a:solidFill>
            <a:schemeClr val="bg2"/>
          </a:solidFill>
          <a:ln w="12700">
            <a:solidFill>
              <a:schemeClr val="bg2"/>
            </a:solidFill>
            <a:prstDash val="solid"/>
          </a:ln>
        </p:spPr>
      </p:sp>
      <p:sp>
        <p:nvSpPr>
          <p:cNvPr id="7" name="Text 5"/>
          <p:cNvSpPr txBox="1"/>
          <p:nvPr/>
        </p:nvSpPr>
        <p:spPr>
          <a:xfrm>
            <a:off x="822960" y="4572000"/>
            <a:ext cx="4572000" cy="1097280"/>
          </a:xfrm>
          <a:prstGeom prst="rect">
            <a:avLst/>
          </a:prstGeom>
          <a:noFill/>
          <a:ln/>
        </p:spPr>
        <p:txBody>
          <a:bodyPr wrap="square" lIns="0" tIns="0" rIns="0" bIns="0" rtlCol="0" anchor="t"/>
          <a:lstStyle/>
          <a:p>
            <a:pPr indent="0" marL="0">
              <a:buNone/>
            </a:pPr>
            <a:r>
              <a:rPr lang="en-US" sz="1800" b="1" dirty="0">
                <a:solidFill>
                  <a:schemeClr val="accent2"/>
                </a:solidFill>
              </a:rPr>
              <a:t>Desafio: </a:t>
            </a:r>
            <a:pPr indent="0" marL="0">
              <a:buNone/>
            </a:pPr>
            <a:r>
              <a:rPr lang="en-US" sz="1800" dirty="0">
                <a:solidFill>
                  <a:schemeClr val="tx1"/>
                </a:solidFill>
              </a:rPr>
              <a:t>qual é o nome da rede Wi-Fi da escola? Ela tem senha?</a:t>
            </a:r>
            <a:endParaRPr lang="en-US" sz="1800" dirty="0"/>
          </a:p>
        </p:txBody>
      </p:sp>
      <p:sp>
        <p:nvSpPr>
          <p:cNvPr id="8" name="Lista"/>
          <p:cNvSpPr/>
          <p:nvPr/>
        </p:nvSpPr>
        <p:spPr>
          <a:xfrm>
            <a:off x="6309360" y="1417320"/>
            <a:ext cx="5349240" cy="4343400"/>
          </a:xfrm>
          <a:prstGeom prst="roundRect">
            <a:avLst>
              <a:gd name="adj" fmla="val 3158"/>
            </a:avLst>
          </a:prstGeom>
          <a:solidFill>
            <a:schemeClr val="bg2"/>
          </a:solidFill>
          <a:ln w="12700">
            <a:solidFill>
              <a:schemeClr val="bg2"/>
            </a:solidFill>
            <a:prstDash val="solid"/>
          </a:ln>
        </p:spPr>
      </p:sp>
      <p:sp>
        <p:nvSpPr>
          <p:cNvPr id="9" name="Shape 7"/>
          <p:cNvSpPr/>
          <p:nvPr/>
        </p:nvSpPr>
        <p:spPr>
          <a:xfrm>
            <a:off x="6629400" y="1783080"/>
            <a:ext cx="457200" cy="457200"/>
          </a:xfrm>
          <a:prstGeom prst="roundRect">
            <a:avLst>
              <a:gd name="adj" fmla="val 16000"/>
            </a:avLst>
          </a:prstGeom>
          <a:solidFill>
            <a:schemeClr val="bg1"/>
          </a:solidFill>
          <a:ln w="25400">
            <a:solidFill>
              <a:schemeClr val="accent1"/>
            </a:solidFill>
            <a:prstDash val="solid"/>
          </a:ln>
        </p:spPr>
      </p:sp>
      <p:sp>
        <p:nvSpPr>
          <p:cNvPr id="10" name="Text 8"/>
          <p:cNvSpPr txBox="1"/>
          <p:nvPr/>
        </p:nvSpPr>
        <p:spPr>
          <a:xfrm>
            <a:off x="7315200" y="1737360"/>
            <a:ext cx="4206240" cy="548640"/>
          </a:xfrm>
          <a:prstGeom prst="rect">
            <a:avLst/>
          </a:prstGeom>
          <a:noFill/>
          <a:ln/>
        </p:spPr>
        <p:txBody>
          <a:bodyPr wrap="square" lIns="0" tIns="0" rIns="0" bIns="0" rtlCol="0" anchor="ctr"/>
          <a:lstStyle/>
          <a:p>
            <a:pPr indent="0" marL="0">
              <a:buNone/>
            </a:pPr>
            <a:r>
              <a:rPr lang="en-US" sz="2000" dirty="0">
                <a:solidFill>
                  <a:schemeClr val="tx1"/>
                </a:solidFill>
              </a:rPr>
              <a:t>Um computador ou celular</a:t>
            </a:r>
            <a:endParaRPr lang="en-US" sz="2000" dirty="0"/>
          </a:p>
        </p:txBody>
      </p:sp>
      <p:sp>
        <p:nvSpPr>
          <p:cNvPr id="11" name="Shape 9"/>
          <p:cNvSpPr/>
          <p:nvPr/>
        </p:nvSpPr>
        <p:spPr>
          <a:xfrm>
            <a:off x="6629400" y="2560320"/>
            <a:ext cx="457200" cy="457200"/>
          </a:xfrm>
          <a:prstGeom prst="roundRect">
            <a:avLst>
              <a:gd name="adj" fmla="val 16000"/>
            </a:avLst>
          </a:prstGeom>
          <a:solidFill>
            <a:schemeClr val="bg1"/>
          </a:solidFill>
          <a:ln w="25400">
            <a:solidFill>
              <a:schemeClr val="accent1"/>
            </a:solidFill>
            <a:prstDash val="solid"/>
          </a:ln>
        </p:spPr>
      </p:sp>
      <p:sp>
        <p:nvSpPr>
          <p:cNvPr id="12" name="Text 10"/>
          <p:cNvSpPr txBox="1"/>
          <p:nvPr/>
        </p:nvSpPr>
        <p:spPr>
          <a:xfrm>
            <a:off x="7315200" y="2514600"/>
            <a:ext cx="4206240" cy="548640"/>
          </a:xfrm>
          <a:prstGeom prst="rect">
            <a:avLst/>
          </a:prstGeom>
          <a:noFill/>
          <a:ln/>
        </p:spPr>
        <p:txBody>
          <a:bodyPr wrap="square" lIns="0" tIns="0" rIns="0" bIns="0" rtlCol="0" anchor="ctr"/>
          <a:lstStyle/>
          <a:p>
            <a:pPr indent="0" marL="0">
              <a:buNone/>
            </a:pPr>
            <a:r>
              <a:rPr lang="en-US" sz="2000" dirty="0">
                <a:solidFill>
                  <a:schemeClr val="tx1"/>
                </a:solidFill>
              </a:rPr>
              <a:t>Um cabo de rede</a:t>
            </a:r>
            <a:endParaRPr lang="en-US" sz="2000" dirty="0"/>
          </a:p>
        </p:txBody>
      </p:sp>
      <p:sp>
        <p:nvSpPr>
          <p:cNvPr id="13" name="Shape 11"/>
          <p:cNvSpPr/>
          <p:nvPr/>
        </p:nvSpPr>
        <p:spPr>
          <a:xfrm>
            <a:off x="6629400" y="3337560"/>
            <a:ext cx="457200" cy="457200"/>
          </a:xfrm>
          <a:prstGeom prst="roundRect">
            <a:avLst>
              <a:gd name="adj" fmla="val 16000"/>
            </a:avLst>
          </a:prstGeom>
          <a:solidFill>
            <a:schemeClr val="bg1"/>
          </a:solidFill>
          <a:ln w="25400">
            <a:solidFill>
              <a:schemeClr val="accent1"/>
            </a:solidFill>
            <a:prstDash val="solid"/>
          </a:ln>
        </p:spPr>
      </p:sp>
      <p:sp>
        <p:nvSpPr>
          <p:cNvPr id="14" name="Text 12"/>
          <p:cNvSpPr txBox="1"/>
          <p:nvPr/>
        </p:nvSpPr>
        <p:spPr>
          <a:xfrm>
            <a:off x="7315200" y="3291840"/>
            <a:ext cx="4206240" cy="548640"/>
          </a:xfrm>
          <a:prstGeom prst="rect">
            <a:avLst/>
          </a:prstGeom>
          <a:noFill/>
          <a:ln/>
        </p:spPr>
        <p:txBody>
          <a:bodyPr wrap="square" lIns="0" tIns="0" rIns="0" bIns="0" rtlCol="0" anchor="ctr"/>
          <a:lstStyle/>
          <a:p>
            <a:pPr indent="0" marL="0">
              <a:buNone/>
            </a:pPr>
            <a:r>
              <a:rPr lang="en-US" sz="2000" dirty="0">
                <a:solidFill>
                  <a:schemeClr val="tx1"/>
                </a:solidFill>
              </a:rPr>
              <a:t>Um roteador ou ponto de Wi-Fi</a:t>
            </a:r>
            <a:endParaRPr lang="en-US" sz="2000" dirty="0"/>
          </a:p>
        </p:txBody>
      </p:sp>
      <p:sp>
        <p:nvSpPr>
          <p:cNvPr id="15" name="Shape 13"/>
          <p:cNvSpPr/>
          <p:nvPr/>
        </p:nvSpPr>
        <p:spPr>
          <a:xfrm>
            <a:off x="6629400" y="4114800"/>
            <a:ext cx="457200" cy="457200"/>
          </a:xfrm>
          <a:prstGeom prst="roundRect">
            <a:avLst>
              <a:gd name="adj" fmla="val 16000"/>
            </a:avLst>
          </a:prstGeom>
          <a:solidFill>
            <a:schemeClr val="bg1"/>
          </a:solidFill>
          <a:ln w="25400">
            <a:solidFill>
              <a:schemeClr val="accent1"/>
            </a:solidFill>
            <a:prstDash val="solid"/>
          </a:ln>
        </p:spPr>
      </p:sp>
      <p:sp>
        <p:nvSpPr>
          <p:cNvPr id="16" name="Text 14"/>
          <p:cNvSpPr txBox="1"/>
          <p:nvPr/>
        </p:nvSpPr>
        <p:spPr>
          <a:xfrm>
            <a:off x="7315200" y="4069080"/>
            <a:ext cx="4206240" cy="548640"/>
          </a:xfrm>
          <a:prstGeom prst="rect">
            <a:avLst/>
          </a:prstGeom>
          <a:noFill/>
          <a:ln/>
        </p:spPr>
        <p:txBody>
          <a:bodyPr wrap="square" lIns="0" tIns="0" rIns="0" bIns="0" rtlCol="0" anchor="ctr"/>
          <a:lstStyle/>
          <a:p>
            <a:pPr indent="0" marL="0">
              <a:buNone/>
            </a:pPr>
            <a:r>
              <a:rPr lang="en-US" sz="2000" dirty="0">
                <a:solidFill>
                  <a:schemeClr val="tx1"/>
                </a:solidFill>
              </a:rPr>
              <a:t>Uma impressora ligada na rede</a:t>
            </a:r>
            <a:endParaRPr lang="en-US" sz="2000" dirty="0"/>
          </a:p>
        </p:txBody>
      </p:sp>
      <p:sp>
        <p:nvSpPr>
          <p:cNvPr id="17" name="Shape 15"/>
          <p:cNvSpPr/>
          <p:nvPr/>
        </p:nvSpPr>
        <p:spPr>
          <a:xfrm>
            <a:off x="6629400" y="4892040"/>
            <a:ext cx="457200" cy="457200"/>
          </a:xfrm>
          <a:prstGeom prst="roundRect">
            <a:avLst>
              <a:gd name="adj" fmla="val 16000"/>
            </a:avLst>
          </a:prstGeom>
          <a:solidFill>
            <a:schemeClr val="bg1"/>
          </a:solidFill>
          <a:ln w="25400">
            <a:solidFill>
              <a:schemeClr val="accent1"/>
            </a:solidFill>
            <a:prstDash val="solid"/>
          </a:ln>
        </p:spPr>
      </p:sp>
      <p:sp>
        <p:nvSpPr>
          <p:cNvPr id="18" name="Text 16"/>
          <p:cNvSpPr txBox="1"/>
          <p:nvPr/>
        </p:nvSpPr>
        <p:spPr>
          <a:xfrm>
            <a:off x="7315200" y="4846320"/>
            <a:ext cx="4206240" cy="548640"/>
          </a:xfrm>
          <a:prstGeom prst="rect">
            <a:avLst/>
          </a:prstGeom>
          <a:noFill/>
          <a:ln/>
        </p:spPr>
        <p:txBody>
          <a:bodyPr wrap="square" lIns="0" tIns="0" rIns="0" bIns="0" rtlCol="0" anchor="ctr"/>
          <a:lstStyle/>
          <a:p>
            <a:pPr indent="0" marL="0">
              <a:buNone/>
            </a:pPr>
            <a:r>
              <a:rPr lang="en-US" sz="2000" dirty="0">
                <a:solidFill>
                  <a:schemeClr val="tx1"/>
                </a:solidFill>
              </a:rPr>
              <a:t>Uma tomada de rede na parede</a:t>
            </a:r>
            <a:endParaRPr lang="en-US" sz="20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8229600" cy="1097280"/>
          </a:xfrm>
          <a:prstGeom prst="rect">
            <a:avLst/>
          </a:prstGeom>
          <a:noFill/>
          <a:ln/>
        </p:spPr>
        <p:txBody>
          <a:bodyPr wrap="square" lIns="0" tIns="0" rIns="0" bIns="0" rtlCol="0"/>
          <a:lstStyle/>
          <a:p>
            <a:pPr algn="l" indent="0" marL="0">
              <a:buNone/>
            </a:pPr>
            <a:r>
              <a:rPr lang="en-US" sz="6000" b="1" dirty="0">
                <a:solidFill>
                  <a:schemeClr val="tx2"/>
                </a:solidFill>
              </a:rPr>
              <a:t>1.5.2</a:t>
            </a:r>
            <a:endParaRPr lang="en-US" sz="6000" dirty="0"/>
          </a:p>
        </p:txBody>
      </p:sp>
      <p:sp>
        <p:nvSpPr>
          <p:cNvPr id="3" name="Text 0"/>
          <p:cNvSpPr/>
          <p:nvPr>
            <p:ph idx="102" type="title" hasCustomPrompt="1"/>
          </p:nvPr>
        </p:nvSpPr>
        <p:spPr>
          <a:xfrm>
            <a:off x="731520" y="2651760"/>
            <a:ext cx="8595360" cy="1463040"/>
          </a:xfrm>
          <a:prstGeom prst="rect">
            <a:avLst/>
          </a:prstGeom>
          <a:noFill/>
          <a:ln/>
        </p:spPr>
        <p:txBody>
          <a:bodyPr wrap="square" lIns="0" tIns="0" rIns="0" bIns="0" rtlCol="0" anchor="t"/>
          <a:lstStyle/>
          <a:p>
            <a:pPr algn="l" indent="0" marL="0">
              <a:buNone/>
            </a:pPr>
            <a:r>
              <a:rPr lang="en-US" sz="4400" b="1" dirty="0">
                <a:solidFill>
                  <a:schemeClr val="bg1"/>
                </a:solidFill>
              </a:rPr>
              <a:t>Importância de uma rede</a:t>
            </a:r>
            <a:endParaRPr lang="en-US" sz="4400" dirty="0"/>
          </a:p>
        </p:txBody>
      </p:sp>
      <p:sp>
        <p:nvSpPr>
          <p:cNvPr id="4" name="Text 0"/>
          <p:cNvSpPr/>
          <p:nvPr>
            <p:ph idx="103" type="body" hasCustomPrompt="1"/>
          </p:nvPr>
        </p:nvSpPr>
        <p:spPr>
          <a:xfrm>
            <a:off x="731520" y="4297680"/>
            <a:ext cx="8229600" cy="1097280"/>
          </a:xfrm>
          <a:prstGeom prst="rect">
            <a:avLst/>
          </a:prstGeom>
          <a:noFill/>
          <a:ln/>
        </p:spPr>
        <p:txBody>
          <a:bodyPr wrap="square" lIns="0" tIns="0" rIns="0" bIns="0" rtlCol="0" anchor="t"/>
          <a:lstStyle/>
          <a:p>
            <a:pPr algn="l" indent="0" marL="0">
              <a:buNone/>
            </a:pPr>
            <a:r>
              <a:rPr lang="en-US" sz="2200" dirty="0">
                <a:solidFill>
                  <a:schemeClr val="bg1"/>
                </a:solidFill>
              </a:rPr>
              <a:t>Para que serve uma rede no nosso dia a dia?</a:t>
            </a:r>
            <a:endParaRPr lang="en-US" sz="2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Para que serve uma rede?</a:t>
            </a:r>
            <a:endParaRPr lang="en-US" sz="3400" dirty="0"/>
          </a:p>
        </p:txBody>
      </p:sp>
      <p:sp>
        <p:nvSpPr>
          <p:cNvPr id="3" name="Comunicar"/>
          <p:cNvSpPr/>
          <p:nvPr/>
        </p:nvSpPr>
        <p:spPr>
          <a:xfrm>
            <a:off x="548640" y="1417320"/>
            <a:ext cx="5349240" cy="1965960"/>
          </a:xfrm>
          <a:prstGeom prst="roundRect">
            <a:avLst>
              <a:gd name="adj" fmla="val 6977"/>
            </a:avLst>
          </a:prstGeom>
          <a:solidFill>
            <a:schemeClr val="bg2"/>
          </a:solidFill>
          <a:ln w="12700">
            <a:solidFill>
              <a:schemeClr val="bg2"/>
            </a:solidFill>
            <a:prstDash val="solid"/>
          </a:ln>
        </p:spPr>
      </p:sp>
      <p:sp>
        <p:nvSpPr>
          <p:cNvPr id="4" name="Shape 2"/>
          <p:cNvSpPr/>
          <p:nvPr/>
        </p:nvSpPr>
        <p:spPr>
          <a:xfrm>
            <a:off x="868680" y="1847088"/>
            <a:ext cx="1097280" cy="1097280"/>
          </a:xfrm>
          <a:prstGeom prst="ellipse">
            <a:avLst/>
          </a:prstGeom>
          <a:solidFill>
            <a:srgbClr val="2F9E41"/>
          </a:solidFill>
          <a:ln w="12700">
            <a:solidFill>
              <a:srgbClr val="2F9E41"/>
            </a:solidFill>
            <a:prstDash val="solid"/>
          </a:ln>
        </p:spPr>
      </p:sp>
      <p:pic>
        <p:nvPicPr>
          <p:cNvPr id="5" name="Image 0" descr="preencoded.png">    </p:cNvPr>
          <p:cNvPicPr>
            <a:picLocks noChangeAspect="1"/>
          </p:cNvPicPr>
          <p:nvPr/>
        </p:nvPicPr>
        <p:blipFill>
          <a:blip r:embed="rId1"/>
          <a:stretch>
            <a:fillRect/>
          </a:stretch>
        </p:blipFill>
        <p:spPr>
          <a:xfrm>
            <a:off x="1143000" y="2121408"/>
            <a:ext cx="548640" cy="548640"/>
          </a:xfrm>
          <a:prstGeom prst="rect">
            <a:avLst/>
          </a:prstGeom>
        </p:spPr>
      </p:pic>
      <p:sp>
        <p:nvSpPr>
          <p:cNvPr id="6" name="Text 3"/>
          <p:cNvSpPr txBox="1"/>
          <p:nvPr/>
        </p:nvSpPr>
        <p:spPr>
          <a:xfrm>
            <a:off x="2240280" y="1691640"/>
            <a:ext cx="3474720" cy="1463040"/>
          </a:xfrm>
          <a:prstGeom prst="rect">
            <a:avLst/>
          </a:prstGeom>
          <a:noFill/>
          <a:ln/>
        </p:spPr>
        <p:txBody>
          <a:bodyPr wrap="square" lIns="0" tIns="0" rIns="0" bIns="0" rtlCol="0" anchor="ctr"/>
          <a:lstStyle/>
          <a:p>
            <a:pPr indent="0" marL="0">
              <a:buNone/>
            </a:pPr>
            <a:r>
              <a:rPr lang="en-US" sz="2400" b="1" dirty="0">
                <a:solidFill>
                  <a:schemeClr val="tx2"/>
                </a:solidFill>
              </a:rPr>
              <a:t>Comunicar</a:t>
            </a:r>
            <a:endParaRPr lang="en-US" sz="1800" dirty="0"/>
          </a:p>
          <a:p>
            <a:pPr indent="0" marL="0">
              <a:buNone/>
            </a:pPr>
            <a:r>
              <a:rPr lang="en-US" sz="1800" dirty="0">
                <a:solidFill>
                  <a:schemeClr val="tx1"/>
                </a:solidFill>
              </a:rPr>
              <a:t>WhatsApp, e-mail, chamada de vídeo com a família</a:t>
            </a:r>
            <a:endParaRPr lang="en-US" sz="1800" dirty="0"/>
          </a:p>
        </p:txBody>
      </p:sp>
      <p:sp>
        <p:nvSpPr>
          <p:cNvPr id="7" name="Compartilhar"/>
          <p:cNvSpPr/>
          <p:nvPr/>
        </p:nvSpPr>
        <p:spPr>
          <a:xfrm>
            <a:off x="6172200" y="1417320"/>
            <a:ext cx="5349240" cy="1965960"/>
          </a:xfrm>
          <a:prstGeom prst="roundRect">
            <a:avLst>
              <a:gd name="adj" fmla="val 6977"/>
            </a:avLst>
          </a:prstGeom>
          <a:solidFill>
            <a:schemeClr val="bg2"/>
          </a:solidFill>
          <a:ln w="12700">
            <a:solidFill>
              <a:schemeClr val="bg2"/>
            </a:solidFill>
            <a:prstDash val="solid"/>
          </a:ln>
        </p:spPr>
      </p:sp>
      <p:sp>
        <p:nvSpPr>
          <p:cNvPr id="8" name="Shape 5"/>
          <p:cNvSpPr/>
          <p:nvPr/>
        </p:nvSpPr>
        <p:spPr>
          <a:xfrm>
            <a:off x="6492240" y="1847088"/>
            <a:ext cx="1097280" cy="1097280"/>
          </a:xfrm>
          <a:prstGeom prst="ellipse">
            <a:avLst/>
          </a:prstGeom>
          <a:solidFill>
            <a:srgbClr val="2F9E41"/>
          </a:solidFill>
          <a:ln w="12700">
            <a:solidFill>
              <a:srgbClr val="2F9E41"/>
            </a:solidFill>
            <a:prstDash val="solid"/>
          </a:ln>
        </p:spPr>
      </p:sp>
      <p:pic>
        <p:nvPicPr>
          <p:cNvPr id="9" name="Image 1" descr="preencoded.png">    </p:cNvPr>
          <p:cNvPicPr>
            <a:picLocks noChangeAspect="1"/>
          </p:cNvPicPr>
          <p:nvPr/>
        </p:nvPicPr>
        <p:blipFill>
          <a:blip r:embed="rId2"/>
          <a:stretch>
            <a:fillRect/>
          </a:stretch>
        </p:blipFill>
        <p:spPr>
          <a:xfrm>
            <a:off x="6766560" y="2121408"/>
            <a:ext cx="548640" cy="548640"/>
          </a:xfrm>
          <a:prstGeom prst="rect">
            <a:avLst/>
          </a:prstGeom>
        </p:spPr>
      </p:pic>
      <p:sp>
        <p:nvSpPr>
          <p:cNvPr id="10" name="Text 6"/>
          <p:cNvSpPr txBox="1"/>
          <p:nvPr/>
        </p:nvSpPr>
        <p:spPr>
          <a:xfrm>
            <a:off x="7863840" y="1691640"/>
            <a:ext cx="3474720" cy="1463040"/>
          </a:xfrm>
          <a:prstGeom prst="rect">
            <a:avLst/>
          </a:prstGeom>
          <a:noFill/>
          <a:ln/>
        </p:spPr>
        <p:txBody>
          <a:bodyPr wrap="square" lIns="0" tIns="0" rIns="0" bIns="0" rtlCol="0" anchor="ctr"/>
          <a:lstStyle/>
          <a:p>
            <a:pPr indent="0" marL="0">
              <a:buNone/>
            </a:pPr>
            <a:r>
              <a:rPr lang="en-US" sz="2400" b="1" dirty="0">
                <a:solidFill>
                  <a:schemeClr val="tx2"/>
                </a:solidFill>
              </a:rPr>
              <a:t>Compartilhar</a:t>
            </a:r>
            <a:endParaRPr lang="en-US" sz="1800" dirty="0"/>
          </a:p>
          <a:p>
            <a:pPr indent="0" marL="0">
              <a:buNone/>
            </a:pPr>
            <a:r>
              <a:rPr lang="en-US" sz="1800" dirty="0">
                <a:solidFill>
                  <a:schemeClr val="tx1"/>
                </a:solidFill>
              </a:rPr>
              <a:t>Uma impressora e uma internet para vários aparelhos</a:t>
            </a:r>
            <a:endParaRPr lang="en-US" sz="1800" dirty="0"/>
          </a:p>
        </p:txBody>
      </p:sp>
      <p:sp>
        <p:nvSpPr>
          <p:cNvPr id="11" name="Acessar serviços"/>
          <p:cNvSpPr/>
          <p:nvPr/>
        </p:nvSpPr>
        <p:spPr>
          <a:xfrm>
            <a:off x="548640" y="3657600"/>
            <a:ext cx="5349240" cy="1965960"/>
          </a:xfrm>
          <a:prstGeom prst="roundRect">
            <a:avLst>
              <a:gd name="adj" fmla="val 6977"/>
            </a:avLst>
          </a:prstGeom>
          <a:solidFill>
            <a:schemeClr val="bg2"/>
          </a:solidFill>
          <a:ln w="12700">
            <a:solidFill>
              <a:schemeClr val="bg2"/>
            </a:solidFill>
            <a:prstDash val="solid"/>
          </a:ln>
        </p:spPr>
      </p:sp>
      <p:sp>
        <p:nvSpPr>
          <p:cNvPr id="12" name="Shape 8"/>
          <p:cNvSpPr/>
          <p:nvPr/>
        </p:nvSpPr>
        <p:spPr>
          <a:xfrm>
            <a:off x="868680" y="4087368"/>
            <a:ext cx="1097280" cy="1097280"/>
          </a:xfrm>
          <a:prstGeom prst="ellipse">
            <a:avLst/>
          </a:prstGeom>
          <a:solidFill>
            <a:srgbClr val="2F9E41"/>
          </a:solidFill>
          <a:ln w="12700">
            <a:solidFill>
              <a:srgbClr val="2F9E41"/>
            </a:solidFill>
            <a:prstDash val="solid"/>
          </a:ln>
        </p:spPr>
      </p:sp>
      <p:pic>
        <p:nvPicPr>
          <p:cNvPr id="13" name="Image 2" descr="preencoded.png">    </p:cNvPr>
          <p:cNvPicPr>
            <a:picLocks noChangeAspect="1"/>
          </p:cNvPicPr>
          <p:nvPr/>
        </p:nvPicPr>
        <p:blipFill>
          <a:blip r:embed="rId3"/>
          <a:stretch>
            <a:fillRect/>
          </a:stretch>
        </p:blipFill>
        <p:spPr>
          <a:xfrm>
            <a:off x="1143000" y="4361688"/>
            <a:ext cx="548640" cy="548640"/>
          </a:xfrm>
          <a:prstGeom prst="rect">
            <a:avLst/>
          </a:prstGeom>
        </p:spPr>
      </p:pic>
      <p:sp>
        <p:nvSpPr>
          <p:cNvPr id="14" name="Text 9"/>
          <p:cNvSpPr txBox="1"/>
          <p:nvPr/>
        </p:nvSpPr>
        <p:spPr>
          <a:xfrm>
            <a:off x="2240280" y="3931920"/>
            <a:ext cx="3474720" cy="1463040"/>
          </a:xfrm>
          <a:prstGeom prst="rect">
            <a:avLst/>
          </a:prstGeom>
          <a:noFill/>
          <a:ln/>
        </p:spPr>
        <p:txBody>
          <a:bodyPr wrap="square" lIns="0" tIns="0" rIns="0" bIns="0" rtlCol="0" anchor="ctr"/>
          <a:lstStyle/>
          <a:p>
            <a:pPr indent="0" marL="0">
              <a:buNone/>
            </a:pPr>
            <a:r>
              <a:rPr lang="en-US" sz="2400" b="1" dirty="0">
                <a:solidFill>
                  <a:schemeClr val="tx2"/>
                </a:solidFill>
              </a:rPr>
              <a:t>Acessar serviços</a:t>
            </a:r>
            <a:endParaRPr lang="en-US" sz="1800" dirty="0"/>
          </a:p>
          <a:p>
            <a:pPr indent="0" marL="0">
              <a:buNone/>
            </a:pPr>
            <a:r>
              <a:rPr lang="en-US" sz="1800" dirty="0">
                <a:solidFill>
                  <a:schemeClr val="tx1"/>
                </a:solidFill>
              </a:rPr>
              <a:t>Banco, Pix, Gov.br, Meu INSS, matrícula, consultas no SUS</a:t>
            </a:r>
            <a:endParaRPr lang="en-US" sz="1800" dirty="0"/>
          </a:p>
        </p:txBody>
      </p:sp>
      <p:sp>
        <p:nvSpPr>
          <p:cNvPr id="15" name="Estudar e trabalhar"/>
          <p:cNvSpPr/>
          <p:nvPr/>
        </p:nvSpPr>
        <p:spPr>
          <a:xfrm>
            <a:off x="6172200" y="3657600"/>
            <a:ext cx="5349240" cy="1965960"/>
          </a:xfrm>
          <a:prstGeom prst="roundRect">
            <a:avLst>
              <a:gd name="adj" fmla="val 6977"/>
            </a:avLst>
          </a:prstGeom>
          <a:solidFill>
            <a:schemeClr val="bg2"/>
          </a:solidFill>
          <a:ln w="12700">
            <a:solidFill>
              <a:schemeClr val="bg2"/>
            </a:solidFill>
            <a:prstDash val="solid"/>
          </a:ln>
        </p:spPr>
      </p:sp>
      <p:sp>
        <p:nvSpPr>
          <p:cNvPr id="16" name="Shape 11"/>
          <p:cNvSpPr/>
          <p:nvPr/>
        </p:nvSpPr>
        <p:spPr>
          <a:xfrm>
            <a:off x="6492240" y="4087368"/>
            <a:ext cx="1097280" cy="1097280"/>
          </a:xfrm>
          <a:prstGeom prst="ellipse">
            <a:avLst/>
          </a:prstGeom>
          <a:solidFill>
            <a:srgbClr val="2F9E41"/>
          </a:solidFill>
          <a:ln w="12700">
            <a:solidFill>
              <a:srgbClr val="2F9E41"/>
            </a:solidFill>
            <a:prstDash val="solid"/>
          </a:ln>
        </p:spPr>
      </p:sp>
      <p:pic>
        <p:nvPicPr>
          <p:cNvPr id="17" name="Image 3" descr="preencoded.png">    </p:cNvPr>
          <p:cNvPicPr>
            <a:picLocks noChangeAspect="1"/>
          </p:cNvPicPr>
          <p:nvPr/>
        </p:nvPicPr>
        <p:blipFill>
          <a:blip r:embed="rId4"/>
          <a:stretch>
            <a:fillRect/>
          </a:stretch>
        </p:blipFill>
        <p:spPr>
          <a:xfrm>
            <a:off x="6766560" y="4361688"/>
            <a:ext cx="548640" cy="548640"/>
          </a:xfrm>
          <a:prstGeom prst="rect">
            <a:avLst/>
          </a:prstGeom>
        </p:spPr>
      </p:pic>
      <p:sp>
        <p:nvSpPr>
          <p:cNvPr id="18" name="Text 12"/>
          <p:cNvSpPr txBox="1"/>
          <p:nvPr/>
        </p:nvSpPr>
        <p:spPr>
          <a:xfrm>
            <a:off x="7863840" y="3931920"/>
            <a:ext cx="3474720" cy="1463040"/>
          </a:xfrm>
          <a:prstGeom prst="rect">
            <a:avLst/>
          </a:prstGeom>
          <a:noFill/>
          <a:ln/>
        </p:spPr>
        <p:txBody>
          <a:bodyPr wrap="square" lIns="0" tIns="0" rIns="0" bIns="0" rtlCol="0" anchor="ctr"/>
          <a:lstStyle/>
          <a:p>
            <a:pPr indent="0" marL="0">
              <a:buNone/>
            </a:pPr>
            <a:r>
              <a:rPr lang="en-US" sz="2400" b="1" dirty="0">
                <a:solidFill>
                  <a:schemeClr val="tx2"/>
                </a:solidFill>
              </a:rPr>
              <a:t>Estudar e trabalhar</a:t>
            </a:r>
            <a:endParaRPr lang="en-US" sz="1800" dirty="0"/>
          </a:p>
          <a:p>
            <a:pPr indent="0" marL="0">
              <a:buNone/>
            </a:pPr>
            <a:r>
              <a:rPr lang="en-US" sz="1800" dirty="0">
                <a:solidFill>
                  <a:schemeClr val="tx1"/>
                </a:solidFill>
              </a:rPr>
              <a:t>Cursos, vagas de emprego, vender pela internet</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No meu dia a dia</a:t>
            </a:r>
            <a:endParaRPr lang="en-US" sz="3400" dirty="0"/>
          </a:p>
        </p:txBody>
      </p:sp>
      <p:sp>
        <p:nvSpPr>
          <p:cNvPr id="3" name="Selo atividade"/>
          <p:cNvSpPr/>
          <p:nvPr/>
        </p:nvSpPr>
        <p:spPr>
          <a:xfrm>
            <a:off x="8503920" y="502920"/>
            <a:ext cx="2377440" cy="502920"/>
          </a:xfrm>
          <a:prstGeom prst="roundRect">
            <a:avLst>
              <a:gd name="adj" fmla="val 49091"/>
            </a:avLst>
          </a:prstGeom>
          <a:solidFill>
            <a:schemeClr val="accent2"/>
          </a:solidFill>
          <a:ln w="12700">
            <a:solidFill>
              <a:schemeClr val="accent2"/>
            </a:solidFill>
            <a:prstDash val="solid"/>
          </a:ln>
        </p:spPr>
      </p:sp>
      <p:sp>
        <p:nvSpPr>
          <p:cNvPr id="4" name="Text 2"/>
          <p:cNvSpPr txBox="1"/>
          <p:nvPr/>
        </p:nvSpPr>
        <p:spPr>
          <a:xfrm>
            <a:off x="8503920" y="50292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rPr>
              <a:t>ATIVIDADE</a:t>
            </a:r>
            <a:endParaRPr lang="en-US" sz="1500" dirty="0"/>
          </a:p>
        </p:txBody>
      </p:sp>
      <p:sp>
        <p:nvSpPr>
          <p:cNvPr id="5" name="Text 3"/>
          <p:cNvSpPr txBox="1"/>
          <p:nvPr/>
        </p:nvSpPr>
        <p:spPr>
          <a:xfrm>
            <a:off x="548640" y="1371600"/>
            <a:ext cx="6400800" cy="548640"/>
          </a:xfrm>
          <a:prstGeom prst="rect">
            <a:avLst/>
          </a:prstGeom>
          <a:noFill/>
          <a:ln/>
        </p:spPr>
        <p:txBody>
          <a:bodyPr wrap="square" lIns="0" tIns="0" rIns="0" bIns="0" rtlCol="0" anchor="t"/>
          <a:lstStyle/>
          <a:p>
            <a:pPr indent="0" marL="0">
              <a:buNone/>
            </a:pPr>
            <a:r>
              <a:rPr lang="en-US" sz="2400" b="1" dirty="0">
                <a:solidFill>
                  <a:schemeClr val="tx2"/>
                </a:solidFill>
              </a:rPr>
              <a:t>Levante a mão se hoje você já...</a:t>
            </a:r>
            <a:endParaRPr lang="en-US" sz="2400" dirty="0"/>
          </a:p>
        </p:txBody>
      </p:sp>
      <p:sp>
        <p:nvSpPr>
          <p:cNvPr id="6" name="Shape 4"/>
          <p:cNvSpPr/>
          <p:nvPr/>
        </p:nvSpPr>
        <p:spPr>
          <a:xfrm>
            <a:off x="548640" y="2103120"/>
            <a:ext cx="548640" cy="548640"/>
          </a:xfrm>
          <a:prstGeom prst="ellipse">
            <a:avLst/>
          </a:prstGeom>
          <a:solidFill>
            <a:srgbClr val="2F9E41"/>
          </a:solidFill>
          <a:ln w="12700">
            <a:solidFill>
              <a:srgbClr val="2F9E41"/>
            </a:solidFill>
            <a:prstDash val="solid"/>
          </a:ln>
        </p:spPr>
      </p:sp>
      <p:pic>
        <p:nvPicPr>
          <p:cNvPr id="7" name="Image 0" descr="preencoded.png">    </p:cNvPr>
          <p:cNvPicPr>
            <a:picLocks noChangeAspect="1"/>
          </p:cNvPicPr>
          <p:nvPr/>
        </p:nvPicPr>
        <p:blipFill>
          <a:blip r:embed="rId1"/>
          <a:stretch>
            <a:fillRect/>
          </a:stretch>
        </p:blipFill>
        <p:spPr>
          <a:xfrm>
            <a:off x="685800" y="2240280"/>
            <a:ext cx="274320" cy="274320"/>
          </a:xfrm>
          <a:prstGeom prst="rect">
            <a:avLst/>
          </a:prstGeom>
        </p:spPr>
      </p:pic>
      <p:sp>
        <p:nvSpPr>
          <p:cNvPr id="8" name="Text 5"/>
          <p:cNvSpPr txBox="1"/>
          <p:nvPr/>
        </p:nvSpPr>
        <p:spPr>
          <a:xfrm>
            <a:off x="1280160" y="2103120"/>
            <a:ext cx="5669280" cy="548640"/>
          </a:xfrm>
          <a:prstGeom prst="rect">
            <a:avLst/>
          </a:prstGeom>
          <a:noFill/>
          <a:ln/>
        </p:spPr>
        <p:txBody>
          <a:bodyPr wrap="square" lIns="0" tIns="0" rIns="0" bIns="0" rtlCol="0" anchor="ctr"/>
          <a:lstStyle/>
          <a:p>
            <a:pPr indent="0" marL="0">
              <a:buNone/>
            </a:pPr>
            <a:r>
              <a:rPr lang="en-US" sz="2000" dirty="0">
                <a:solidFill>
                  <a:schemeClr val="tx1"/>
                </a:solidFill>
              </a:rPr>
              <a:t>mandou ou recebeu mensagem</a:t>
            </a:r>
            <a:endParaRPr lang="en-US" sz="2000" dirty="0"/>
          </a:p>
        </p:txBody>
      </p:sp>
      <p:sp>
        <p:nvSpPr>
          <p:cNvPr id="9" name="Shape 6"/>
          <p:cNvSpPr/>
          <p:nvPr/>
        </p:nvSpPr>
        <p:spPr>
          <a:xfrm>
            <a:off x="548640" y="2880360"/>
            <a:ext cx="548640" cy="548640"/>
          </a:xfrm>
          <a:prstGeom prst="ellipse">
            <a:avLst/>
          </a:prstGeom>
          <a:solidFill>
            <a:srgbClr val="2F9E41"/>
          </a:solidFill>
          <a:ln w="12700">
            <a:solidFill>
              <a:srgbClr val="2F9E41"/>
            </a:solidFill>
            <a:prstDash val="solid"/>
          </a:ln>
        </p:spPr>
      </p:sp>
      <p:pic>
        <p:nvPicPr>
          <p:cNvPr id="10" name="Image 1" descr="preencoded.png">    </p:cNvPr>
          <p:cNvPicPr>
            <a:picLocks noChangeAspect="1"/>
          </p:cNvPicPr>
          <p:nvPr/>
        </p:nvPicPr>
        <p:blipFill>
          <a:blip r:embed="rId2"/>
          <a:stretch>
            <a:fillRect/>
          </a:stretch>
        </p:blipFill>
        <p:spPr>
          <a:xfrm>
            <a:off x="685800" y="3017520"/>
            <a:ext cx="274320" cy="274320"/>
          </a:xfrm>
          <a:prstGeom prst="rect">
            <a:avLst/>
          </a:prstGeom>
        </p:spPr>
      </p:pic>
      <p:sp>
        <p:nvSpPr>
          <p:cNvPr id="11" name="Text 7"/>
          <p:cNvSpPr txBox="1"/>
          <p:nvPr/>
        </p:nvSpPr>
        <p:spPr>
          <a:xfrm>
            <a:off x="1280160" y="2880360"/>
            <a:ext cx="5669280" cy="548640"/>
          </a:xfrm>
          <a:prstGeom prst="rect">
            <a:avLst/>
          </a:prstGeom>
          <a:noFill/>
          <a:ln/>
        </p:spPr>
        <p:txBody>
          <a:bodyPr wrap="square" lIns="0" tIns="0" rIns="0" bIns="0" rtlCol="0" anchor="ctr"/>
          <a:lstStyle/>
          <a:p>
            <a:pPr indent="0" marL="0">
              <a:buNone/>
            </a:pPr>
            <a:r>
              <a:rPr lang="en-US" sz="2000" dirty="0">
                <a:solidFill>
                  <a:schemeClr val="tx1"/>
                </a:solidFill>
              </a:rPr>
              <a:t>viu um vídeo ou ouviu música online</a:t>
            </a:r>
            <a:endParaRPr lang="en-US" sz="2000" dirty="0"/>
          </a:p>
        </p:txBody>
      </p:sp>
      <p:sp>
        <p:nvSpPr>
          <p:cNvPr id="12" name="Shape 8"/>
          <p:cNvSpPr/>
          <p:nvPr/>
        </p:nvSpPr>
        <p:spPr>
          <a:xfrm>
            <a:off x="548640" y="3657600"/>
            <a:ext cx="548640" cy="548640"/>
          </a:xfrm>
          <a:prstGeom prst="ellipse">
            <a:avLst/>
          </a:prstGeom>
          <a:solidFill>
            <a:srgbClr val="2F9E41"/>
          </a:solidFill>
          <a:ln w="12700">
            <a:solidFill>
              <a:srgbClr val="2F9E41"/>
            </a:solidFill>
            <a:prstDash val="solid"/>
          </a:ln>
        </p:spPr>
      </p:sp>
      <p:pic>
        <p:nvPicPr>
          <p:cNvPr id="13" name="Image 2" descr="preencoded.png">    </p:cNvPr>
          <p:cNvPicPr>
            <a:picLocks noChangeAspect="1"/>
          </p:cNvPicPr>
          <p:nvPr/>
        </p:nvPicPr>
        <p:blipFill>
          <a:blip r:embed="rId3"/>
          <a:stretch>
            <a:fillRect/>
          </a:stretch>
        </p:blipFill>
        <p:spPr>
          <a:xfrm>
            <a:off x="685800" y="3794760"/>
            <a:ext cx="274320" cy="274320"/>
          </a:xfrm>
          <a:prstGeom prst="rect">
            <a:avLst/>
          </a:prstGeom>
        </p:spPr>
      </p:pic>
      <p:sp>
        <p:nvSpPr>
          <p:cNvPr id="14" name="Text 9"/>
          <p:cNvSpPr txBox="1"/>
          <p:nvPr/>
        </p:nvSpPr>
        <p:spPr>
          <a:xfrm>
            <a:off x="1280160" y="3657600"/>
            <a:ext cx="5669280" cy="548640"/>
          </a:xfrm>
          <a:prstGeom prst="rect">
            <a:avLst/>
          </a:prstGeom>
          <a:noFill/>
          <a:ln/>
        </p:spPr>
        <p:txBody>
          <a:bodyPr wrap="square" lIns="0" tIns="0" rIns="0" bIns="0" rtlCol="0" anchor="ctr"/>
          <a:lstStyle/>
          <a:p>
            <a:pPr indent="0" marL="0">
              <a:buNone/>
            </a:pPr>
            <a:r>
              <a:rPr lang="en-US" sz="2000" dirty="0">
                <a:solidFill>
                  <a:schemeClr val="tx1"/>
                </a:solidFill>
              </a:rPr>
              <a:t>olhou a previsão do tempo ou notícias</a:t>
            </a:r>
            <a:endParaRPr lang="en-US" sz="2000" dirty="0"/>
          </a:p>
        </p:txBody>
      </p:sp>
      <p:sp>
        <p:nvSpPr>
          <p:cNvPr id="15" name="Shape 10"/>
          <p:cNvSpPr/>
          <p:nvPr/>
        </p:nvSpPr>
        <p:spPr>
          <a:xfrm>
            <a:off x="548640" y="4434840"/>
            <a:ext cx="548640" cy="548640"/>
          </a:xfrm>
          <a:prstGeom prst="ellipse">
            <a:avLst/>
          </a:prstGeom>
          <a:solidFill>
            <a:srgbClr val="2F9E41"/>
          </a:solidFill>
          <a:ln w="12700">
            <a:solidFill>
              <a:srgbClr val="2F9E41"/>
            </a:solidFill>
            <a:prstDash val="solid"/>
          </a:ln>
        </p:spPr>
      </p:sp>
      <p:pic>
        <p:nvPicPr>
          <p:cNvPr id="16" name="Image 3" descr="preencoded.png">    </p:cNvPr>
          <p:cNvPicPr>
            <a:picLocks noChangeAspect="1"/>
          </p:cNvPicPr>
          <p:nvPr/>
        </p:nvPicPr>
        <p:blipFill>
          <a:blip r:embed="rId4"/>
          <a:stretch>
            <a:fillRect/>
          </a:stretch>
        </p:blipFill>
        <p:spPr>
          <a:xfrm>
            <a:off x="685800" y="4572000"/>
            <a:ext cx="274320" cy="274320"/>
          </a:xfrm>
          <a:prstGeom prst="rect">
            <a:avLst/>
          </a:prstGeom>
        </p:spPr>
      </p:pic>
      <p:sp>
        <p:nvSpPr>
          <p:cNvPr id="17" name="Text 11"/>
          <p:cNvSpPr txBox="1"/>
          <p:nvPr/>
        </p:nvSpPr>
        <p:spPr>
          <a:xfrm>
            <a:off x="1280160" y="4434840"/>
            <a:ext cx="5669280" cy="548640"/>
          </a:xfrm>
          <a:prstGeom prst="rect">
            <a:avLst/>
          </a:prstGeom>
          <a:noFill/>
          <a:ln/>
        </p:spPr>
        <p:txBody>
          <a:bodyPr wrap="square" lIns="0" tIns="0" rIns="0" bIns="0" rtlCol="0" anchor="ctr"/>
          <a:lstStyle/>
          <a:p>
            <a:pPr indent="0" marL="0">
              <a:buNone/>
            </a:pPr>
            <a:r>
              <a:rPr lang="en-US" sz="2000" dirty="0">
                <a:solidFill>
                  <a:schemeClr val="tx1"/>
                </a:solidFill>
              </a:rPr>
              <a:t>fez Pix ou pagou uma conta</a:t>
            </a:r>
            <a:endParaRPr lang="en-US" sz="2000" dirty="0"/>
          </a:p>
        </p:txBody>
      </p:sp>
      <p:sp>
        <p:nvSpPr>
          <p:cNvPr id="18" name="Shape 12"/>
          <p:cNvSpPr/>
          <p:nvPr/>
        </p:nvSpPr>
        <p:spPr>
          <a:xfrm>
            <a:off x="548640" y="5212080"/>
            <a:ext cx="548640" cy="548640"/>
          </a:xfrm>
          <a:prstGeom prst="ellipse">
            <a:avLst/>
          </a:prstGeom>
          <a:solidFill>
            <a:srgbClr val="2F9E41"/>
          </a:solidFill>
          <a:ln w="12700">
            <a:solidFill>
              <a:srgbClr val="2F9E41"/>
            </a:solidFill>
            <a:prstDash val="solid"/>
          </a:ln>
        </p:spPr>
      </p:sp>
      <p:pic>
        <p:nvPicPr>
          <p:cNvPr id="19" name="Image 4" descr="preencoded.png">    </p:cNvPr>
          <p:cNvPicPr>
            <a:picLocks noChangeAspect="1"/>
          </p:cNvPicPr>
          <p:nvPr/>
        </p:nvPicPr>
        <p:blipFill>
          <a:blip r:embed="rId5"/>
          <a:stretch>
            <a:fillRect/>
          </a:stretch>
        </p:blipFill>
        <p:spPr>
          <a:xfrm>
            <a:off x="685800" y="5349240"/>
            <a:ext cx="274320" cy="274320"/>
          </a:xfrm>
          <a:prstGeom prst="rect">
            <a:avLst/>
          </a:prstGeom>
        </p:spPr>
      </p:pic>
      <p:sp>
        <p:nvSpPr>
          <p:cNvPr id="20" name="Text 13"/>
          <p:cNvSpPr txBox="1"/>
          <p:nvPr/>
        </p:nvSpPr>
        <p:spPr>
          <a:xfrm>
            <a:off x="1280160" y="5212080"/>
            <a:ext cx="5669280" cy="548640"/>
          </a:xfrm>
          <a:prstGeom prst="rect">
            <a:avLst/>
          </a:prstGeom>
          <a:noFill/>
          <a:ln/>
        </p:spPr>
        <p:txBody>
          <a:bodyPr wrap="square" lIns="0" tIns="0" rIns="0" bIns="0" rtlCol="0" anchor="ctr"/>
          <a:lstStyle/>
          <a:p>
            <a:pPr indent="0" marL="0">
              <a:buNone/>
            </a:pPr>
            <a:r>
              <a:rPr lang="en-US" sz="2000" dirty="0">
                <a:solidFill>
                  <a:schemeClr val="tx1"/>
                </a:solidFill>
              </a:rPr>
              <a:t>usou o GPS ou chamou transporte por aplicativo</a:t>
            </a:r>
            <a:endParaRPr lang="en-US" sz="2000" dirty="0"/>
          </a:p>
        </p:txBody>
      </p:sp>
      <p:sp>
        <p:nvSpPr>
          <p:cNvPr id="21" name="Placar"/>
          <p:cNvSpPr/>
          <p:nvPr/>
        </p:nvSpPr>
        <p:spPr>
          <a:xfrm>
            <a:off x="7498080" y="1737360"/>
            <a:ext cx="4160520" cy="3931920"/>
          </a:xfrm>
          <a:prstGeom prst="roundRect">
            <a:avLst>
              <a:gd name="adj" fmla="val 3488"/>
            </a:avLst>
          </a:prstGeom>
          <a:solidFill>
            <a:schemeClr val="tx2"/>
          </a:solidFill>
          <a:ln w="12700">
            <a:solidFill>
              <a:schemeClr val="tx2"/>
            </a:solidFill>
            <a:prstDash val="solid"/>
          </a:ln>
        </p:spPr>
      </p:sp>
      <p:sp>
        <p:nvSpPr>
          <p:cNvPr id="22" name="Text 15"/>
          <p:cNvSpPr txBox="1"/>
          <p:nvPr/>
        </p:nvSpPr>
        <p:spPr>
          <a:xfrm>
            <a:off x="7772400" y="2011680"/>
            <a:ext cx="3611880" cy="457200"/>
          </a:xfrm>
          <a:prstGeom prst="rect">
            <a:avLst/>
          </a:prstGeom>
          <a:noFill/>
          <a:ln/>
        </p:spPr>
        <p:txBody>
          <a:bodyPr wrap="square" lIns="0" tIns="0" rIns="0" bIns="0" rtlCol="0" anchor="t"/>
          <a:lstStyle/>
          <a:p>
            <a:pPr algn="ctr" indent="0" marL="0">
              <a:buNone/>
            </a:pPr>
            <a:r>
              <a:rPr lang="en-US" sz="2000" b="1" dirty="0">
                <a:solidFill>
                  <a:schemeClr val="bg1"/>
                </a:solidFill>
              </a:rPr>
              <a:t>Placar da turma</a:t>
            </a:r>
            <a:endParaRPr lang="en-US" sz="2000" dirty="0"/>
          </a:p>
        </p:txBody>
      </p:sp>
      <p:sp>
        <p:nvSpPr>
          <p:cNvPr id="23" name="Text 16"/>
          <p:cNvSpPr txBox="1"/>
          <p:nvPr/>
        </p:nvSpPr>
        <p:spPr>
          <a:xfrm>
            <a:off x="7772400" y="2743200"/>
            <a:ext cx="3611880" cy="1188720"/>
          </a:xfrm>
          <a:prstGeom prst="rect">
            <a:avLst/>
          </a:prstGeom>
          <a:noFill/>
          <a:ln/>
        </p:spPr>
        <p:txBody>
          <a:bodyPr wrap="square" lIns="0" tIns="0" rIns="0" bIns="0" rtlCol="0" anchor="ctr"/>
          <a:lstStyle/>
          <a:p>
            <a:pPr algn="ctr" indent="0" marL="0">
              <a:buNone/>
            </a:pPr>
            <a:r>
              <a:rPr lang="en-US" sz="5400" b="1" dirty="0">
                <a:solidFill>
                  <a:schemeClr val="bg1"/>
                </a:solidFill>
              </a:rPr>
              <a:t>___ de ___</a:t>
            </a:r>
            <a:endParaRPr lang="en-US" sz="5400" dirty="0"/>
          </a:p>
        </p:txBody>
      </p:sp>
      <p:sp>
        <p:nvSpPr>
          <p:cNvPr id="24" name="Text 17"/>
          <p:cNvSpPr txBox="1"/>
          <p:nvPr/>
        </p:nvSpPr>
        <p:spPr>
          <a:xfrm>
            <a:off x="7772400" y="4114800"/>
            <a:ext cx="3611880" cy="914400"/>
          </a:xfrm>
          <a:prstGeom prst="rect">
            <a:avLst/>
          </a:prstGeom>
          <a:noFill/>
          <a:ln/>
        </p:spPr>
        <p:txBody>
          <a:bodyPr wrap="square" lIns="0" tIns="0" rIns="0" bIns="0" rtlCol="0" anchor="t"/>
          <a:lstStyle/>
          <a:p>
            <a:pPr algn="ctr" indent="0" marL="0">
              <a:buNone/>
            </a:pPr>
            <a:r>
              <a:rPr lang="en-US" sz="1800" dirty="0">
                <a:solidFill>
                  <a:schemeClr val="bg1"/>
                </a:solidFill>
              </a:rPr>
              <a:t>pessoas usaram uma rede hoje</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8229600" cy="1097280"/>
          </a:xfrm>
          <a:prstGeom prst="rect">
            <a:avLst/>
          </a:prstGeom>
          <a:noFill/>
          <a:ln/>
        </p:spPr>
        <p:txBody>
          <a:bodyPr wrap="square" lIns="0" tIns="0" rIns="0" bIns="0" rtlCol="0"/>
          <a:lstStyle/>
          <a:p>
            <a:pPr algn="l" indent="0" marL="0">
              <a:buNone/>
            </a:pPr>
            <a:r>
              <a:rPr lang="en-US" sz="6000" b="1" dirty="0">
                <a:solidFill>
                  <a:schemeClr val="tx2"/>
                </a:solidFill>
              </a:rPr>
              <a:t>1.5.3</a:t>
            </a:r>
            <a:endParaRPr lang="en-US" sz="6000" dirty="0"/>
          </a:p>
        </p:txBody>
      </p:sp>
      <p:sp>
        <p:nvSpPr>
          <p:cNvPr id="3" name="Text 0"/>
          <p:cNvSpPr/>
          <p:nvPr>
            <p:ph idx="102" type="title" hasCustomPrompt="1"/>
          </p:nvPr>
        </p:nvSpPr>
        <p:spPr>
          <a:xfrm>
            <a:off x="731520" y="2651760"/>
            <a:ext cx="8595360" cy="1463040"/>
          </a:xfrm>
          <a:prstGeom prst="rect">
            <a:avLst/>
          </a:prstGeom>
          <a:noFill/>
          <a:ln/>
        </p:spPr>
        <p:txBody>
          <a:bodyPr wrap="square" lIns="0" tIns="0" rIns="0" bIns="0" rtlCol="0" anchor="t"/>
          <a:lstStyle/>
          <a:p>
            <a:pPr algn="l" indent="0" marL="0">
              <a:buNone/>
            </a:pPr>
            <a:r>
              <a:rPr lang="en-US" sz="4400" b="1" dirty="0">
                <a:solidFill>
                  <a:schemeClr val="bg1"/>
                </a:solidFill>
              </a:rPr>
              <a:t>Como funciona uma rede</a:t>
            </a:r>
            <a:endParaRPr lang="en-US" sz="4400" dirty="0"/>
          </a:p>
        </p:txBody>
      </p:sp>
      <p:sp>
        <p:nvSpPr>
          <p:cNvPr id="4" name="Text 0"/>
          <p:cNvSpPr/>
          <p:nvPr>
            <p:ph idx="103" type="body" hasCustomPrompt="1"/>
          </p:nvPr>
        </p:nvSpPr>
        <p:spPr>
          <a:xfrm>
            <a:off x="731520" y="4297680"/>
            <a:ext cx="8229600" cy="1097280"/>
          </a:xfrm>
          <a:prstGeom prst="rect">
            <a:avLst/>
          </a:prstGeom>
          <a:noFill/>
          <a:ln/>
        </p:spPr>
        <p:txBody>
          <a:bodyPr wrap="square" lIns="0" tIns="0" rIns="0" bIns="0" rtlCol="0" anchor="t"/>
          <a:lstStyle/>
          <a:p>
            <a:pPr algn="l" indent="0" marL="0">
              <a:buNone/>
            </a:pPr>
            <a:r>
              <a:rPr lang="en-US" sz="2200" dirty="0">
                <a:solidFill>
                  <a:schemeClr val="bg1"/>
                </a:solidFill>
              </a:rPr>
              <a:t>Rede local, ADSL, fibra óptica, 3G/4G/5G e satélite</a:t>
            </a:r>
            <a:endParaRPr lang="en-US" sz="2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Rede local: a rede da casa ou da escola</a:t>
            </a:r>
            <a:endParaRPr lang="en-US" sz="3400" dirty="0"/>
          </a:p>
        </p:txBody>
      </p:sp>
      <p:sp>
        <p:nvSpPr>
          <p:cNvPr id="3" name="Text 1"/>
          <p:cNvSpPr txBox="1"/>
          <p:nvPr/>
        </p:nvSpPr>
        <p:spPr>
          <a:xfrm>
            <a:off x="548640" y="1463040"/>
            <a:ext cx="4937760" cy="42062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rPr>
              <a:t>Liga aparelhos de um mesmo lugar: casa, escola, empresa</a:t>
            </a:r>
            <a:endParaRPr lang="en-US" sz="1800" dirty="0"/>
          </a:p>
          <a:p>
            <a:pPr marL="342900" indent="-342900">
              <a:spcAft>
                <a:spcPts val="1000"/>
              </a:spcAft>
              <a:buSzPct val="100000"/>
              <a:buChar char="•"/>
            </a:pPr>
            <a:r>
              <a:rPr lang="en-US" sz="2000" dirty="0">
                <a:solidFill>
                  <a:schemeClr val="tx1"/>
                </a:solidFill>
              </a:rPr>
              <a:t>O roteador é o "centro" da rede</a:t>
            </a:r>
            <a:endParaRPr lang="en-US" sz="1800" dirty="0"/>
          </a:p>
          <a:p>
            <a:pPr marL="342900" indent="-342900">
              <a:spcAft>
                <a:spcPts val="1000"/>
              </a:spcAft>
              <a:buSzPct val="100000"/>
              <a:buChar char="•"/>
            </a:pPr>
            <a:r>
              <a:rPr lang="en-US" sz="2000" dirty="0">
                <a:solidFill>
                  <a:schemeClr val="tx1"/>
                </a:solidFill>
              </a:rPr>
              <a:t>A ligação pode ser por cabo ou por Wi-Fi</a:t>
            </a:r>
            <a:endParaRPr lang="en-US" sz="1800" dirty="0"/>
          </a:p>
          <a:p>
            <a:pPr marL="342900" indent="-342900">
              <a:spcAft>
                <a:spcPts val="1000"/>
              </a:spcAft>
              <a:buSzPct val="100000"/>
              <a:buChar char="•"/>
            </a:pPr>
            <a:r>
              <a:rPr lang="en-US" sz="2000" dirty="0">
                <a:solidFill>
                  <a:schemeClr val="tx1"/>
                </a:solidFill>
              </a:rPr>
              <a:t>O roteador também leva a internet a todos</a:t>
            </a:r>
            <a:endParaRPr lang="en-US" sz="1800" dirty="0"/>
          </a:p>
        </p:txBody>
      </p:sp>
      <p:sp>
        <p:nvSpPr>
          <p:cNvPr id="4" name="Shape 2"/>
          <p:cNvSpPr/>
          <p:nvPr/>
        </p:nvSpPr>
        <p:spPr>
          <a:xfrm>
            <a:off x="6035040" y="3063240"/>
            <a:ext cx="1005840" cy="1005840"/>
          </a:xfrm>
          <a:prstGeom prst="ellipse">
            <a:avLst/>
          </a:prstGeom>
          <a:solidFill>
            <a:srgbClr val="1B5E20"/>
          </a:solidFill>
          <a:ln w="12700">
            <a:solidFill>
              <a:srgbClr val="1B5E20"/>
            </a:solidFill>
            <a:prstDash val="solid"/>
          </a:ln>
        </p:spPr>
      </p:sp>
      <p:pic>
        <p:nvPicPr>
          <p:cNvPr id="5" name="Image 0" descr="preencoded.png">    </p:cNvPr>
          <p:cNvPicPr>
            <a:picLocks noChangeAspect="1"/>
          </p:cNvPicPr>
          <p:nvPr/>
        </p:nvPicPr>
        <p:blipFill>
          <a:blip r:embed="rId1"/>
          <a:stretch>
            <a:fillRect/>
          </a:stretch>
        </p:blipFill>
        <p:spPr>
          <a:xfrm>
            <a:off x="6286500" y="3314700"/>
            <a:ext cx="502920" cy="502920"/>
          </a:xfrm>
          <a:prstGeom prst="rect">
            <a:avLst/>
          </a:prstGeom>
        </p:spPr>
      </p:pic>
      <p:sp>
        <p:nvSpPr>
          <p:cNvPr id="6" name="Text 3"/>
          <p:cNvSpPr txBox="1"/>
          <p:nvPr/>
        </p:nvSpPr>
        <p:spPr>
          <a:xfrm>
            <a:off x="5806440" y="4114800"/>
            <a:ext cx="1463040" cy="365760"/>
          </a:xfrm>
          <a:prstGeom prst="rect">
            <a:avLst/>
          </a:prstGeom>
          <a:noFill/>
          <a:ln/>
        </p:spPr>
        <p:txBody>
          <a:bodyPr wrap="square" lIns="0" tIns="0" rIns="0" bIns="0" rtlCol="0" anchor="t"/>
          <a:lstStyle/>
          <a:p>
            <a:pPr algn="ctr" indent="0" marL="0">
              <a:buNone/>
            </a:pPr>
            <a:r>
              <a:rPr lang="en-US" sz="1400" dirty="0">
                <a:solidFill>
                  <a:schemeClr val="accent5"/>
                </a:solidFill>
              </a:rPr>
              <a:t>internet</a:t>
            </a:r>
            <a:endParaRPr lang="en-US" sz="1400" dirty="0"/>
          </a:p>
        </p:txBody>
      </p:sp>
      <p:sp>
        <p:nvSpPr>
          <p:cNvPr id="7" name="Shape 4"/>
          <p:cNvSpPr/>
          <p:nvPr/>
        </p:nvSpPr>
        <p:spPr>
          <a:xfrm>
            <a:off x="7040880" y="3566160"/>
            <a:ext cx="822960" cy="914"/>
          </a:xfrm>
          <a:prstGeom prst="line">
            <a:avLst/>
          </a:prstGeom>
          <a:noFill/>
          <a:ln w="31750">
            <a:solidFill>
              <a:srgbClr val="5F6B62"/>
            </a:solidFill>
            <a:prstDash val="solid"/>
          </a:ln>
        </p:spPr>
      </p:sp>
      <p:sp>
        <p:nvSpPr>
          <p:cNvPr id="8" name="Shape 5"/>
          <p:cNvSpPr/>
          <p:nvPr/>
        </p:nvSpPr>
        <p:spPr>
          <a:xfrm>
            <a:off x="7863840" y="2971800"/>
            <a:ext cx="1188720" cy="1188720"/>
          </a:xfrm>
          <a:prstGeom prst="ellipse">
            <a:avLst/>
          </a:prstGeom>
          <a:solidFill>
            <a:srgbClr val="C8191E"/>
          </a:solidFill>
          <a:ln w="12700">
            <a:solidFill>
              <a:srgbClr val="C8191E"/>
            </a:solidFill>
            <a:prstDash val="solid"/>
          </a:ln>
        </p:spPr>
      </p:sp>
      <p:pic>
        <p:nvPicPr>
          <p:cNvPr id="9" name="Image 1" descr="preencoded.png">    </p:cNvPr>
          <p:cNvPicPr>
            <a:picLocks noChangeAspect="1"/>
          </p:cNvPicPr>
          <p:nvPr/>
        </p:nvPicPr>
        <p:blipFill>
          <a:blip r:embed="rId2"/>
          <a:stretch>
            <a:fillRect/>
          </a:stretch>
        </p:blipFill>
        <p:spPr>
          <a:xfrm>
            <a:off x="8161020" y="3268980"/>
            <a:ext cx="594360" cy="594360"/>
          </a:xfrm>
          <a:prstGeom prst="rect">
            <a:avLst/>
          </a:prstGeom>
        </p:spPr>
      </p:pic>
      <p:sp>
        <p:nvSpPr>
          <p:cNvPr id="10" name="Text 6"/>
          <p:cNvSpPr txBox="1"/>
          <p:nvPr/>
        </p:nvSpPr>
        <p:spPr>
          <a:xfrm>
            <a:off x="7726680" y="4206240"/>
            <a:ext cx="1463040" cy="365760"/>
          </a:xfrm>
          <a:prstGeom prst="rect">
            <a:avLst/>
          </a:prstGeom>
          <a:noFill/>
          <a:ln/>
        </p:spPr>
        <p:txBody>
          <a:bodyPr wrap="square" lIns="0" tIns="0" rIns="0" bIns="0" rtlCol="0" anchor="t"/>
          <a:lstStyle/>
          <a:p>
            <a:pPr algn="ctr" indent="0" marL="0">
              <a:buNone/>
            </a:pPr>
            <a:r>
              <a:rPr lang="en-US" sz="1400" dirty="0">
                <a:solidFill>
                  <a:schemeClr val="accent5"/>
                </a:solidFill>
              </a:rPr>
              <a:t>roteador</a:t>
            </a:r>
            <a:endParaRPr lang="en-US" sz="1400" dirty="0"/>
          </a:p>
        </p:txBody>
      </p:sp>
      <p:sp>
        <p:nvSpPr>
          <p:cNvPr id="11" name="Shape 7"/>
          <p:cNvSpPr/>
          <p:nvPr/>
        </p:nvSpPr>
        <p:spPr>
          <a:xfrm flipV="1">
            <a:off x="9052560" y="1874520"/>
            <a:ext cx="1463040" cy="1691640"/>
          </a:xfrm>
          <a:prstGeom prst="line">
            <a:avLst/>
          </a:prstGeom>
          <a:noFill/>
          <a:ln w="31750">
            <a:solidFill>
              <a:srgbClr val="5F6B62"/>
            </a:solidFill>
            <a:prstDash val="solid"/>
          </a:ln>
        </p:spPr>
      </p:sp>
      <p:sp>
        <p:nvSpPr>
          <p:cNvPr id="12" name="Shape 8"/>
          <p:cNvSpPr/>
          <p:nvPr/>
        </p:nvSpPr>
        <p:spPr>
          <a:xfrm>
            <a:off x="10515600" y="1417320"/>
            <a:ext cx="914400" cy="914400"/>
          </a:xfrm>
          <a:prstGeom prst="ellipse">
            <a:avLst/>
          </a:prstGeom>
          <a:solidFill>
            <a:srgbClr val="2F9E41"/>
          </a:solidFill>
          <a:ln w="12700">
            <a:solidFill>
              <a:srgbClr val="2F9E41"/>
            </a:solidFill>
            <a:prstDash val="solid"/>
          </a:ln>
        </p:spPr>
      </p:sp>
      <p:pic>
        <p:nvPicPr>
          <p:cNvPr id="13" name="Image 2" descr="preencoded.png">    </p:cNvPr>
          <p:cNvPicPr>
            <a:picLocks noChangeAspect="1"/>
          </p:cNvPicPr>
          <p:nvPr/>
        </p:nvPicPr>
        <p:blipFill>
          <a:blip r:embed="rId3"/>
          <a:stretch>
            <a:fillRect/>
          </a:stretch>
        </p:blipFill>
        <p:spPr>
          <a:xfrm>
            <a:off x="10744200" y="1645920"/>
            <a:ext cx="457200" cy="457200"/>
          </a:xfrm>
          <a:prstGeom prst="rect">
            <a:avLst/>
          </a:prstGeom>
        </p:spPr>
      </p:pic>
      <p:sp>
        <p:nvSpPr>
          <p:cNvPr id="14" name="Text 9"/>
          <p:cNvSpPr txBox="1"/>
          <p:nvPr/>
        </p:nvSpPr>
        <p:spPr>
          <a:xfrm>
            <a:off x="9326880" y="2308860"/>
            <a:ext cx="914400" cy="320040"/>
          </a:xfrm>
          <a:prstGeom prst="rect">
            <a:avLst/>
          </a:prstGeom>
          <a:noFill/>
          <a:ln/>
        </p:spPr>
        <p:txBody>
          <a:bodyPr wrap="square" lIns="0" tIns="0" rIns="0" bIns="0" rtlCol="0" anchor="t"/>
          <a:lstStyle/>
          <a:p>
            <a:pPr algn="ctr" indent="0" marL="0">
              <a:buNone/>
            </a:pPr>
            <a:r>
              <a:rPr lang="en-US" sz="1300" dirty="0">
                <a:solidFill>
                  <a:schemeClr val="accent5"/>
                </a:solidFill>
              </a:rPr>
              <a:t>cabo</a:t>
            </a:r>
            <a:endParaRPr lang="en-US" sz="1300" dirty="0"/>
          </a:p>
        </p:txBody>
      </p:sp>
      <p:sp>
        <p:nvSpPr>
          <p:cNvPr id="15" name="Shape 10"/>
          <p:cNvSpPr/>
          <p:nvPr/>
        </p:nvSpPr>
        <p:spPr>
          <a:xfrm flipV="1">
            <a:off x="9052560" y="3520440"/>
            <a:ext cx="1463040" cy="45720"/>
          </a:xfrm>
          <a:prstGeom prst="line">
            <a:avLst/>
          </a:prstGeom>
          <a:noFill/>
          <a:ln w="31750">
            <a:solidFill>
              <a:srgbClr val="5F6B62"/>
            </a:solidFill>
            <a:prstDash val="dash"/>
          </a:ln>
        </p:spPr>
      </p:sp>
      <p:sp>
        <p:nvSpPr>
          <p:cNvPr id="16" name="Shape 11"/>
          <p:cNvSpPr/>
          <p:nvPr/>
        </p:nvSpPr>
        <p:spPr>
          <a:xfrm>
            <a:off x="10515600" y="3063240"/>
            <a:ext cx="914400" cy="914400"/>
          </a:xfrm>
          <a:prstGeom prst="ellipse">
            <a:avLst/>
          </a:prstGeom>
          <a:solidFill>
            <a:srgbClr val="2F9E41"/>
          </a:solidFill>
          <a:ln w="12700">
            <a:solidFill>
              <a:srgbClr val="2F9E41"/>
            </a:solidFill>
            <a:prstDash val="solid"/>
          </a:ln>
        </p:spPr>
      </p:sp>
      <p:pic>
        <p:nvPicPr>
          <p:cNvPr id="17" name="Image 3" descr="preencoded.png">    </p:cNvPr>
          <p:cNvPicPr>
            <a:picLocks noChangeAspect="1"/>
          </p:cNvPicPr>
          <p:nvPr/>
        </p:nvPicPr>
        <p:blipFill>
          <a:blip r:embed="rId4"/>
          <a:stretch>
            <a:fillRect/>
          </a:stretch>
        </p:blipFill>
        <p:spPr>
          <a:xfrm>
            <a:off x="10744200" y="3291840"/>
            <a:ext cx="457200" cy="457200"/>
          </a:xfrm>
          <a:prstGeom prst="rect">
            <a:avLst/>
          </a:prstGeom>
        </p:spPr>
      </p:pic>
      <p:sp>
        <p:nvSpPr>
          <p:cNvPr id="18" name="Text 12"/>
          <p:cNvSpPr txBox="1"/>
          <p:nvPr/>
        </p:nvSpPr>
        <p:spPr>
          <a:xfrm>
            <a:off x="9326880" y="3131820"/>
            <a:ext cx="914400" cy="320040"/>
          </a:xfrm>
          <a:prstGeom prst="rect">
            <a:avLst/>
          </a:prstGeom>
          <a:noFill/>
          <a:ln/>
        </p:spPr>
        <p:txBody>
          <a:bodyPr wrap="square" lIns="0" tIns="0" rIns="0" bIns="0" rtlCol="0" anchor="t"/>
          <a:lstStyle/>
          <a:p>
            <a:pPr algn="ctr" indent="0" marL="0">
              <a:buNone/>
            </a:pPr>
            <a:r>
              <a:rPr lang="en-US" sz="1300" dirty="0">
                <a:solidFill>
                  <a:schemeClr val="accent5"/>
                </a:solidFill>
              </a:rPr>
              <a:t>Wi-Fi</a:t>
            </a:r>
            <a:endParaRPr lang="en-US" sz="1300" dirty="0"/>
          </a:p>
        </p:txBody>
      </p:sp>
      <p:sp>
        <p:nvSpPr>
          <p:cNvPr id="19" name="Shape 13"/>
          <p:cNvSpPr/>
          <p:nvPr/>
        </p:nvSpPr>
        <p:spPr>
          <a:xfrm>
            <a:off x="9052560" y="3566160"/>
            <a:ext cx="1463040" cy="1600200"/>
          </a:xfrm>
          <a:prstGeom prst="line">
            <a:avLst/>
          </a:prstGeom>
          <a:noFill/>
          <a:ln w="31750">
            <a:solidFill>
              <a:srgbClr val="5F6B62"/>
            </a:solidFill>
            <a:prstDash val="dash"/>
          </a:ln>
        </p:spPr>
      </p:sp>
      <p:sp>
        <p:nvSpPr>
          <p:cNvPr id="20" name="Shape 14"/>
          <p:cNvSpPr/>
          <p:nvPr/>
        </p:nvSpPr>
        <p:spPr>
          <a:xfrm>
            <a:off x="10515600" y="4709160"/>
            <a:ext cx="914400" cy="914400"/>
          </a:xfrm>
          <a:prstGeom prst="ellipse">
            <a:avLst/>
          </a:prstGeom>
          <a:solidFill>
            <a:srgbClr val="2F9E41"/>
          </a:solidFill>
          <a:ln w="12700">
            <a:solidFill>
              <a:srgbClr val="2F9E41"/>
            </a:solidFill>
            <a:prstDash val="solid"/>
          </a:ln>
        </p:spPr>
      </p:sp>
      <p:pic>
        <p:nvPicPr>
          <p:cNvPr id="21" name="Image 4" descr="preencoded.png">    </p:cNvPr>
          <p:cNvPicPr>
            <a:picLocks noChangeAspect="1"/>
          </p:cNvPicPr>
          <p:nvPr/>
        </p:nvPicPr>
        <p:blipFill>
          <a:blip r:embed="rId5"/>
          <a:stretch>
            <a:fillRect/>
          </a:stretch>
        </p:blipFill>
        <p:spPr>
          <a:xfrm>
            <a:off x="10744200" y="4937760"/>
            <a:ext cx="457200" cy="457200"/>
          </a:xfrm>
          <a:prstGeom prst="rect">
            <a:avLst/>
          </a:prstGeom>
        </p:spPr>
      </p:pic>
      <p:sp>
        <p:nvSpPr>
          <p:cNvPr id="22" name="Text 15"/>
          <p:cNvSpPr txBox="1"/>
          <p:nvPr/>
        </p:nvSpPr>
        <p:spPr>
          <a:xfrm>
            <a:off x="9326880" y="3954780"/>
            <a:ext cx="914400" cy="320040"/>
          </a:xfrm>
          <a:prstGeom prst="rect">
            <a:avLst/>
          </a:prstGeom>
          <a:noFill/>
          <a:ln/>
        </p:spPr>
        <p:txBody>
          <a:bodyPr wrap="square" lIns="0" tIns="0" rIns="0" bIns="0" rtlCol="0" anchor="t"/>
          <a:lstStyle/>
          <a:p>
            <a:pPr algn="ctr" indent="0" marL="0">
              <a:buNone/>
            </a:pPr>
            <a:r>
              <a:rPr lang="en-US" sz="1300" dirty="0">
                <a:solidFill>
                  <a:schemeClr val="accent5"/>
                </a:solidFill>
              </a:rPr>
              <a:t>Wi-Fi</a:t>
            </a:r>
            <a:endParaRPr lang="en-US" sz="13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ADSL: internet pelo fio do telefone</a:t>
            </a:r>
            <a:endParaRPr lang="en-US" sz="3400" dirty="0"/>
          </a:p>
        </p:txBody>
      </p:sp>
      <p:sp>
        <p:nvSpPr>
          <p:cNvPr id="3" name="Text 1"/>
          <p:cNvSpPr txBox="1"/>
          <p:nvPr/>
        </p:nvSpPr>
        <p:spPr>
          <a:xfrm>
            <a:off x="548640" y="1463040"/>
            <a:ext cx="5486400" cy="32918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rPr>
              <a:t>Usa a linha do telefone fixo (fio de cobre)</a:t>
            </a:r>
            <a:endParaRPr lang="en-US" sz="1800" dirty="0"/>
          </a:p>
          <a:p>
            <a:pPr marL="342900" indent="-342900">
              <a:spcAft>
                <a:spcPts val="1000"/>
              </a:spcAft>
              <a:buSzPct val="100000"/>
              <a:buChar char="•"/>
            </a:pPr>
            <a:r>
              <a:rPr lang="en-US" sz="2000" dirty="0">
                <a:solidFill>
                  <a:schemeClr val="tx1"/>
                </a:solidFill>
              </a:rPr>
              <a:t>Dá para falar ao telefone e navegar ao mesmo tempo</a:t>
            </a:r>
            <a:endParaRPr lang="en-US" sz="1800" dirty="0"/>
          </a:p>
          <a:p>
            <a:pPr marL="342900" indent="-342900">
              <a:spcAft>
                <a:spcPts val="1000"/>
              </a:spcAft>
              <a:buSzPct val="100000"/>
              <a:buChar char="•"/>
            </a:pPr>
            <a:r>
              <a:rPr lang="en-US" sz="2000" dirty="0">
                <a:solidFill>
                  <a:schemeClr val="tx1"/>
                </a:solidFill>
              </a:rPr>
              <a:t>Quanto mais longe da central, mais lenta fica</a:t>
            </a:r>
            <a:endParaRPr lang="en-US" sz="1800" dirty="0"/>
          </a:p>
          <a:p>
            <a:pPr marL="342900" indent="-342900">
              <a:spcAft>
                <a:spcPts val="1000"/>
              </a:spcAft>
              <a:buSzPct val="100000"/>
              <a:buChar char="•"/>
            </a:pPr>
            <a:r>
              <a:rPr lang="en-US" sz="2000" dirty="0">
                <a:solidFill>
                  <a:schemeClr val="tx1"/>
                </a:solidFill>
              </a:rPr>
              <a:t>Hoje está sendo trocada pela fibra óptica</a:t>
            </a:r>
            <a:endParaRPr lang="en-US" sz="1800" dirty="0"/>
          </a:p>
        </p:txBody>
      </p:sp>
      <p:sp>
        <p:nvSpPr>
          <p:cNvPr id="4" name="Caminho"/>
          <p:cNvSpPr/>
          <p:nvPr/>
        </p:nvSpPr>
        <p:spPr>
          <a:xfrm>
            <a:off x="6400800" y="1417320"/>
            <a:ext cx="5257800" cy="4251960"/>
          </a:xfrm>
          <a:prstGeom prst="roundRect">
            <a:avLst>
              <a:gd name="adj" fmla="val 3226"/>
            </a:avLst>
          </a:prstGeom>
          <a:solidFill>
            <a:schemeClr val="bg2"/>
          </a:solidFill>
          <a:ln w="12700">
            <a:solidFill>
              <a:schemeClr val="bg2"/>
            </a:solidFill>
            <a:prstDash val="solid"/>
          </a:ln>
        </p:spPr>
      </p:sp>
      <p:sp>
        <p:nvSpPr>
          <p:cNvPr id="5" name="Text 3"/>
          <p:cNvSpPr txBox="1"/>
          <p:nvPr/>
        </p:nvSpPr>
        <p:spPr>
          <a:xfrm>
            <a:off x="6675120" y="1600200"/>
            <a:ext cx="4754880" cy="411480"/>
          </a:xfrm>
          <a:prstGeom prst="rect">
            <a:avLst/>
          </a:prstGeom>
          <a:noFill/>
          <a:ln/>
        </p:spPr>
        <p:txBody>
          <a:bodyPr wrap="square" lIns="0" tIns="0" rIns="0" bIns="0" rtlCol="0" anchor="t"/>
          <a:lstStyle/>
          <a:p>
            <a:pPr indent="0" marL="0">
              <a:buNone/>
            </a:pPr>
            <a:r>
              <a:rPr lang="en-US" sz="1600" b="1" dirty="0">
                <a:solidFill>
                  <a:schemeClr val="tx2"/>
                </a:solidFill>
              </a:rPr>
              <a:t>O caminho da internet</a:t>
            </a:r>
            <a:endParaRPr lang="en-US" sz="1600" dirty="0"/>
          </a:p>
        </p:txBody>
      </p:sp>
      <p:sp>
        <p:nvSpPr>
          <p:cNvPr id="6" name="Shape 4"/>
          <p:cNvSpPr/>
          <p:nvPr/>
        </p:nvSpPr>
        <p:spPr>
          <a:xfrm>
            <a:off x="7178040" y="2926080"/>
            <a:ext cx="914" cy="365760"/>
          </a:xfrm>
          <a:prstGeom prst="line">
            <a:avLst/>
          </a:prstGeom>
          <a:noFill/>
          <a:ln w="31750">
            <a:solidFill>
              <a:srgbClr val="5F6B62"/>
            </a:solidFill>
            <a:prstDash val="dash"/>
          </a:ln>
        </p:spPr>
      </p:sp>
      <p:sp>
        <p:nvSpPr>
          <p:cNvPr id="7" name="Shape 5"/>
          <p:cNvSpPr/>
          <p:nvPr/>
        </p:nvSpPr>
        <p:spPr>
          <a:xfrm>
            <a:off x="6766560" y="2103120"/>
            <a:ext cx="822960" cy="822960"/>
          </a:xfrm>
          <a:prstGeom prst="ellipse">
            <a:avLst/>
          </a:prstGeom>
          <a:solidFill>
            <a:srgbClr val="1B5E20"/>
          </a:solidFill>
          <a:ln w="12700">
            <a:solidFill>
              <a:schemeClr val="bg2"/>
            </a:solidFill>
            <a:prstDash val="solid"/>
          </a:ln>
        </p:spPr>
      </p:sp>
      <p:sp>
        <p:nvSpPr>
          <p:cNvPr id="8" name="Shape 6"/>
          <p:cNvSpPr/>
          <p:nvPr/>
        </p:nvSpPr>
        <p:spPr>
          <a:xfrm>
            <a:off x="7178040" y="4069080"/>
            <a:ext cx="914" cy="365760"/>
          </a:xfrm>
          <a:prstGeom prst="line">
            <a:avLst/>
          </a:prstGeom>
          <a:noFill/>
          <a:ln w="31750">
            <a:solidFill>
              <a:srgbClr val="5F6B62"/>
            </a:solidFill>
            <a:prstDash val="dash"/>
          </a:ln>
        </p:spPr>
      </p:sp>
      <p:sp>
        <p:nvSpPr>
          <p:cNvPr id="9" name="Shape 7"/>
          <p:cNvSpPr/>
          <p:nvPr/>
        </p:nvSpPr>
        <p:spPr>
          <a:xfrm>
            <a:off x="6766560" y="3246120"/>
            <a:ext cx="822960" cy="822960"/>
          </a:xfrm>
          <a:prstGeom prst="ellipse">
            <a:avLst/>
          </a:prstGeom>
          <a:solidFill>
            <a:srgbClr val="1B5E20"/>
          </a:solidFill>
          <a:ln w="12700">
            <a:solidFill>
              <a:schemeClr val="bg2"/>
            </a:solidFill>
            <a:prstDash val="solid"/>
          </a:ln>
        </p:spPr>
      </p:sp>
      <p:sp>
        <p:nvSpPr>
          <p:cNvPr id="10" name="Shape 8"/>
          <p:cNvSpPr/>
          <p:nvPr/>
        </p:nvSpPr>
        <p:spPr>
          <a:xfrm>
            <a:off x="6766560" y="4389120"/>
            <a:ext cx="822960" cy="822960"/>
          </a:xfrm>
          <a:prstGeom prst="ellipse">
            <a:avLst/>
          </a:prstGeom>
          <a:solidFill>
            <a:schemeClr val="accent1"/>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6967728" y="2304288"/>
            <a:ext cx="420624" cy="420624"/>
          </a:xfrm>
          <a:prstGeom prst="rect">
            <a:avLst/>
          </a:prstGeom>
        </p:spPr>
      </p:pic>
      <p:sp>
        <p:nvSpPr>
          <p:cNvPr id="12" name="Text 9"/>
          <p:cNvSpPr txBox="1"/>
          <p:nvPr/>
        </p:nvSpPr>
        <p:spPr>
          <a:xfrm>
            <a:off x="7818120" y="2103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Central da companhia telefônica</a:t>
            </a:r>
            <a:endParaRPr lang="en-US" sz="1700" dirty="0"/>
          </a:p>
        </p:txBody>
      </p:sp>
      <p:pic>
        <p:nvPicPr>
          <p:cNvPr id="13" name="Image 1" descr="preencoded.png">    </p:cNvPr>
          <p:cNvPicPr>
            <a:picLocks noChangeAspect="1"/>
          </p:cNvPicPr>
          <p:nvPr/>
        </p:nvPicPr>
        <p:blipFill>
          <a:blip r:embed="rId2"/>
          <a:stretch>
            <a:fillRect/>
          </a:stretch>
        </p:blipFill>
        <p:spPr>
          <a:xfrm>
            <a:off x="6967728" y="3447288"/>
            <a:ext cx="420624" cy="420624"/>
          </a:xfrm>
          <a:prstGeom prst="rect">
            <a:avLst/>
          </a:prstGeom>
        </p:spPr>
      </p:pic>
      <p:sp>
        <p:nvSpPr>
          <p:cNvPr id="14" name="Text 10"/>
          <p:cNvSpPr txBox="1"/>
          <p:nvPr/>
        </p:nvSpPr>
        <p:spPr>
          <a:xfrm>
            <a:off x="7818120" y="3246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Fio do telefone (cobre)</a:t>
            </a:r>
            <a:endParaRPr lang="en-US" sz="1700" dirty="0"/>
          </a:p>
        </p:txBody>
      </p:sp>
      <p:pic>
        <p:nvPicPr>
          <p:cNvPr id="15" name="Image 2" descr="preencoded.png">    </p:cNvPr>
          <p:cNvPicPr>
            <a:picLocks noChangeAspect="1"/>
          </p:cNvPicPr>
          <p:nvPr/>
        </p:nvPicPr>
        <p:blipFill>
          <a:blip r:embed="rId3"/>
          <a:stretch>
            <a:fillRect/>
          </a:stretch>
        </p:blipFill>
        <p:spPr>
          <a:xfrm>
            <a:off x="6967728" y="4590288"/>
            <a:ext cx="420624" cy="420624"/>
          </a:xfrm>
          <a:prstGeom prst="rect">
            <a:avLst/>
          </a:prstGeom>
        </p:spPr>
      </p:pic>
      <p:sp>
        <p:nvSpPr>
          <p:cNvPr id="16" name="Text 11"/>
          <p:cNvSpPr txBox="1"/>
          <p:nvPr/>
        </p:nvSpPr>
        <p:spPr>
          <a:xfrm>
            <a:off x="7818120" y="4389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Modem ADSL na sua casa</a:t>
            </a:r>
            <a:endParaRPr lang="en-US" sz="1700" dirty="0"/>
          </a:p>
        </p:txBody>
      </p:sp>
      <p:sp>
        <p:nvSpPr>
          <p:cNvPr id="17" name="Shape 12"/>
          <p:cNvSpPr/>
          <p:nvPr/>
        </p:nvSpPr>
        <p:spPr>
          <a:xfrm>
            <a:off x="548640" y="4892040"/>
            <a:ext cx="822960" cy="822960"/>
          </a:xfrm>
          <a:prstGeom prst="ellipse">
            <a:avLst/>
          </a:prstGeom>
          <a:solidFill>
            <a:srgbClr val="1B5E20"/>
          </a:solidFill>
          <a:ln w="12700">
            <a:solidFill>
              <a:srgbClr val="1B5E20"/>
            </a:solidFill>
            <a:prstDash val="solid"/>
          </a:ln>
        </p:spPr>
      </p:sp>
      <p:pic>
        <p:nvPicPr>
          <p:cNvPr id="18" name="Image 3" descr="preencoded.png">    </p:cNvPr>
          <p:cNvPicPr>
            <a:picLocks noChangeAspect="1"/>
          </p:cNvPicPr>
          <p:nvPr/>
        </p:nvPicPr>
        <p:blipFill>
          <a:blip r:embed="rId4"/>
          <a:stretch>
            <a:fillRect/>
          </a:stretch>
        </p:blipFill>
        <p:spPr>
          <a:xfrm>
            <a:off x="754380" y="5097780"/>
            <a:ext cx="411480" cy="411480"/>
          </a:xfrm>
          <a:prstGeom prst="rect">
            <a:avLst/>
          </a:prstGeom>
        </p:spPr>
      </p:pic>
      <p:sp>
        <p:nvSpPr>
          <p:cNvPr id="19" name="Text 13"/>
          <p:cNvSpPr txBox="1"/>
          <p:nvPr/>
        </p:nvSpPr>
        <p:spPr>
          <a:xfrm>
            <a:off x="1554480" y="4892040"/>
            <a:ext cx="4572000" cy="822960"/>
          </a:xfrm>
          <a:prstGeom prst="rect">
            <a:avLst/>
          </a:prstGeom>
          <a:noFill/>
          <a:ln/>
        </p:spPr>
        <p:txBody>
          <a:bodyPr wrap="square" lIns="0" tIns="0" rIns="0" bIns="0" rtlCol="0" anchor="ctr"/>
          <a:lstStyle/>
          <a:p>
            <a:pPr indent="0" marL="0">
              <a:buNone/>
            </a:pPr>
            <a:r>
              <a:rPr lang="en-US" sz="1700" i="1" dirty="0">
                <a:solidFill>
                  <a:schemeClr val="tx2"/>
                </a:solidFill>
              </a:rPr>
              <a:t>Foi muito usada nos anos 2000 e 2010.</a:t>
            </a:r>
            <a:endParaRPr lang="en-US" sz="17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Fibra óptica: internet pela luz</a:t>
            </a:r>
            <a:endParaRPr lang="en-US" sz="3400" dirty="0"/>
          </a:p>
        </p:txBody>
      </p:sp>
      <p:sp>
        <p:nvSpPr>
          <p:cNvPr id="3" name="Text 1"/>
          <p:cNvSpPr txBox="1"/>
          <p:nvPr/>
        </p:nvSpPr>
        <p:spPr>
          <a:xfrm>
            <a:off x="548640" y="1463040"/>
            <a:ext cx="5486400" cy="32918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rPr>
              <a:t>Um fio de vidro bem fininho leva a informação em forma de luz</a:t>
            </a:r>
            <a:endParaRPr lang="en-US" sz="1800" dirty="0"/>
          </a:p>
          <a:p>
            <a:pPr marL="342900" indent="-342900">
              <a:spcAft>
                <a:spcPts val="1000"/>
              </a:spcAft>
              <a:buSzPct val="100000"/>
              <a:buChar char="•"/>
            </a:pPr>
            <a:r>
              <a:rPr lang="en-US" sz="2000" dirty="0">
                <a:solidFill>
                  <a:schemeClr val="tx1"/>
                </a:solidFill>
              </a:rPr>
              <a:t>É a conexão mais rápida e estável hoje</a:t>
            </a:r>
            <a:endParaRPr lang="en-US" sz="1800" dirty="0"/>
          </a:p>
          <a:p>
            <a:pPr marL="342900" indent="-342900">
              <a:spcAft>
                <a:spcPts val="1000"/>
              </a:spcAft>
              <a:buSzPct val="100000"/>
              <a:buChar char="•"/>
            </a:pPr>
            <a:r>
              <a:rPr lang="en-US" sz="2000" dirty="0">
                <a:solidFill>
                  <a:schemeClr val="tx1"/>
                </a:solidFill>
              </a:rPr>
              <a:t>Não sofre com chuva, raios ou distância</a:t>
            </a:r>
            <a:endParaRPr lang="en-US" sz="1800" dirty="0"/>
          </a:p>
          <a:p>
            <a:pPr marL="342900" indent="-342900">
              <a:spcAft>
                <a:spcPts val="1000"/>
              </a:spcAft>
              <a:buSzPct val="100000"/>
              <a:buChar char="•"/>
            </a:pPr>
            <a:r>
              <a:rPr lang="en-US" sz="2000" dirty="0">
                <a:solidFill>
                  <a:schemeClr val="tx1"/>
                </a:solidFill>
              </a:rPr>
              <a:t>Precisa que a empresa passe o cabo na sua rua</a:t>
            </a:r>
            <a:endParaRPr lang="en-US" sz="1800" dirty="0"/>
          </a:p>
        </p:txBody>
      </p:sp>
      <p:sp>
        <p:nvSpPr>
          <p:cNvPr id="4" name="Caminho"/>
          <p:cNvSpPr/>
          <p:nvPr/>
        </p:nvSpPr>
        <p:spPr>
          <a:xfrm>
            <a:off x="6400800" y="1417320"/>
            <a:ext cx="5257800" cy="4251960"/>
          </a:xfrm>
          <a:prstGeom prst="roundRect">
            <a:avLst>
              <a:gd name="adj" fmla="val 3226"/>
            </a:avLst>
          </a:prstGeom>
          <a:solidFill>
            <a:schemeClr val="bg2"/>
          </a:solidFill>
          <a:ln w="12700">
            <a:solidFill>
              <a:schemeClr val="bg2"/>
            </a:solidFill>
            <a:prstDash val="solid"/>
          </a:ln>
        </p:spPr>
      </p:sp>
      <p:sp>
        <p:nvSpPr>
          <p:cNvPr id="5" name="Text 3"/>
          <p:cNvSpPr txBox="1"/>
          <p:nvPr/>
        </p:nvSpPr>
        <p:spPr>
          <a:xfrm>
            <a:off x="6675120" y="1600200"/>
            <a:ext cx="4754880" cy="411480"/>
          </a:xfrm>
          <a:prstGeom prst="rect">
            <a:avLst/>
          </a:prstGeom>
          <a:noFill/>
          <a:ln/>
        </p:spPr>
        <p:txBody>
          <a:bodyPr wrap="square" lIns="0" tIns="0" rIns="0" bIns="0" rtlCol="0" anchor="t"/>
          <a:lstStyle/>
          <a:p>
            <a:pPr indent="0" marL="0">
              <a:buNone/>
            </a:pPr>
            <a:r>
              <a:rPr lang="en-US" sz="1600" b="1" dirty="0">
                <a:solidFill>
                  <a:schemeClr val="tx2"/>
                </a:solidFill>
              </a:rPr>
              <a:t>O caminho da internet</a:t>
            </a:r>
            <a:endParaRPr lang="en-US" sz="1600" dirty="0"/>
          </a:p>
        </p:txBody>
      </p:sp>
      <p:sp>
        <p:nvSpPr>
          <p:cNvPr id="6" name="Shape 4"/>
          <p:cNvSpPr/>
          <p:nvPr/>
        </p:nvSpPr>
        <p:spPr>
          <a:xfrm>
            <a:off x="7178040" y="2926080"/>
            <a:ext cx="914" cy="365760"/>
          </a:xfrm>
          <a:prstGeom prst="line">
            <a:avLst/>
          </a:prstGeom>
          <a:noFill/>
          <a:ln w="31750">
            <a:solidFill>
              <a:srgbClr val="5F6B62"/>
            </a:solidFill>
            <a:prstDash val="dash"/>
          </a:ln>
        </p:spPr>
      </p:sp>
      <p:sp>
        <p:nvSpPr>
          <p:cNvPr id="7" name="Shape 5"/>
          <p:cNvSpPr/>
          <p:nvPr/>
        </p:nvSpPr>
        <p:spPr>
          <a:xfrm>
            <a:off x="6766560" y="2103120"/>
            <a:ext cx="822960" cy="822960"/>
          </a:xfrm>
          <a:prstGeom prst="ellipse">
            <a:avLst/>
          </a:prstGeom>
          <a:solidFill>
            <a:srgbClr val="1B5E20"/>
          </a:solidFill>
          <a:ln w="12700">
            <a:solidFill>
              <a:schemeClr val="bg2"/>
            </a:solidFill>
            <a:prstDash val="solid"/>
          </a:ln>
        </p:spPr>
      </p:sp>
      <p:sp>
        <p:nvSpPr>
          <p:cNvPr id="8" name="Shape 6"/>
          <p:cNvSpPr/>
          <p:nvPr/>
        </p:nvSpPr>
        <p:spPr>
          <a:xfrm>
            <a:off x="7178040" y="4069080"/>
            <a:ext cx="914" cy="365760"/>
          </a:xfrm>
          <a:prstGeom prst="line">
            <a:avLst/>
          </a:prstGeom>
          <a:noFill/>
          <a:ln w="31750">
            <a:solidFill>
              <a:srgbClr val="5F6B62"/>
            </a:solidFill>
            <a:prstDash val="dash"/>
          </a:ln>
        </p:spPr>
      </p:sp>
      <p:sp>
        <p:nvSpPr>
          <p:cNvPr id="9" name="Shape 7"/>
          <p:cNvSpPr/>
          <p:nvPr/>
        </p:nvSpPr>
        <p:spPr>
          <a:xfrm>
            <a:off x="6766560" y="3246120"/>
            <a:ext cx="822960" cy="822960"/>
          </a:xfrm>
          <a:prstGeom prst="ellipse">
            <a:avLst/>
          </a:prstGeom>
          <a:solidFill>
            <a:srgbClr val="1B5E20"/>
          </a:solidFill>
          <a:ln w="12700">
            <a:solidFill>
              <a:schemeClr val="bg2"/>
            </a:solidFill>
            <a:prstDash val="solid"/>
          </a:ln>
        </p:spPr>
      </p:sp>
      <p:sp>
        <p:nvSpPr>
          <p:cNvPr id="10" name="Shape 8"/>
          <p:cNvSpPr/>
          <p:nvPr/>
        </p:nvSpPr>
        <p:spPr>
          <a:xfrm>
            <a:off x="6766560" y="4389120"/>
            <a:ext cx="822960" cy="822960"/>
          </a:xfrm>
          <a:prstGeom prst="ellipse">
            <a:avLst/>
          </a:prstGeom>
          <a:solidFill>
            <a:schemeClr val="accent1"/>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6967728" y="2304288"/>
            <a:ext cx="420624" cy="420624"/>
          </a:xfrm>
          <a:prstGeom prst="rect">
            <a:avLst/>
          </a:prstGeom>
        </p:spPr>
      </p:pic>
      <p:sp>
        <p:nvSpPr>
          <p:cNvPr id="12" name="Text 9"/>
          <p:cNvSpPr txBox="1"/>
          <p:nvPr/>
        </p:nvSpPr>
        <p:spPr>
          <a:xfrm>
            <a:off x="7818120" y="2103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Provedor de internet</a:t>
            </a:r>
            <a:endParaRPr lang="en-US" sz="1700" dirty="0"/>
          </a:p>
        </p:txBody>
      </p:sp>
      <p:pic>
        <p:nvPicPr>
          <p:cNvPr id="13" name="Image 1" descr="preencoded.png">    </p:cNvPr>
          <p:cNvPicPr>
            <a:picLocks noChangeAspect="1"/>
          </p:cNvPicPr>
          <p:nvPr/>
        </p:nvPicPr>
        <p:blipFill>
          <a:blip r:embed="rId2"/>
          <a:stretch>
            <a:fillRect/>
          </a:stretch>
        </p:blipFill>
        <p:spPr>
          <a:xfrm>
            <a:off x="6967728" y="3447288"/>
            <a:ext cx="420624" cy="420624"/>
          </a:xfrm>
          <a:prstGeom prst="rect">
            <a:avLst/>
          </a:prstGeom>
        </p:spPr>
      </p:pic>
      <p:sp>
        <p:nvSpPr>
          <p:cNvPr id="14" name="Text 10"/>
          <p:cNvSpPr txBox="1"/>
          <p:nvPr/>
        </p:nvSpPr>
        <p:spPr>
          <a:xfrm>
            <a:off x="7818120" y="3246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Cabo de fibra pelos postes</a:t>
            </a:r>
            <a:endParaRPr lang="en-US" sz="1700" dirty="0"/>
          </a:p>
        </p:txBody>
      </p:sp>
      <p:pic>
        <p:nvPicPr>
          <p:cNvPr id="15" name="Image 2" descr="preencoded.png">    </p:cNvPr>
          <p:cNvPicPr>
            <a:picLocks noChangeAspect="1"/>
          </p:cNvPicPr>
          <p:nvPr/>
        </p:nvPicPr>
        <p:blipFill>
          <a:blip r:embed="rId3"/>
          <a:stretch>
            <a:fillRect/>
          </a:stretch>
        </p:blipFill>
        <p:spPr>
          <a:xfrm>
            <a:off x="6967728" y="4590288"/>
            <a:ext cx="420624" cy="420624"/>
          </a:xfrm>
          <a:prstGeom prst="rect">
            <a:avLst/>
          </a:prstGeom>
        </p:spPr>
      </p:pic>
      <p:sp>
        <p:nvSpPr>
          <p:cNvPr id="16" name="Text 11"/>
          <p:cNvSpPr txBox="1"/>
          <p:nvPr/>
        </p:nvSpPr>
        <p:spPr>
          <a:xfrm>
            <a:off x="7818120" y="4389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Aparelho (ONU) e roteador Wi-Fi</a:t>
            </a:r>
            <a:endParaRPr lang="en-US" sz="1700" dirty="0"/>
          </a:p>
        </p:txBody>
      </p:sp>
      <p:sp>
        <p:nvSpPr>
          <p:cNvPr id="17" name="Shape 12"/>
          <p:cNvSpPr/>
          <p:nvPr/>
        </p:nvSpPr>
        <p:spPr>
          <a:xfrm>
            <a:off x="548640" y="4892040"/>
            <a:ext cx="822960" cy="822960"/>
          </a:xfrm>
          <a:prstGeom prst="ellipse">
            <a:avLst/>
          </a:prstGeom>
          <a:solidFill>
            <a:srgbClr val="1B5E20"/>
          </a:solidFill>
          <a:ln w="12700">
            <a:solidFill>
              <a:srgbClr val="1B5E20"/>
            </a:solidFill>
            <a:prstDash val="solid"/>
          </a:ln>
        </p:spPr>
      </p:sp>
      <p:pic>
        <p:nvPicPr>
          <p:cNvPr id="18" name="Image 3" descr="preencoded.png">    </p:cNvPr>
          <p:cNvPicPr>
            <a:picLocks noChangeAspect="1"/>
          </p:cNvPicPr>
          <p:nvPr/>
        </p:nvPicPr>
        <p:blipFill>
          <a:blip r:embed="rId4"/>
          <a:stretch>
            <a:fillRect/>
          </a:stretch>
        </p:blipFill>
        <p:spPr>
          <a:xfrm>
            <a:off x="754380" y="5097780"/>
            <a:ext cx="411480" cy="411480"/>
          </a:xfrm>
          <a:prstGeom prst="rect">
            <a:avLst/>
          </a:prstGeom>
        </p:spPr>
      </p:pic>
      <p:sp>
        <p:nvSpPr>
          <p:cNvPr id="19" name="Text 13"/>
          <p:cNvSpPr txBox="1"/>
          <p:nvPr/>
        </p:nvSpPr>
        <p:spPr>
          <a:xfrm>
            <a:off x="1554480" y="4892040"/>
            <a:ext cx="4572000" cy="822960"/>
          </a:xfrm>
          <a:prstGeom prst="rect">
            <a:avLst/>
          </a:prstGeom>
          <a:noFill/>
          <a:ln/>
        </p:spPr>
        <p:txBody>
          <a:bodyPr wrap="square" lIns="0" tIns="0" rIns="0" bIns="0" rtlCol="0" anchor="ctr"/>
          <a:lstStyle/>
          <a:p>
            <a:pPr indent="0" marL="0">
              <a:buNone/>
            </a:pPr>
            <a:r>
              <a:rPr lang="en-US" sz="1700" i="1" dirty="0">
                <a:solidFill>
                  <a:schemeClr val="tx2"/>
                </a:solidFill>
              </a:rPr>
              <a:t>Hoje é a mais usada nas cidades do Brasil.</a:t>
            </a:r>
            <a:endParaRPr lang="en-US" sz="17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3G, 4G e 5G: internet pelo ar</a:t>
            </a:r>
            <a:endParaRPr lang="en-US" sz="3400" dirty="0"/>
          </a:p>
        </p:txBody>
      </p:sp>
      <p:sp>
        <p:nvSpPr>
          <p:cNvPr id="3" name="Text 1"/>
          <p:cNvSpPr txBox="1"/>
          <p:nvPr/>
        </p:nvSpPr>
        <p:spPr>
          <a:xfrm>
            <a:off x="548640" y="1463040"/>
            <a:ext cx="5486400" cy="32918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rPr>
              <a:t>A internet chega pelas antenas das operadoras de celular</a:t>
            </a:r>
            <a:endParaRPr lang="en-US" sz="1800" dirty="0"/>
          </a:p>
          <a:p>
            <a:pPr marL="342900" indent="-342900">
              <a:spcAft>
                <a:spcPts val="1000"/>
              </a:spcAft>
              <a:buSzPct val="100000"/>
              <a:buChar char="•"/>
            </a:pPr>
            <a:r>
              <a:rPr lang="en-US" sz="2000" dirty="0">
                <a:solidFill>
                  <a:schemeClr val="tx1"/>
                </a:solidFill>
              </a:rPr>
              <a:t>Precisa de chip e de um plano de dados (franquia)</a:t>
            </a:r>
            <a:endParaRPr lang="en-US" sz="1800" dirty="0"/>
          </a:p>
          <a:p>
            <a:pPr marL="342900" indent="-342900">
              <a:spcAft>
                <a:spcPts val="1000"/>
              </a:spcAft>
              <a:buSzPct val="100000"/>
              <a:buChar char="•"/>
            </a:pPr>
            <a:r>
              <a:rPr lang="en-US" sz="2000" dirty="0">
                <a:solidFill>
                  <a:schemeClr val="tx1"/>
                </a:solidFill>
              </a:rPr>
              <a:t>Funciona onde tem sinal: na rua, no ônibus, em casa</a:t>
            </a:r>
            <a:endParaRPr lang="en-US" sz="1800" dirty="0"/>
          </a:p>
          <a:p>
            <a:pPr marL="342900" indent="-342900">
              <a:spcAft>
                <a:spcPts val="1000"/>
              </a:spcAft>
              <a:buSzPct val="100000"/>
              <a:buChar char="•"/>
            </a:pPr>
            <a:r>
              <a:rPr lang="en-US" sz="2000" dirty="0">
                <a:solidFill>
                  <a:schemeClr val="tx1"/>
                </a:solidFill>
              </a:rPr>
              <a:t>3G é lento, 4G é rápido, 5G é ainda mais rápido</a:t>
            </a:r>
            <a:endParaRPr lang="en-US" sz="1800" dirty="0"/>
          </a:p>
        </p:txBody>
      </p:sp>
      <p:sp>
        <p:nvSpPr>
          <p:cNvPr id="4" name="Caminho"/>
          <p:cNvSpPr/>
          <p:nvPr/>
        </p:nvSpPr>
        <p:spPr>
          <a:xfrm>
            <a:off x="6400800" y="1417320"/>
            <a:ext cx="5257800" cy="4251960"/>
          </a:xfrm>
          <a:prstGeom prst="roundRect">
            <a:avLst>
              <a:gd name="adj" fmla="val 3226"/>
            </a:avLst>
          </a:prstGeom>
          <a:solidFill>
            <a:schemeClr val="bg2"/>
          </a:solidFill>
          <a:ln w="12700">
            <a:solidFill>
              <a:schemeClr val="bg2"/>
            </a:solidFill>
            <a:prstDash val="solid"/>
          </a:ln>
        </p:spPr>
      </p:sp>
      <p:sp>
        <p:nvSpPr>
          <p:cNvPr id="5" name="Text 3"/>
          <p:cNvSpPr txBox="1"/>
          <p:nvPr/>
        </p:nvSpPr>
        <p:spPr>
          <a:xfrm>
            <a:off x="6675120" y="1600200"/>
            <a:ext cx="4754880" cy="411480"/>
          </a:xfrm>
          <a:prstGeom prst="rect">
            <a:avLst/>
          </a:prstGeom>
          <a:noFill/>
          <a:ln/>
        </p:spPr>
        <p:txBody>
          <a:bodyPr wrap="square" lIns="0" tIns="0" rIns="0" bIns="0" rtlCol="0" anchor="t"/>
          <a:lstStyle/>
          <a:p>
            <a:pPr indent="0" marL="0">
              <a:buNone/>
            </a:pPr>
            <a:r>
              <a:rPr lang="en-US" sz="1600" b="1" dirty="0">
                <a:solidFill>
                  <a:schemeClr val="tx2"/>
                </a:solidFill>
              </a:rPr>
              <a:t>O caminho da internet</a:t>
            </a:r>
            <a:endParaRPr lang="en-US" sz="1600" dirty="0"/>
          </a:p>
        </p:txBody>
      </p:sp>
      <p:sp>
        <p:nvSpPr>
          <p:cNvPr id="6" name="Shape 4"/>
          <p:cNvSpPr/>
          <p:nvPr/>
        </p:nvSpPr>
        <p:spPr>
          <a:xfrm>
            <a:off x="7178040" y="2926080"/>
            <a:ext cx="914" cy="365760"/>
          </a:xfrm>
          <a:prstGeom prst="line">
            <a:avLst/>
          </a:prstGeom>
          <a:noFill/>
          <a:ln w="31750">
            <a:solidFill>
              <a:srgbClr val="5F6B62"/>
            </a:solidFill>
            <a:prstDash val="dash"/>
          </a:ln>
        </p:spPr>
      </p:sp>
      <p:sp>
        <p:nvSpPr>
          <p:cNvPr id="7" name="Shape 5"/>
          <p:cNvSpPr/>
          <p:nvPr/>
        </p:nvSpPr>
        <p:spPr>
          <a:xfrm>
            <a:off x="6766560" y="2103120"/>
            <a:ext cx="822960" cy="822960"/>
          </a:xfrm>
          <a:prstGeom prst="ellipse">
            <a:avLst/>
          </a:prstGeom>
          <a:solidFill>
            <a:srgbClr val="1B5E20"/>
          </a:solidFill>
          <a:ln w="12700">
            <a:solidFill>
              <a:schemeClr val="bg2"/>
            </a:solidFill>
            <a:prstDash val="solid"/>
          </a:ln>
        </p:spPr>
      </p:sp>
      <p:sp>
        <p:nvSpPr>
          <p:cNvPr id="8" name="Shape 6"/>
          <p:cNvSpPr/>
          <p:nvPr/>
        </p:nvSpPr>
        <p:spPr>
          <a:xfrm>
            <a:off x="7178040" y="4069080"/>
            <a:ext cx="914" cy="365760"/>
          </a:xfrm>
          <a:prstGeom prst="line">
            <a:avLst/>
          </a:prstGeom>
          <a:noFill/>
          <a:ln w="31750">
            <a:solidFill>
              <a:srgbClr val="5F6B62"/>
            </a:solidFill>
            <a:prstDash val="dash"/>
          </a:ln>
        </p:spPr>
      </p:sp>
      <p:sp>
        <p:nvSpPr>
          <p:cNvPr id="9" name="Shape 7"/>
          <p:cNvSpPr/>
          <p:nvPr/>
        </p:nvSpPr>
        <p:spPr>
          <a:xfrm>
            <a:off x="6766560" y="3246120"/>
            <a:ext cx="822960" cy="822960"/>
          </a:xfrm>
          <a:prstGeom prst="ellipse">
            <a:avLst/>
          </a:prstGeom>
          <a:solidFill>
            <a:srgbClr val="1B5E20"/>
          </a:solidFill>
          <a:ln w="12700">
            <a:solidFill>
              <a:schemeClr val="bg2"/>
            </a:solidFill>
            <a:prstDash val="solid"/>
          </a:ln>
        </p:spPr>
      </p:sp>
      <p:sp>
        <p:nvSpPr>
          <p:cNvPr id="10" name="Shape 8"/>
          <p:cNvSpPr/>
          <p:nvPr/>
        </p:nvSpPr>
        <p:spPr>
          <a:xfrm>
            <a:off x="6766560" y="4389120"/>
            <a:ext cx="822960" cy="822960"/>
          </a:xfrm>
          <a:prstGeom prst="ellipse">
            <a:avLst/>
          </a:prstGeom>
          <a:solidFill>
            <a:schemeClr val="accent1"/>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6967728" y="2304288"/>
            <a:ext cx="420624" cy="420624"/>
          </a:xfrm>
          <a:prstGeom prst="rect">
            <a:avLst/>
          </a:prstGeom>
        </p:spPr>
      </p:pic>
      <p:sp>
        <p:nvSpPr>
          <p:cNvPr id="12" name="Text 9"/>
          <p:cNvSpPr txBox="1"/>
          <p:nvPr/>
        </p:nvSpPr>
        <p:spPr>
          <a:xfrm>
            <a:off x="7818120" y="2103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Antena (torre) da operadora</a:t>
            </a:r>
            <a:endParaRPr lang="en-US" sz="1700" dirty="0"/>
          </a:p>
        </p:txBody>
      </p:sp>
      <p:pic>
        <p:nvPicPr>
          <p:cNvPr id="13" name="Image 1" descr="preencoded.png">    </p:cNvPr>
          <p:cNvPicPr>
            <a:picLocks noChangeAspect="1"/>
          </p:cNvPicPr>
          <p:nvPr/>
        </p:nvPicPr>
        <p:blipFill>
          <a:blip r:embed="rId2"/>
          <a:stretch>
            <a:fillRect/>
          </a:stretch>
        </p:blipFill>
        <p:spPr>
          <a:xfrm>
            <a:off x="6967728" y="3447288"/>
            <a:ext cx="420624" cy="420624"/>
          </a:xfrm>
          <a:prstGeom prst="rect">
            <a:avLst/>
          </a:prstGeom>
        </p:spPr>
      </p:pic>
      <p:sp>
        <p:nvSpPr>
          <p:cNvPr id="14" name="Text 10"/>
          <p:cNvSpPr txBox="1"/>
          <p:nvPr/>
        </p:nvSpPr>
        <p:spPr>
          <a:xfrm>
            <a:off x="7818120" y="3246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Ondas de rádio pelo ar</a:t>
            </a:r>
            <a:endParaRPr lang="en-US" sz="1700" dirty="0"/>
          </a:p>
        </p:txBody>
      </p:sp>
      <p:pic>
        <p:nvPicPr>
          <p:cNvPr id="15" name="Image 2" descr="preencoded.png">    </p:cNvPr>
          <p:cNvPicPr>
            <a:picLocks noChangeAspect="1"/>
          </p:cNvPicPr>
          <p:nvPr/>
        </p:nvPicPr>
        <p:blipFill>
          <a:blip r:embed="rId3"/>
          <a:stretch>
            <a:fillRect/>
          </a:stretch>
        </p:blipFill>
        <p:spPr>
          <a:xfrm>
            <a:off x="6967728" y="4590288"/>
            <a:ext cx="420624" cy="420624"/>
          </a:xfrm>
          <a:prstGeom prst="rect">
            <a:avLst/>
          </a:prstGeom>
        </p:spPr>
      </p:pic>
      <p:sp>
        <p:nvSpPr>
          <p:cNvPr id="16" name="Text 11"/>
          <p:cNvSpPr txBox="1"/>
          <p:nvPr/>
        </p:nvSpPr>
        <p:spPr>
          <a:xfrm>
            <a:off x="7818120" y="4389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Celular com chip</a:t>
            </a:r>
            <a:endParaRPr lang="en-US" sz="1700" dirty="0"/>
          </a:p>
        </p:txBody>
      </p:sp>
      <p:sp>
        <p:nvSpPr>
          <p:cNvPr id="17" name="Shape 12"/>
          <p:cNvSpPr/>
          <p:nvPr/>
        </p:nvSpPr>
        <p:spPr>
          <a:xfrm>
            <a:off x="548640" y="4892040"/>
            <a:ext cx="822960" cy="822960"/>
          </a:xfrm>
          <a:prstGeom prst="ellipse">
            <a:avLst/>
          </a:prstGeom>
          <a:solidFill>
            <a:srgbClr val="1B5E20"/>
          </a:solidFill>
          <a:ln w="12700">
            <a:solidFill>
              <a:srgbClr val="1B5E20"/>
            </a:solidFill>
            <a:prstDash val="solid"/>
          </a:ln>
        </p:spPr>
      </p:sp>
      <p:pic>
        <p:nvPicPr>
          <p:cNvPr id="18" name="Image 3" descr="preencoded.png">    </p:cNvPr>
          <p:cNvPicPr>
            <a:picLocks noChangeAspect="1"/>
          </p:cNvPicPr>
          <p:nvPr/>
        </p:nvPicPr>
        <p:blipFill>
          <a:blip r:embed="rId4"/>
          <a:stretch>
            <a:fillRect/>
          </a:stretch>
        </p:blipFill>
        <p:spPr>
          <a:xfrm>
            <a:off x="754380" y="5097780"/>
            <a:ext cx="411480" cy="411480"/>
          </a:xfrm>
          <a:prstGeom prst="rect">
            <a:avLst/>
          </a:prstGeom>
        </p:spPr>
      </p:pic>
      <p:sp>
        <p:nvSpPr>
          <p:cNvPr id="19" name="Text 13"/>
          <p:cNvSpPr txBox="1"/>
          <p:nvPr/>
        </p:nvSpPr>
        <p:spPr>
          <a:xfrm>
            <a:off x="1554480" y="4892040"/>
            <a:ext cx="4572000" cy="822960"/>
          </a:xfrm>
          <a:prstGeom prst="rect">
            <a:avLst/>
          </a:prstGeom>
          <a:noFill/>
          <a:ln/>
        </p:spPr>
        <p:txBody>
          <a:bodyPr wrap="square" lIns="0" tIns="0" rIns="0" bIns="0" rtlCol="0" anchor="ctr"/>
          <a:lstStyle/>
          <a:p>
            <a:pPr indent="0" marL="0">
              <a:buNone/>
            </a:pPr>
            <a:r>
              <a:rPr lang="en-US" sz="1700" i="1" dirty="0">
                <a:solidFill>
                  <a:schemeClr val="tx2"/>
                </a:solidFill>
              </a:rPr>
              <a:t>"G" quer dizer geração: 5G é a 5ª geração.</a:t>
            </a:r>
            <a:endParaRPr lang="en-US" sz="17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Satélite: internet que vem do céu</a:t>
            </a:r>
            <a:endParaRPr lang="en-US" sz="3400" dirty="0"/>
          </a:p>
        </p:txBody>
      </p:sp>
      <p:sp>
        <p:nvSpPr>
          <p:cNvPr id="3" name="Text 1"/>
          <p:cNvSpPr txBox="1"/>
          <p:nvPr/>
        </p:nvSpPr>
        <p:spPr>
          <a:xfrm>
            <a:off x="548640" y="1463040"/>
            <a:ext cx="5486400" cy="32918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rPr>
              <a:t>A internet vem de satélites que ficam no espaço</a:t>
            </a:r>
            <a:endParaRPr lang="en-US" sz="1800" dirty="0"/>
          </a:p>
          <a:p>
            <a:pPr marL="342900" indent="-342900">
              <a:spcAft>
                <a:spcPts val="1000"/>
              </a:spcAft>
              <a:buSzPct val="100000"/>
              <a:buChar char="•"/>
            </a:pPr>
            <a:r>
              <a:rPr lang="en-US" sz="2000" dirty="0">
                <a:solidFill>
                  <a:schemeClr val="tx1"/>
                </a:solidFill>
              </a:rPr>
              <a:t>Uma antena na casa "conversa" com o satélite</a:t>
            </a:r>
            <a:endParaRPr lang="en-US" sz="1800" dirty="0"/>
          </a:p>
          <a:p>
            <a:pPr marL="342900" indent="-342900">
              <a:spcAft>
                <a:spcPts val="1000"/>
              </a:spcAft>
              <a:buSzPct val="100000"/>
              <a:buChar char="•"/>
            </a:pPr>
            <a:r>
              <a:rPr lang="en-US" sz="2000" dirty="0">
                <a:solidFill>
                  <a:schemeClr val="tx1"/>
                </a:solidFill>
              </a:rPr>
              <a:t>Chega em lugares sem cabo e sem sinal: interior, zona rural, barcos</a:t>
            </a:r>
            <a:endParaRPr lang="en-US" sz="1800" dirty="0"/>
          </a:p>
          <a:p>
            <a:pPr marL="342900" indent="-342900">
              <a:spcAft>
                <a:spcPts val="1000"/>
              </a:spcAft>
              <a:buSzPct val="100000"/>
              <a:buChar char="•"/>
            </a:pPr>
            <a:r>
              <a:rPr lang="en-US" sz="2000" dirty="0">
                <a:solidFill>
                  <a:schemeClr val="tx1"/>
                </a:solidFill>
              </a:rPr>
              <a:t>Exemplo moderno: Starlink, com milhares de satélites em órbita baixa</a:t>
            </a:r>
            <a:endParaRPr lang="en-US" sz="1800" dirty="0"/>
          </a:p>
        </p:txBody>
      </p:sp>
      <p:sp>
        <p:nvSpPr>
          <p:cNvPr id="4" name="Caminho"/>
          <p:cNvSpPr/>
          <p:nvPr/>
        </p:nvSpPr>
        <p:spPr>
          <a:xfrm>
            <a:off x="6400800" y="1417320"/>
            <a:ext cx="5257800" cy="4251960"/>
          </a:xfrm>
          <a:prstGeom prst="roundRect">
            <a:avLst>
              <a:gd name="adj" fmla="val 3226"/>
            </a:avLst>
          </a:prstGeom>
          <a:solidFill>
            <a:schemeClr val="bg2"/>
          </a:solidFill>
          <a:ln w="12700">
            <a:solidFill>
              <a:schemeClr val="bg2"/>
            </a:solidFill>
            <a:prstDash val="solid"/>
          </a:ln>
        </p:spPr>
      </p:sp>
      <p:sp>
        <p:nvSpPr>
          <p:cNvPr id="5" name="Text 3"/>
          <p:cNvSpPr txBox="1"/>
          <p:nvPr/>
        </p:nvSpPr>
        <p:spPr>
          <a:xfrm>
            <a:off x="6675120" y="1600200"/>
            <a:ext cx="4754880" cy="411480"/>
          </a:xfrm>
          <a:prstGeom prst="rect">
            <a:avLst/>
          </a:prstGeom>
          <a:noFill/>
          <a:ln/>
        </p:spPr>
        <p:txBody>
          <a:bodyPr wrap="square" lIns="0" tIns="0" rIns="0" bIns="0" rtlCol="0" anchor="t"/>
          <a:lstStyle/>
          <a:p>
            <a:pPr indent="0" marL="0">
              <a:buNone/>
            </a:pPr>
            <a:r>
              <a:rPr lang="en-US" sz="1600" b="1" dirty="0">
                <a:solidFill>
                  <a:schemeClr val="tx2"/>
                </a:solidFill>
              </a:rPr>
              <a:t>O caminho da internet</a:t>
            </a:r>
            <a:endParaRPr lang="en-US" sz="1600" dirty="0"/>
          </a:p>
        </p:txBody>
      </p:sp>
      <p:sp>
        <p:nvSpPr>
          <p:cNvPr id="6" name="Shape 4"/>
          <p:cNvSpPr/>
          <p:nvPr/>
        </p:nvSpPr>
        <p:spPr>
          <a:xfrm>
            <a:off x="7178040" y="2926080"/>
            <a:ext cx="914" cy="365760"/>
          </a:xfrm>
          <a:prstGeom prst="line">
            <a:avLst/>
          </a:prstGeom>
          <a:noFill/>
          <a:ln w="31750">
            <a:solidFill>
              <a:srgbClr val="5F6B62"/>
            </a:solidFill>
            <a:prstDash val="dash"/>
          </a:ln>
        </p:spPr>
      </p:sp>
      <p:sp>
        <p:nvSpPr>
          <p:cNvPr id="7" name="Shape 5"/>
          <p:cNvSpPr/>
          <p:nvPr/>
        </p:nvSpPr>
        <p:spPr>
          <a:xfrm>
            <a:off x="6766560" y="2103120"/>
            <a:ext cx="822960" cy="822960"/>
          </a:xfrm>
          <a:prstGeom prst="ellipse">
            <a:avLst/>
          </a:prstGeom>
          <a:solidFill>
            <a:srgbClr val="1B5E20"/>
          </a:solidFill>
          <a:ln w="12700">
            <a:solidFill>
              <a:schemeClr val="bg2"/>
            </a:solidFill>
            <a:prstDash val="solid"/>
          </a:ln>
        </p:spPr>
      </p:sp>
      <p:sp>
        <p:nvSpPr>
          <p:cNvPr id="8" name="Shape 6"/>
          <p:cNvSpPr/>
          <p:nvPr/>
        </p:nvSpPr>
        <p:spPr>
          <a:xfrm>
            <a:off x="7178040" y="4069080"/>
            <a:ext cx="914" cy="365760"/>
          </a:xfrm>
          <a:prstGeom prst="line">
            <a:avLst/>
          </a:prstGeom>
          <a:noFill/>
          <a:ln w="31750">
            <a:solidFill>
              <a:srgbClr val="5F6B62"/>
            </a:solidFill>
            <a:prstDash val="dash"/>
          </a:ln>
        </p:spPr>
      </p:sp>
      <p:sp>
        <p:nvSpPr>
          <p:cNvPr id="9" name="Shape 7"/>
          <p:cNvSpPr/>
          <p:nvPr/>
        </p:nvSpPr>
        <p:spPr>
          <a:xfrm>
            <a:off x="6766560" y="3246120"/>
            <a:ext cx="822960" cy="822960"/>
          </a:xfrm>
          <a:prstGeom prst="ellipse">
            <a:avLst/>
          </a:prstGeom>
          <a:solidFill>
            <a:srgbClr val="1B5E20"/>
          </a:solidFill>
          <a:ln w="12700">
            <a:solidFill>
              <a:schemeClr val="bg2"/>
            </a:solidFill>
            <a:prstDash val="solid"/>
          </a:ln>
        </p:spPr>
      </p:sp>
      <p:sp>
        <p:nvSpPr>
          <p:cNvPr id="10" name="Shape 8"/>
          <p:cNvSpPr/>
          <p:nvPr/>
        </p:nvSpPr>
        <p:spPr>
          <a:xfrm>
            <a:off x="6766560" y="4389120"/>
            <a:ext cx="822960" cy="822960"/>
          </a:xfrm>
          <a:prstGeom prst="ellipse">
            <a:avLst/>
          </a:prstGeom>
          <a:solidFill>
            <a:schemeClr val="accent1"/>
          </a:solidFill>
          <a:ln w="12700">
            <a:solidFill>
              <a:schemeClr val="bg2"/>
            </a:solidFill>
            <a:prstDash val="solid"/>
          </a:ln>
        </p:spPr>
      </p:sp>
      <p:pic>
        <p:nvPicPr>
          <p:cNvPr id="11" name="Image 0" descr="preencoded.png">    </p:cNvPr>
          <p:cNvPicPr>
            <a:picLocks noChangeAspect="1"/>
          </p:cNvPicPr>
          <p:nvPr/>
        </p:nvPicPr>
        <p:blipFill>
          <a:blip r:embed="rId1"/>
          <a:stretch>
            <a:fillRect/>
          </a:stretch>
        </p:blipFill>
        <p:spPr>
          <a:xfrm>
            <a:off x="6967728" y="2304288"/>
            <a:ext cx="420624" cy="420624"/>
          </a:xfrm>
          <a:prstGeom prst="rect">
            <a:avLst/>
          </a:prstGeom>
        </p:spPr>
      </p:pic>
      <p:sp>
        <p:nvSpPr>
          <p:cNvPr id="12" name="Text 9"/>
          <p:cNvSpPr txBox="1"/>
          <p:nvPr/>
        </p:nvSpPr>
        <p:spPr>
          <a:xfrm>
            <a:off x="7818120" y="2103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Satélite no espaço</a:t>
            </a:r>
            <a:endParaRPr lang="en-US" sz="1700" dirty="0"/>
          </a:p>
        </p:txBody>
      </p:sp>
      <p:pic>
        <p:nvPicPr>
          <p:cNvPr id="13" name="Image 1" descr="preencoded.png">    </p:cNvPr>
          <p:cNvPicPr>
            <a:picLocks noChangeAspect="1"/>
          </p:cNvPicPr>
          <p:nvPr/>
        </p:nvPicPr>
        <p:blipFill>
          <a:blip r:embed="rId2"/>
          <a:stretch>
            <a:fillRect/>
          </a:stretch>
        </p:blipFill>
        <p:spPr>
          <a:xfrm>
            <a:off x="6967728" y="3447288"/>
            <a:ext cx="420624" cy="420624"/>
          </a:xfrm>
          <a:prstGeom prst="rect">
            <a:avLst/>
          </a:prstGeom>
        </p:spPr>
      </p:pic>
      <p:sp>
        <p:nvSpPr>
          <p:cNvPr id="14" name="Text 10"/>
          <p:cNvSpPr txBox="1"/>
          <p:nvPr/>
        </p:nvSpPr>
        <p:spPr>
          <a:xfrm>
            <a:off x="7818120" y="3246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Antena no telhado</a:t>
            </a:r>
            <a:endParaRPr lang="en-US" sz="1700" dirty="0"/>
          </a:p>
        </p:txBody>
      </p:sp>
      <p:pic>
        <p:nvPicPr>
          <p:cNvPr id="15" name="Image 2" descr="preencoded.png">    </p:cNvPr>
          <p:cNvPicPr>
            <a:picLocks noChangeAspect="1"/>
          </p:cNvPicPr>
          <p:nvPr/>
        </p:nvPicPr>
        <p:blipFill>
          <a:blip r:embed="rId3"/>
          <a:stretch>
            <a:fillRect/>
          </a:stretch>
        </p:blipFill>
        <p:spPr>
          <a:xfrm>
            <a:off x="6967728" y="4590288"/>
            <a:ext cx="420624" cy="420624"/>
          </a:xfrm>
          <a:prstGeom prst="rect">
            <a:avLst/>
          </a:prstGeom>
        </p:spPr>
      </p:pic>
      <p:sp>
        <p:nvSpPr>
          <p:cNvPr id="16" name="Text 11"/>
          <p:cNvSpPr txBox="1"/>
          <p:nvPr/>
        </p:nvSpPr>
        <p:spPr>
          <a:xfrm>
            <a:off x="7818120" y="4389120"/>
            <a:ext cx="3657600" cy="822960"/>
          </a:xfrm>
          <a:prstGeom prst="rect">
            <a:avLst/>
          </a:prstGeom>
          <a:noFill/>
          <a:ln/>
        </p:spPr>
        <p:txBody>
          <a:bodyPr wrap="square" lIns="0" tIns="0" rIns="0" bIns="0" rtlCol="0" anchor="ctr"/>
          <a:lstStyle/>
          <a:p>
            <a:pPr indent="0" marL="0">
              <a:buNone/>
            </a:pPr>
            <a:r>
              <a:rPr lang="en-US" sz="1700" dirty="0">
                <a:solidFill>
                  <a:schemeClr val="tx1"/>
                </a:solidFill>
              </a:rPr>
              <a:t>Roteador Wi-Fi na casa</a:t>
            </a:r>
            <a:endParaRPr lang="en-US" sz="1700" dirty="0"/>
          </a:p>
        </p:txBody>
      </p:sp>
      <p:sp>
        <p:nvSpPr>
          <p:cNvPr id="17" name="Shape 12"/>
          <p:cNvSpPr/>
          <p:nvPr/>
        </p:nvSpPr>
        <p:spPr>
          <a:xfrm>
            <a:off x="548640" y="4892040"/>
            <a:ext cx="822960" cy="822960"/>
          </a:xfrm>
          <a:prstGeom prst="ellipse">
            <a:avLst/>
          </a:prstGeom>
          <a:solidFill>
            <a:srgbClr val="1B5E20"/>
          </a:solidFill>
          <a:ln w="12700">
            <a:solidFill>
              <a:srgbClr val="1B5E20"/>
            </a:solidFill>
            <a:prstDash val="solid"/>
          </a:ln>
        </p:spPr>
      </p:sp>
      <p:pic>
        <p:nvPicPr>
          <p:cNvPr id="18" name="Image 3" descr="preencoded.png">    </p:cNvPr>
          <p:cNvPicPr>
            <a:picLocks noChangeAspect="1"/>
          </p:cNvPicPr>
          <p:nvPr/>
        </p:nvPicPr>
        <p:blipFill>
          <a:blip r:embed="rId4"/>
          <a:stretch>
            <a:fillRect/>
          </a:stretch>
        </p:blipFill>
        <p:spPr>
          <a:xfrm>
            <a:off x="754380" y="5097780"/>
            <a:ext cx="411480" cy="411480"/>
          </a:xfrm>
          <a:prstGeom prst="rect">
            <a:avLst/>
          </a:prstGeom>
        </p:spPr>
      </p:pic>
      <p:sp>
        <p:nvSpPr>
          <p:cNvPr id="19" name="Text 13"/>
          <p:cNvSpPr txBox="1"/>
          <p:nvPr/>
        </p:nvSpPr>
        <p:spPr>
          <a:xfrm>
            <a:off x="1554480" y="4892040"/>
            <a:ext cx="4572000" cy="822960"/>
          </a:xfrm>
          <a:prstGeom prst="rect">
            <a:avLst/>
          </a:prstGeom>
          <a:noFill/>
          <a:ln/>
        </p:spPr>
        <p:txBody>
          <a:bodyPr wrap="square" lIns="0" tIns="0" rIns="0" bIns="0" rtlCol="0" anchor="ctr"/>
          <a:lstStyle/>
          <a:p>
            <a:pPr indent="0" marL="0">
              <a:buNone/>
            </a:pPr>
            <a:r>
              <a:rPr lang="en-US" sz="1700" i="1" dirty="0">
                <a:solidFill>
                  <a:schemeClr val="tx2"/>
                </a:solidFill>
              </a:rPr>
              <a:t>Ótima para o campo; o preço ainda é alto.</a:t>
            </a:r>
            <a:endParaRPr lang="en-US" sz="17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Comparando as conexões</a:t>
            </a:r>
            <a:endParaRPr lang="en-US" sz="3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94560"/>
                <a:gridCol w="2834640"/>
                <a:gridCol w="3200400"/>
                <a:gridCol w="2862072"/>
              </a:tblGrid>
              <a:tr h="685800">
                <a:tc>
                  <a:txBody>
                    <a:bodyPr/>
                    <a:lstStyle/>
                    <a:p>
                      <a:pPr indent="0" marL="0">
                        <a:buNone/>
                      </a:pPr>
                      <a:r>
                        <a:rPr lang="en-US" sz="1800" b="1" dirty="0">
                          <a:solidFill>
                            <a:schemeClr val="bg1"/>
                          </a:solidFill>
                        </a:rPr>
                        <a:t>Tipo</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Como chega</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Onde funciona</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Destaque</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tx2"/>
                    </a:solidFill>
                  </a:tcPr>
                </a:tc>
              </a:tr>
              <a:tr h="685800">
                <a:tc>
                  <a:txBody>
                    <a:bodyPr/>
                    <a:lstStyle/>
                    <a:p>
                      <a:pPr indent="0" marL="0">
                        <a:buNone/>
                      </a:pPr>
                      <a:r>
                        <a:rPr lang="en-US" sz="1600" b="1" dirty="0">
                          <a:solidFill>
                            <a:schemeClr val="tx2"/>
                          </a:solidFill>
                        </a:rPr>
                        <a:t>Rede local</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Cabo ou Wi-Fi</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Dentro de casa ou da escola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Liga tudo num lugar só</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r>
              <a:tr h="685800">
                <a:tc>
                  <a:txBody>
                    <a:bodyPr/>
                    <a:lstStyle/>
                    <a:p>
                      <a:pPr indent="0" marL="0">
                        <a:buNone/>
                      </a:pPr>
                      <a:r>
                        <a:rPr lang="en-US" sz="1600" b="1" dirty="0">
                          <a:solidFill>
                            <a:schemeClr val="tx2"/>
                          </a:solidFill>
                        </a:rPr>
                        <a:t>ADSL</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c>
                  <a:txBody>
                    <a:bodyPr/>
                    <a:lstStyle/>
                    <a:p>
                      <a:pPr indent="0" marL="0">
                        <a:buNone/>
                      </a:pPr>
                      <a:r>
                        <a:rPr lang="en-US" sz="1600" dirty="0">
                          <a:solidFill>
                            <a:schemeClr val="tx1"/>
                          </a:solidFill>
                        </a:rPr>
                        <a:t>Fio do telefone</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c>
                  <a:txBody>
                    <a:bodyPr/>
                    <a:lstStyle/>
                    <a:p>
                      <a:pPr indent="0" marL="0">
                        <a:buNone/>
                      </a:pPr>
                      <a:r>
                        <a:rPr lang="en-US" sz="1600" dirty="0">
                          <a:solidFill>
                            <a:schemeClr val="tx1"/>
                          </a:solidFill>
                        </a:rPr>
                        <a:t>Cidades (cada vez menos)</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c>
                  <a:txBody>
                    <a:bodyPr/>
                    <a:lstStyle/>
                    <a:p>
                      <a:pPr indent="0" marL="0">
                        <a:buNone/>
                      </a:pPr>
                      <a:r>
                        <a:rPr lang="en-US" sz="1600" dirty="0">
                          <a:solidFill>
                            <a:schemeClr val="tx1"/>
                          </a:solidFill>
                        </a:rPr>
                        <a:t>Lenta e antiga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r>
              <a:tr h="685800">
                <a:tc>
                  <a:txBody>
                    <a:bodyPr/>
                    <a:lstStyle/>
                    <a:p>
                      <a:pPr indent="0" marL="0">
                        <a:buNone/>
                      </a:pPr>
                      <a:r>
                        <a:rPr lang="en-US" sz="1600" b="1" dirty="0">
                          <a:solidFill>
                            <a:schemeClr val="tx2"/>
                          </a:solidFill>
                        </a:rPr>
                        <a:t>Fibra óptica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Luz no cabo de vidro</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Cidades</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Muito rápida e estável</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r>
              <a:tr h="685800">
                <a:tc>
                  <a:txBody>
                    <a:bodyPr/>
                    <a:lstStyle/>
                    <a:p>
                      <a:pPr indent="0" marL="0">
                        <a:buNone/>
                      </a:pPr>
                      <a:r>
                        <a:rPr lang="en-US" sz="1600" b="1" dirty="0">
                          <a:solidFill>
                            <a:schemeClr val="tx2"/>
                          </a:solidFill>
                        </a:rPr>
                        <a:t>3G / 4G / 5G</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c>
                  <a:txBody>
                    <a:bodyPr/>
                    <a:lstStyle/>
                    <a:p>
                      <a:pPr indent="0" marL="0">
                        <a:buNone/>
                      </a:pPr>
                      <a:r>
                        <a:rPr lang="en-US" sz="1600" dirty="0">
                          <a:solidFill>
                            <a:schemeClr val="tx1"/>
                          </a:solidFill>
                        </a:rPr>
                        <a:t>Ondas pelo ar (antena)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c>
                  <a:txBody>
                    <a:bodyPr/>
                    <a:lstStyle/>
                    <a:p>
                      <a:pPr indent="0" marL="0">
                        <a:buNone/>
                      </a:pPr>
                      <a:r>
                        <a:rPr lang="en-US" sz="1600" dirty="0">
                          <a:solidFill>
                            <a:schemeClr val="tx1"/>
                          </a:solidFill>
                        </a:rPr>
                        <a:t>Onde tem sinal de celular</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c>
                  <a:txBody>
                    <a:bodyPr/>
                    <a:lstStyle/>
                    <a:p>
                      <a:pPr indent="0" marL="0">
                        <a:buNone/>
                      </a:pPr>
                      <a:r>
                        <a:rPr lang="en-US" sz="1600" dirty="0">
                          <a:solidFill>
                            <a:schemeClr val="tx1"/>
                          </a:solidFill>
                        </a:rPr>
                        <a:t>Leva no bolso; tem franquia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tcPr>
                </a:tc>
              </a:tr>
              <a:tr h="685800">
                <a:tc>
                  <a:txBody>
                    <a:bodyPr/>
                    <a:lstStyle/>
                    <a:p>
                      <a:pPr indent="0" marL="0">
                        <a:buNone/>
                      </a:pPr>
                      <a:r>
                        <a:rPr lang="en-US" sz="1600" b="1" dirty="0">
                          <a:solidFill>
                            <a:schemeClr val="tx2"/>
                          </a:solidFill>
                        </a:rPr>
                        <a:t>Satélite</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Do espaço até a antena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Qualquer lugar, até a zona rural</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Chega longe; mais cara</a:t>
                      </a:r>
                      <a:endParaRPr lang="en-US" sz="16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Quem sou eu?</a:t>
            </a:r>
            <a:endParaRPr lang="en-US" sz="3400" dirty="0"/>
          </a:p>
        </p:txBody>
      </p:sp>
      <p:sp>
        <p:nvSpPr>
          <p:cNvPr id="3" name="Selo atividade"/>
          <p:cNvSpPr/>
          <p:nvPr/>
        </p:nvSpPr>
        <p:spPr>
          <a:xfrm>
            <a:off x="8503920" y="502920"/>
            <a:ext cx="2377440" cy="502920"/>
          </a:xfrm>
          <a:prstGeom prst="roundRect">
            <a:avLst>
              <a:gd name="adj" fmla="val 49091"/>
            </a:avLst>
          </a:prstGeom>
          <a:solidFill>
            <a:schemeClr val="accent2"/>
          </a:solidFill>
          <a:ln w="12700">
            <a:solidFill>
              <a:schemeClr val="accent2"/>
            </a:solidFill>
            <a:prstDash val="solid"/>
          </a:ln>
        </p:spPr>
      </p:sp>
      <p:sp>
        <p:nvSpPr>
          <p:cNvPr id="4" name="Text 2"/>
          <p:cNvSpPr txBox="1"/>
          <p:nvPr/>
        </p:nvSpPr>
        <p:spPr>
          <a:xfrm>
            <a:off x="8503920" y="50292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rPr>
              <a:t>DESAFIO</a:t>
            </a:r>
            <a:endParaRPr lang="en-US" sz="1500" dirty="0"/>
          </a:p>
        </p:txBody>
      </p:sp>
      <p:sp>
        <p:nvSpPr>
          <p:cNvPr id="5" name="Charada 1"/>
          <p:cNvSpPr/>
          <p:nvPr/>
        </p:nvSpPr>
        <p:spPr>
          <a:xfrm>
            <a:off x="548640" y="1417320"/>
            <a:ext cx="5349240" cy="1965960"/>
          </a:xfrm>
          <a:prstGeom prst="roundRect">
            <a:avLst>
              <a:gd name="adj" fmla="val 6977"/>
            </a:avLst>
          </a:prstGeom>
          <a:solidFill>
            <a:schemeClr val="bg2"/>
          </a:solidFill>
          <a:ln w="12700">
            <a:solidFill>
              <a:schemeClr val="bg2"/>
            </a:solidFill>
            <a:prstDash val="solid"/>
          </a:ln>
        </p:spPr>
      </p:sp>
      <p:sp>
        <p:nvSpPr>
          <p:cNvPr id="6" name="Shape 4"/>
          <p:cNvSpPr/>
          <p:nvPr/>
        </p:nvSpPr>
        <p:spPr>
          <a:xfrm>
            <a:off x="822960" y="1965960"/>
            <a:ext cx="868680" cy="868680"/>
          </a:xfrm>
          <a:prstGeom prst="ellipse">
            <a:avLst/>
          </a:prstGeom>
          <a:solidFill>
            <a:schemeClr val="accent2"/>
          </a:solidFill>
          <a:ln w="12700">
            <a:solidFill>
              <a:schemeClr val="accent2"/>
            </a:solidFill>
            <a:prstDash val="solid"/>
          </a:ln>
        </p:spPr>
      </p:sp>
      <p:sp>
        <p:nvSpPr>
          <p:cNvPr id="7" name="Text 5"/>
          <p:cNvSpPr txBox="1"/>
          <p:nvPr/>
        </p:nvSpPr>
        <p:spPr>
          <a:xfrm>
            <a:off x="822960" y="196596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3000" dirty="0"/>
          </a:p>
        </p:txBody>
      </p:sp>
      <p:sp>
        <p:nvSpPr>
          <p:cNvPr id="8" name="Text 6"/>
          <p:cNvSpPr txBox="1"/>
          <p:nvPr/>
        </p:nvSpPr>
        <p:spPr>
          <a:xfrm>
            <a:off x="1965960" y="1645920"/>
            <a:ext cx="3703320" cy="1508760"/>
          </a:xfrm>
          <a:prstGeom prst="rect">
            <a:avLst/>
          </a:prstGeom>
          <a:noFill/>
          <a:ln/>
        </p:spPr>
        <p:txBody>
          <a:bodyPr wrap="square" lIns="0" tIns="0" rIns="0" bIns="0" rtlCol="0" anchor="ctr"/>
          <a:lstStyle/>
          <a:p>
            <a:pPr indent="0" marL="0">
              <a:buNone/>
            </a:pPr>
            <a:r>
              <a:rPr lang="en-US" sz="2000" dirty="0">
                <a:solidFill>
                  <a:schemeClr val="tx1"/>
                </a:solidFill>
              </a:rPr>
              <a:t>Eu levo a internet pela luz, dentro de um fio de vidro.</a:t>
            </a:r>
            <a:endParaRPr lang="en-US" sz="2000" dirty="0"/>
          </a:p>
        </p:txBody>
      </p:sp>
      <p:sp>
        <p:nvSpPr>
          <p:cNvPr id="9" name="Charada 2"/>
          <p:cNvSpPr/>
          <p:nvPr/>
        </p:nvSpPr>
        <p:spPr>
          <a:xfrm>
            <a:off x="6172200" y="1417320"/>
            <a:ext cx="5349240" cy="1965960"/>
          </a:xfrm>
          <a:prstGeom prst="roundRect">
            <a:avLst>
              <a:gd name="adj" fmla="val 6977"/>
            </a:avLst>
          </a:prstGeom>
          <a:solidFill>
            <a:schemeClr val="bg2"/>
          </a:solidFill>
          <a:ln w="12700">
            <a:solidFill>
              <a:schemeClr val="bg2"/>
            </a:solidFill>
            <a:prstDash val="solid"/>
          </a:ln>
        </p:spPr>
      </p:sp>
      <p:sp>
        <p:nvSpPr>
          <p:cNvPr id="10" name="Shape 8"/>
          <p:cNvSpPr/>
          <p:nvPr/>
        </p:nvSpPr>
        <p:spPr>
          <a:xfrm>
            <a:off x="6446520" y="1965960"/>
            <a:ext cx="868680" cy="868680"/>
          </a:xfrm>
          <a:prstGeom prst="ellipse">
            <a:avLst/>
          </a:prstGeom>
          <a:solidFill>
            <a:schemeClr val="accent2"/>
          </a:solidFill>
          <a:ln w="12700">
            <a:solidFill>
              <a:schemeClr val="accent2"/>
            </a:solidFill>
            <a:prstDash val="solid"/>
          </a:ln>
        </p:spPr>
      </p:sp>
      <p:sp>
        <p:nvSpPr>
          <p:cNvPr id="11" name="Text 9"/>
          <p:cNvSpPr txBox="1"/>
          <p:nvPr/>
        </p:nvSpPr>
        <p:spPr>
          <a:xfrm>
            <a:off x="6446520" y="196596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2</a:t>
            </a:r>
            <a:endParaRPr lang="en-US" sz="3000" dirty="0"/>
          </a:p>
        </p:txBody>
      </p:sp>
      <p:sp>
        <p:nvSpPr>
          <p:cNvPr id="12" name="Text 10"/>
          <p:cNvSpPr txBox="1"/>
          <p:nvPr/>
        </p:nvSpPr>
        <p:spPr>
          <a:xfrm>
            <a:off x="7589520" y="1645920"/>
            <a:ext cx="3703320" cy="1508760"/>
          </a:xfrm>
          <a:prstGeom prst="rect">
            <a:avLst/>
          </a:prstGeom>
          <a:noFill/>
          <a:ln/>
        </p:spPr>
        <p:txBody>
          <a:bodyPr wrap="square" lIns="0" tIns="0" rIns="0" bIns="0" rtlCol="0" anchor="ctr"/>
          <a:lstStyle/>
          <a:p>
            <a:pPr indent="0" marL="0">
              <a:buNone/>
            </a:pPr>
            <a:r>
              <a:rPr lang="en-US" sz="2000" dirty="0">
                <a:solidFill>
                  <a:schemeClr val="tx1"/>
                </a:solidFill>
              </a:rPr>
              <a:t>Eu chego pelo ar, através das antenas, e preciso de um chip.</a:t>
            </a:r>
            <a:endParaRPr lang="en-US" sz="2000" dirty="0"/>
          </a:p>
        </p:txBody>
      </p:sp>
      <p:sp>
        <p:nvSpPr>
          <p:cNvPr id="13" name="Charada 3"/>
          <p:cNvSpPr/>
          <p:nvPr/>
        </p:nvSpPr>
        <p:spPr>
          <a:xfrm>
            <a:off x="548640" y="3657600"/>
            <a:ext cx="5349240" cy="1965960"/>
          </a:xfrm>
          <a:prstGeom prst="roundRect">
            <a:avLst>
              <a:gd name="adj" fmla="val 6977"/>
            </a:avLst>
          </a:prstGeom>
          <a:solidFill>
            <a:schemeClr val="bg2"/>
          </a:solidFill>
          <a:ln w="12700">
            <a:solidFill>
              <a:schemeClr val="bg2"/>
            </a:solidFill>
            <a:prstDash val="solid"/>
          </a:ln>
        </p:spPr>
      </p:sp>
      <p:sp>
        <p:nvSpPr>
          <p:cNvPr id="14" name="Shape 12"/>
          <p:cNvSpPr/>
          <p:nvPr/>
        </p:nvSpPr>
        <p:spPr>
          <a:xfrm>
            <a:off x="822960" y="4206240"/>
            <a:ext cx="868680" cy="868680"/>
          </a:xfrm>
          <a:prstGeom prst="ellipse">
            <a:avLst/>
          </a:prstGeom>
          <a:solidFill>
            <a:schemeClr val="accent2"/>
          </a:solidFill>
          <a:ln w="12700">
            <a:solidFill>
              <a:schemeClr val="accent2"/>
            </a:solidFill>
            <a:prstDash val="solid"/>
          </a:ln>
        </p:spPr>
      </p:sp>
      <p:sp>
        <p:nvSpPr>
          <p:cNvPr id="15" name="Text 13"/>
          <p:cNvSpPr txBox="1"/>
          <p:nvPr/>
        </p:nvSpPr>
        <p:spPr>
          <a:xfrm>
            <a:off x="822960" y="4206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3000" dirty="0"/>
          </a:p>
        </p:txBody>
      </p:sp>
      <p:sp>
        <p:nvSpPr>
          <p:cNvPr id="16" name="Text 14"/>
          <p:cNvSpPr txBox="1"/>
          <p:nvPr/>
        </p:nvSpPr>
        <p:spPr>
          <a:xfrm>
            <a:off x="1965960" y="3886200"/>
            <a:ext cx="3703320" cy="1508760"/>
          </a:xfrm>
          <a:prstGeom prst="rect">
            <a:avLst/>
          </a:prstGeom>
          <a:noFill/>
          <a:ln/>
        </p:spPr>
        <p:txBody>
          <a:bodyPr wrap="square" lIns="0" tIns="0" rIns="0" bIns="0" rtlCol="0" anchor="ctr"/>
          <a:lstStyle/>
          <a:p>
            <a:pPr indent="0" marL="0">
              <a:buNone/>
            </a:pPr>
            <a:r>
              <a:rPr lang="en-US" sz="2000" dirty="0">
                <a:solidFill>
                  <a:schemeClr val="tx1"/>
                </a:solidFill>
              </a:rPr>
              <a:t>Eu uso o fio do telefone fixo e já estou ficando velho.</a:t>
            </a:r>
            <a:endParaRPr lang="en-US" sz="2000" dirty="0"/>
          </a:p>
        </p:txBody>
      </p:sp>
      <p:sp>
        <p:nvSpPr>
          <p:cNvPr id="17" name="Charada 4"/>
          <p:cNvSpPr/>
          <p:nvPr/>
        </p:nvSpPr>
        <p:spPr>
          <a:xfrm>
            <a:off x="6172200" y="3657600"/>
            <a:ext cx="5349240" cy="1965960"/>
          </a:xfrm>
          <a:prstGeom prst="roundRect">
            <a:avLst>
              <a:gd name="adj" fmla="val 6977"/>
            </a:avLst>
          </a:prstGeom>
          <a:solidFill>
            <a:schemeClr val="bg2"/>
          </a:solidFill>
          <a:ln w="12700">
            <a:solidFill>
              <a:schemeClr val="bg2"/>
            </a:solidFill>
            <a:prstDash val="solid"/>
          </a:ln>
        </p:spPr>
      </p:sp>
      <p:sp>
        <p:nvSpPr>
          <p:cNvPr id="18" name="Shape 16"/>
          <p:cNvSpPr/>
          <p:nvPr/>
        </p:nvSpPr>
        <p:spPr>
          <a:xfrm>
            <a:off x="6446520" y="4206240"/>
            <a:ext cx="868680" cy="868680"/>
          </a:xfrm>
          <a:prstGeom prst="ellipse">
            <a:avLst/>
          </a:prstGeom>
          <a:solidFill>
            <a:schemeClr val="accent2"/>
          </a:solidFill>
          <a:ln w="12700">
            <a:solidFill>
              <a:schemeClr val="accent2"/>
            </a:solidFill>
            <a:prstDash val="solid"/>
          </a:ln>
        </p:spPr>
      </p:sp>
      <p:sp>
        <p:nvSpPr>
          <p:cNvPr id="19" name="Text 17"/>
          <p:cNvSpPr txBox="1"/>
          <p:nvPr/>
        </p:nvSpPr>
        <p:spPr>
          <a:xfrm>
            <a:off x="6446520" y="4206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4</a:t>
            </a:r>
            <a:endParaRPr lang="en-US" sz="3000" dirty="0"/>
          </a:p>
        </p:txBody>
      </p:sp>
      <p:sp>
        <p:nvSpPr>
          <p:cNvPr id="20" name="Text 18"/>
          <p:cNvSpPr txBox="1"/>
          <p:nvPr/>
        </p:nvSpPr>
        <p:spPr>
          <a:xfrm>
            <a:off x="7589520" y="3886200"/>
            <a:ext cx="3703320" cy="1508760"/>
          </a:xfrm>
          <a:prstGeom prst="rect">
            <a:avLst/>
          </a:prstGeom>
          <a:noFill/>
          <a:ln/>
        </p:spPr>
        <p:txBody>
          <a:bodyPr wrap="square" lIns="0" tIns="0" rIns="0" bIns="0" rtlCol="0" anchor="ctr"/>
          <a:lstStyle/>
          <a:p>
            <a:pPr indent="0" marL="0">
              <a:buNone/>
            </a:pPr>
            <a:r>
              <a:rPr lang="en-US" sz="2000" dirty="0">
                <a:solidFill>
                  <a:schemeClr val="tx1"/>
                </a:solidFill>
              </a:rPr>
              <a:t>Eu venho do espaço e chego até a zona rural.</a:t>
            </a:r>
            <a:endParaRPr lang="en-US" sz="20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Cuidados ao usar a rede</a:t>
            </a:r>
            <a:endParaRPr lang="en-US" sz="3400" dirty="0"/>
          </a:p>
        </p:txBody>
      </p:sp>
      <p:sp>
        <p:nvSpPr>
          <p:cNvPr id="3" name="Coloque senha no Wi-Fi de casa"/>
          <p:cNvSpPr/>
          <p:nvPr/>
        </p:nvSpPr>
        <p:spPr>
          <a:xfrm>
            <a:off x="548640" y="1417320"/>
            <a:ext cx="5349240" cy="1965960"/>
          </a:xfrm>
          <a:prstGeom prst="roundRect">
            <a:avLst>
              <a:gd name="adj" fmla="val 6977"/>
            </a:avLst>
          </a:prstGeom>
          <a:solidFill>
            <a:schemeClr val="bg2"/>
          </a:solidFill>
          <a:ln w="12700">
            <a:solidFill>
              <a:schemeClr val="bg2"/>
            </a:solidFill>
            <a:prstDash val="solid"/>
          </a:ln>
        </p:spPr>
      </p:sp>
      <p:sp>
        <p:nvSpPr>
          <p:cNvPr id="4" name="Shape 2"/>
          <p:cNvSpPr/>
          <p:nvPr/>
        </p:nvSpPr>
        <p:spPr>
          <a:xfrm>
            <a:off x="868680" y="1847088"/>
            <a:ext cx="1097280" cy="1097280"/>
          </a:xfrm>
          <a:prstGeom prst="ellipse">
            <a:avLst/>
          </a:prstGeom>
          <a:solidFill>
            <a:srgbClr val="2F9E41"/>
          </a:solidFill>
          <a:ln w="12700">
            <a:solidFill>
              <a:srgbClr val="2F9E41"/>
            </a:solidFill>
            <a:prstDash val="solid"/>
          </a:ln>
        </p:spPr>
      </p:sp>
      <p:pic>
        <p:nvPicPr>
          <p:cNvPr id="5" name="Image 0" descr="preencoded.png">    </p:cNvPr>
          <p:cNvPicPr>
            <a:picLocks noChangeAspect="1"/>
          </p:cNvPicPr>
          <p:nvPr/>
        </p:nvPicPr>
        <p:blipFill>
          <a:blip r:embed="rId1"/>
          <a:stretch>
            <a:fillRect/>
          </a:stretch>
        </p:blipFill>
        <p:spPr>
          <a:xfrm>
            <a:off x="1143000" y="2121408"/>
            <a:ext cx="548640" cy="548640"/>
          </a:xfrm>
          <a:prstGeom prst="rect">
            <a:avLst/>
          </a:prstGeom>
        </p:spPr>
      </p:pic>
      <p:sp>
        <p:nvSpPr>
          <p:cNvPr id="6" name="Text 3"/>
          <p:cNvSpPr txBox="1"/>
          <p:nvPr/>
        </p:nvSpPr>
        <p:spPr>
          <a:xfrm>
            <a:off x="2240280" y="1645920"/>
            <a:ext cx="3474720" cy="1554480"/>
          </a:xfrm>
          <a:prstGeom prst="rect">
            <a:avLst/>
          </a:prstGeom>
          <a:noFill/>
          <a:ln/>
        </p:spPr>
        <p:txBody>
          <a:bodyPr wrap="square" lIns="0" tIns="0" rIns="0" bIns="0" rtlCol="0" anchor="ctr"/>
          <a:lstStyle/>
          <a:p>
            <a:pPr indent="0" marL="0">
              <a:buNone/>
            </a:pPr>
            <a:r>
              <a:rPr lang="en-US" sz="2100" b="1" dirty="0">
                <a:solidFill>
                  <a:schemeClr val="tx2"/>
                </a:solidFill>
              </a:rPr>
              <a:t>Coloque senha no Wi-Fi de casa</a:t>
            </a:r>
            <a:endParaRPr lang="en-US" sz="1800" dirty="0"/>
          </a:p>
          <a:p>
            <a:pPr indent="0" marL="0">
              <a:buNone/>
            </a:pPr>
            <a:r>
              <a:rPr lang="en-US" sz="1700" dirty="0">
                <a:solidFill>
                  <a:schemeClr val="tx1"/>
                </a:solidFill>
              </a:rPr>
              <a:t>Use letras, números e símbolos. Não use 12345678.</a:t>
            </a:r>
            <a:endParaRPr lang="en-US" sz="1800" dirty="0"/>
          </a:p>
        </p:txBody>
      </p:sp>
      <p:sp>
        <p:nvSpPr>
          <p:cNvPr id="7" name="Cuidado com Wi-Fi público"/>
          <p:cNvSpPr/>
          <p:nvPr/>
        </p:nvSpPr>
        <p:spPr>
          <a:xfrm>
            <a:off x="6172200" y="1417320"/>
            <a:ext cx="5349240" cy="1965960"/>
          </a:xfrm>
          <a:prstGeom prst="roundRect">
            <a:avLst>
              <a:gd name="adj" fmla="val 6977"/>
            </a:avLst>
          </a:prstGeom>
          <a:solidFill>
            <a:schemeClr val="bg2"/>
          </a:solidFill>
          <a:ln w="12700">
            <a:solidFill>
              <a:schemeClr val="bg2"/>
            </a:solidFill>
            <a:prstDash val="solid"/>
          </a:ln>
        </p:spPr>
      </p:sp>
      <p:sp>
        <p:nvSpPr>
          <p:cNvPr id="8" name="Shape 5"/>
          <p:cNvSpPr/>
          <p:nvPr/>
        </p:nvSpPr>
        <p:spPr>
          <a:xfrm>
            <a:off x="6492240" y="1847088"/>
            <a:ext cx="1097280" cy="1097280"/>
          </a:xfrm>
          <a:prstGeom prst="ellipse">
            <a:avLst/>
          </a:prstGeom>
          <a:solidFill>
            <a:srgbClr val="2F9E41"/>
          </a:solidFill>
          <a:ln w="12700">
            <a:solidFill>
              <a:srgbClr val="2F9E41"/>
            </a:solidFill>
            <a:prstDash val="solid"/>
          </a:ln>
        </p:spPr>
      </p:sp>
      <p:pic>
        <p:nvPicPr>
          <p:cNvPr id="9" name="Image 1" descr="preencoded.png">    </p:cNvPr>
          <p:cNvPicPr>
            <a:picLocks noChangeAspect="1"/>
          </p:cNvPicPr>
          <p:nvPr/>
        </p:nvPicPr>
        <p:blipFill>
          <a:blip r:embed="rId2"/>
          <a:stretch>
            <a:fillRect/>
          </a:stretch>
        </p:blipFill>
        <p:spPr>
          <a:xfrm>
            <a:off x="6766560" y="2121408"/>
            <a:ext cx="548640" cy="548640"/>
          </a:xfrm>
          <a:prstGeom prst="rect">
            <a:avLst/>
          </a:prstGeom>
        </p:spPr>
      </p:pic>
      <p:sp>
        <p:nvSpPr>
          <p:cNvPr id="10" name="Text 6"/>
          <p:cNvSpPr txBox="1"/>
          <p:nvPr/>
        </p:nvSpPr>
        <p:spPr>
          <a:xfrm>
            <a:off x="7863840" y="1645920"/>
            <a:ext cx="3474720" cy="1554480"/>
          </a:xfrm>
          <a:prstGeom prst="rect">
            <a:avLst/>
          </a:prstGeom>
          <a:noFill/>
          <a:ln/>
        </p:spPr>
        <p:txBody>
          <a:bodyPr wrap="square" lIns="0" tIns="0" rIns="0" bIns="0" rtlCol="0" anchor="ctr"/>
          <a:lstStyle/>
          <a:p>
            <a:pPr indent="0" marL="0">
              <a:buNone/>
            </a:pPr>
            <a:r>
              <a:rPr lang="en-US" sz="2100" b="1" dirty="0">
                <a:solidFill>
                  <a:schemeClr val="tx2"/>
                </a:solidFill>
              </a:rPr>
              <a:t>Cuidado com Wi-Fi público</a:t>
            </a:r>
            <a:endParaRPr lang="en-US" sz="1800" dirty="0"/>
          </a:p>
          <a:p>
            <a:pPr indent="0" marL="0">
              <a:buNone/>
            </a:pPr>
            <a:r>
              <a:rPr lang="en-US" sz="1700" dirty="0">
                <a:solidFill>
                  <a:schemeClr val="tx1"/>
                </a:solidFill>
              </a:rPr>
              <a:t>Em praça, rodoviária ou loja: não entre no banco nem faça Pix.</a:t>
            </a:r>
            <a:endParaRPr lang="en-US" sz="1800" dirty="0"/>
          </a:p>
        </p:txBody>
      </p:sp>
      <p:sp>
        <p:nvSpPr>
          <p:cNvPr id="11" name="Nunca passe códigos"/>
          <p:cNvSpPr/>
          <p:nvPr/>
        </p:nvSpPr>
        <p:spPr>
          <a:xfrm>
            <a:off x="548640" y="3657600"/>
            <a:ext cx="5349240" cy="1965960"/>
          </a:xfrm>
          <a:prstGeom prst="roundRect">
            <a:avLst>
              <a:gd name="adj" fmla="val 6977"/>
            </a:avLst>
          </a:prstGeom>
          <a:solidFill>
            <a:schemeClr val="bg2"/>
          </a:solidFill>
          <a:ln w="12700">
            <a:solidFill>
              <a:schemeClr val="bg2"/>
            </a:solidFill>
            <a:prstDash val="solid"/>
          </a:ln>
        </p:spPr>
      </p:sp>
      <p:sp>
        <p:nvSpPr>
          <p:cNvPr id="12" name="Shape 8"/>
          <p:cNvSpPr/>
          <p:nvPr/>
        </p:nvSpPr>
        <p:spPr>
          <a:xfrm>
            <a:off x="868680" y="4087368"/>
            <a:ext cx="1097280" cy="1097280"/>
          </a:xfrm>
          <a:prstGeom prst="ellipse">
            <a:avLst/>
          </a:prstGeom>
          <a:solidFill>
            <a:srgbClr val="C8191E"/>
          </a:solidFill>
          <a:ln w="12700">
            <a:solidFill>
              <a:srgbClr val="C8191E"/>
            </a:solidFill>
            <a:prstDash val="solid"/>
          </a:ln>
        </p:spPr>
      </p:sp>
      <p:pic>
        <p:nvPicPr>
          <p:cNvPr id="13" name="Image 2" descr="preencoded.png">    </p:cNvPr>
          <p:cNvPicPr>
            <a:picLocks noChangeAspect="1"/>
          </p:cNvPicPr>
          <p:nvPr/>
        </p:nvPicPr>
        <p:blipFill>
          <a:blip r:embed="rId3"/>
          <a:stretch>
            <a:fillRect/>
          </a:stretch>
        </p:blipFill>
        <p:spPr>
          <a:xfrm>
            <a:off x="1143000" y="4361688"/>
            <a:ext cx="548640" cy="548640"/>
          </a:xfrm>
          <a:prstGeom prst="rect">
            <a:avLst/>
          </a:prstGeom>
        </p:spPr>
      </p:pic>
      <p:sp>
        <p:nvSpPr>
          <p:cNvPr id="14" name="Text 9"/>
          <p:cNvSpPr txBox="1"/>
          <p:nvPr/>
        </p:nvSpPr>
        <p:spPr>
          <a:xfrm>
            <a:off x="2240280" y="3886200"/>
            <a:ext cx="3474720" cy="1554480"/>
          </a:xfrm>
          <a:prstGeom prst="rect">
            <a:avLst/>
          </a:prstGeom>
          <a:noFill/>
          <a:ln/>
        </p:spPr>
        <p:txBody>
          <a:bodyPr wrap="square" lIns="0" tIns="0" rIns="0" bIns="0" rtlCol="0" anchor="ctr"/>
          <a:lstStyle/>
          <a:p>
            <a:pPr indent="0" marL="0">
              <a:buNone/>
            </a:pPr>
            <a:r>
              <a:rPr lang="en-US" sz="2100" b="1" dirty="0">
                <a:solidFill>
                  <a:schemeClr val="tx2"/>
                </a:solidFill>
              </a:rPr>
              <a:t>Nunca passe códigos</a:t>
            </a:r>
            <a:endParaRPr lang="en-US" sz="1800" dirty="0"/>
          </a:p>
          <a:p>
            <a:pPr indent="0" marL="0">
              <a:buNone/>
            </a:pPr>
            <a:r>
              <a:rPr lang="en-US" sz="1700" dirty="0">
                <a:solidFill>
                  <a:schemeClr val="tx1"/>
                </a:solidFill>
              </a:rPr>
              <a:t>Código do WhatsApp ou do banco que chega por SMS é só seu.</a:t>
            </a:r>
            <a:endParaRPr lang="en-US" sz="1800" dirty="0"/>
          </a:p>
        </p:txBody>
      </p:sp>
      <p:sp>
        <p:nvSpPr>
          <p:cNvPr id="15" name="Mantenha o celular atualizado"/>
          <p:cNvSpPr/>
          <p:nvPr/>
        </p:nvSpPr>
        <p:spPr>
          <a:xfrm>
            <a:off x="6172200" y="3657600"/>
            <a:ext cx="5349240" cy="1965960"/>
          </a:xfrm>
          <a:prstGeom prst="roundRect">
            <a:avLst>
              <a:gd name="adj" fmla="val 6977"/>
            </a:avLst>
          </a:prstGeom>
          <a:solidFill>
            <a:schemeClr val="bg2"/>
          </a:solidFill>
          <a:ln w="12700">
            <a:solidFill>
              <a:schemeClr val="bg2"/>
            </a:solidFill>
            <a:prstDash val="solid"/>
          </a:ln>
        </p:spPr>
      </p:sp>
      <p:sp>
        <p:nvSpPr>
          <p:cNvPr id="16" name="Shape 11"/>
          <p:cNvSpPr/>
          <p:nvPr/>
        </p:nvSpPr>
        <p:spPr>
          <a:xfrm>
            <a:off x="6492240" y="4087368"/>
            <a:ext cx="1097280" cy="1097280"/>
          </a:xfrm>
          <a:prstGeom prst="ellipse">
            <a:avLst/>
          </a:prstGeom>
          <a:solidFill>
            <a:srgbClr val="2F9E41"/>
          </a:solidFill>
          <a:ln w="12700">
            <a:solidFill>
              <a:srgbClr val="2F9E41"/>
            </a:solidFill>
            <a:prstDash val="solid"/>
          </a:ln>
        </p:spPr>
      </p:sp>
      <p:pic>
        <p:nvPicPr>
          <p:cNvPr id="17" name="Image 3" descr="preencoded.png">    </p:cNvPr>
          <p:cNvPicPr>
            <a:picLocks noChangeAspect="1"/>
          </p:cNvPicPr>
          <p:nvPr/>
        </p:nvPicPr>
        <p:blipFill>
          <a:blip r:embed="rId4"/>
          <a:stretch>
            <a:fillRect/>
          </a:stretch>
        </p:blipFill>
        <p:spPr>
          <a:xfrm>
            <a:off x="6766560" y="4361688"/>
            <a:ext cx="548640" cy="548640"/>
          </a:xfrm>
          <a:prstGeom prst="rect">
            <a:avLst/>
          </a:prstGeom>
        </p:spPr>
      </p:pic>
      <p:sp>
        <p:nvSpPr>
          <p:cNvPr id="18" name="Text 12"/>
          <p:cNvSpPr txBox="1"/>
          <p:nvPr/>
        </p:nvSpPr>
        <p:spPr>
          <a:xfrm>
            <a:off x="7863840" y="3886200"/>
            <a:ext cx="3474720" cy="1554480"/>
          </a:xfrm>
          <a:prstGeom prst="rect">
            <a:avLst/>
          </a:prstGeom>
          <a:noFill/>
          <a:ln/>
        </p:spPr>
        <p:txBody>
          <a:bodyPr wrap="square" lIns="0" tIns="0" rIns="0" bIns="0" rtlCol="0" anchor="ctr"/>
          <a:lstStyle/>
          <a:p>
            <a:pPr indent="0" marL="0">
              <a:buNone/>
            </a:pPr>
            <a:r>
              <a:rPr lang="en-US" sz="2100" b="1" dirty="0">
                <a:solidFill>
                  <a:schemeClr val="tx2"/>
                </a:solidFill>
              </a:rPr>
              <a:t>Mantenha o celular atualizado</a:t>
            </a:r>
            <a:endParaRPr lang="en-US" sz="1800" dirty="0"/>
          </a:p>
          <a:p>
            <a:pPr indent="0" marL="0">
              <a:buNone/>
            </a:pPr>
            <a:r>
              <a:rPr lang="en-US" sz="1700" dirty="0">
                <a:solidFill>
                  <a:schemeClr val="tx1"/>
                </a:solidFill>
              </a:rPr>
              <a:t>As atualizações corrigem falhas de segurança.</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body" hasCustomPrompt="1"/>
          </p:nvPr>
        </p:nvSpPr>
        <p:spPr>
          <a:xfrm>
            <a:off x="731520" y="1463040"/>
            <a:ext cx="8229600" cy="1097280"/>
          </a:xfrm>
          <a:prstGeom prst="rect">
            <a:avLst/>
          </a:prstGeom>
          <a:noFill/>
          <a:ln/>
        </p:spPr>
        <p:txBody>
          <a:bodyPr wrap="square" lIns="0" tIns="0" rIns="0" bIns="0" rtlCol="0"/>
          <a:lstStyle/>
          <a:p>
            <a:pPr algn="l" indent="0" marL="0">
              <a:buNone/>
            </a:pPr>
            <a:r>
              <a:rPr lang="en-US" sz="6000" b="1" dirty="0">
                <a:solidFill>
                  <a:schemeClr val="tx2"/>
                </a:solidFill>
              </a:rPr>
              <a:t>1.5.4</a:t>
            </a:r>
            <a:endParaRPr lang="en-US" sz="6000" dirty="0"/>
          </a:p>
        </p:txBody>
      </p:sp>
      <p:sp>
        <p:nvSpPr>
          <p:cNvPr id="3" name="Text 0"/>
          <p:cNvSpPr/>
          <p:nvPr>
            <p:ph idx="102" type="title" hasCustomPrompt="1"/>
          </p:nvPr>
        </p:nvSpPr>
        <p:spPr>
          <a:xfrm>
            <a:off x="731520" y="2651760"/>
            <a:ext cx="8595360" cy="1463040"/>
          </a:xfrm>
          <a:prstGeom prst="rect">
            <a:avLst/>
          </a:prstGeom>
          <a:noFill/>
          <a:ln/>
        </p:spPr>
        <p:txBody>
          <a:bodyPr wrap="square" lIns="0" tIns="0" rIns="0" bIns="0" rtlCol="0" anchor="t"/>
          <a:lstStyle/>
          <a:p>
            <a:pPr algn="l" indent="0" marL="0">
              <a:buNone/>
            </a:pPr>
            <a:r>
              <a:rPr lang="en-US" sz="4400" b="1" dirty="0">
                <a:solidFill>
                  <a:schemeClr val="bg1"/>
                </a:solidFill>
              </a:rPr>
              <a:t>Como medir a velocidade da sua conexão</a:t>
            </a:r>
            <a:endParaRPr lang="en-US" sz="4400" dirty="0"/>
          </a:p>
        </p:txBody>
      </p:sp>
      <p:sp>
        <p:nvSpPr>
          <p:cNvPr id="4" name="Text 0"/>
          <p:cNvSpPr/>
          <p:nvPr>
            <p:ph idx="103" type="body" hasCustomPrompt="1"/>
          </p:nvPr>
        </p:nvSpPr>
        <p:spPr>
          <a:xfrm>
            <a:off x="731520" y="4297680"/>
            <a:ext cx="8229600" cy="1097280"/>
          </a:xfrm>
          <a:prstGeom prst="rect">
            <a:avLst/>
          </a:prstGeom>
          <a:noFill/>
          <a:ln/>
        </p:spPr>
        <p:txBody>
          <a:bodyPr wrap="square" lIns="0" tIns="0" rIns="0" bIns="0" rtlCol="0" anchor="t"/>
          <a:lstStyle/>
          <a:p>
            <a:pPr algn="l" indent="0" marL="0">
              <a:buNone/>
            </a:pPr>
            <a:r>
              <a:rPr lang="en-US" sz="2200" dirty="0">
                <a:solidFill>
                  <a:schemeClr val="bg1"/>
                </a:solidFill>
              </a:rPr>
              <a:t>Sua internet entrega o que você paga?</a:t>
            </a:r>
            <a:endParaRPr lang="en-US" sz="2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bg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Entendendo a velocidade</a:t>
            </a:r>
            <a:endParaRPr lang="en-US" sz="3400" dirty="0"/>
          </a:p>
        </p:txBody>
      </p:sp>
      <p:sp>
        <p:nvSpPr>
          <p:cNvPr id="3" name="Text 1"/>
          <p:cNvSpPr txBox="1"/>
          <p:nvPr/>
        </p:nvSpPr>
        <p:spPr>
          <a:xfrm>
            <a:off x="548640" y="1371600"/>
            <a:ext cx="11064240" cy="1005840"/>
          </a:xfrm>
          <a:prstGeom prst="rect">
            <a:avLst/>
          </a:prstGeom>
          <a:noFill/>
          <a:ln/>
        </p:spPr>
        <p:txBody>
          <a:bodyPr wrap="square" lIns="0" tIns="0" rIns="0" bIns="0" rtlCol="0" anchor="t"/>
          <a:lstStyle/>
          <a:p>
            <a:pPr indent="0" marL="0">
              <a:buNone/>
            </a:pPr>
            <a:r>
              <a:rPr lang="en-US" sz="2000" dirty="0">
                <a:solidFill>
                  <a:schemeClr val="tx1"/>
                </a:solidFill>
              </a:rPr>
              <a:t>A velocidade é medida em </a:t>
            </a:r>
            <a:pPr indent="0" marL="0">
              <a:buNone/>
            </a:pPr>
            <a:r>
              <a:rPr lang="en-US" sz="2000" b="1" dirty="0">
                <a:solidFill>
                  <a:schemeClr val="accent2"/>
                </a:solidFill>
              </a:rPr>
              <a:t>Mbps</a:t>
            </a:r>
            <a:pPr indent="0" marL="0">
              <a:buNone/>
            </a:pPr>
            <a:r>
              <a:rPr lang="en-US" sz="2000" dirty="0">
                <a:solidFill>
                  <a:schemeClr val="tx1"/>
                </a:solidFill>
              </a:rPr>
              <a:t> (megabits por segundo): quanta informação passa a cada segundo. Pense num cano d'água: quanto mais largo, mais água passa.</a:t>
            </a:r>
            <a:endParaRPr lang="en-US" sz="2000" dirty="0"/>
          </a:p>
        </p:txBody>
      </p:sp>
      <p:sp>
        <p:nvSpPr>
          <p:cNvPr id="4" name="Download"/>
          <p:cNvSpPr/>
          <p:nvPr/>
        </p:nvSpPr>
        <p:spPr>
          <a:xfrm>
            <a:off x="548640" y="2651760"/>
            <a:ext cx="3474720" cy="3108960"/>
          </a:xfrm>
          <a:prstGeom prst="roundRect">
            <a:avLst>
              <a:gd name="adj" fmla="val 4412"/>
            </a:avLst>
          </a:prstGeom>
          <a:solidFill>
            <a:schemeClr val="bg2"/>
          </a:solidFill>
          <a:ln w="12700">
            <a:solidFill>
              <a:schemeClr val="bg2"/>
            </a:solidFill>
            <a:prstDash val="solid"/>
          </a:ln>
        </p:spPr>
      </p:sp>
      <p:sp>
        <p:nvSpPr>
          <p:cNvPr id="5" name="Shape 3"/>
          <p:cNvSpPr/>
          <p:nvPr/>
        </p:nvSpPr>
        <p:spPr>
          <a:xfrm>
            <a:off x="822960" y="2880360"/>
            <a:ext cx="914400" cy="914400"/>
          </a:xfrm>
          <a:prstGeom prst="ellipse">
            <a:avLst/>
          </a:prstGeom>
          <a:solidFill>
            <a:srgbClr val="2F9E41"/>
          </a:solidFill>
          <a:ln w="12700">
            <a:solidFill>
              <a:srgbClr val="2F9E41"/>
            </a:solidFill>
            <a:prstDash val="solid"/>
          </a:ln>
        </p:spPr>
      </p:sp>
      <p:pic>
        <p:nvPicPr>
          <p:cNvPr id="6" name="Image 0" descr="preencoded.png">    </p:cNvPr>
          <p:cNvPicPr>
            <a:picLocks noChangeAspect="1"/>
          </p:cNvPicPr>
          <p:nvPr/>
        </p:nvPicPr>
        <p:blipFill>
          <a:blip r:embed="rId1"/>
          <a:stretch>
            <a:fillRect/>
          </a:stretch>
        </p:blipFill>
        <p:spPr>
          <a:xfrm>
            <a:off x="1051560" y="3108960"/>
            <a:ext cx="457200" cy="457200"/>
          </a:xfrm>
          <a:prstGeom prst="rect">
            <a:avLst/>
          </a:prstGeom>
        </p:spPr>
      </p:pic>
      <p:sp>
        <p:nvSpPr>
          <p:cNvPr id="7" name="Text 4"/>
          <p:cNvSpPr txBox="1"/>
          <p:nvPr/>
        </p:nvSpPr>
        <p:spPr>
          <a:xfrm>
            <a:off x="1874520" y="2880360"/>
            <a:ext cx="2057400" cy="914400"/>
          </a:xfrm>
          <a:prstGeom prst="rect">
            <a:avLst/>
          </a:prstGeom>
          <a:noFill/>
          <a:ln/>
        </p:spPr>
        <p:txBody>
          <a:bodyPr wrap="square" lIns="0" tIns="0" rIns="0" bIns="0" rtlCol="0" anchor="ctr"/>
          <a:lstStyle/>
          <a:p>
            <a:pPr indent="0" marL="0">
              <a:buNone/>
            </a:pPr>
            <a:r>
              <a:rPr lang="en-US" sz="2200" b="1" dirty="0">
                <a:solidFill>
                  <a:schemeClr val="tx2"/>
                </a:solidFill>
              </a:rPr>
              <a:t>Download</a:t>
            </a:r>
            <a:endParaRPr lang="en-US" sz="1800" dirty="0"/>
          </a:p>
          <a:p>
            <a:pPr indent="0" marL="0">
              <a:buNone/>
            </a:pPr>
            <a:r>
              <a:rPr lang="en-US" sz="1600" dirty="0">
                <a:solidFill>
                  <a:schemeClr val="accent5"/>
                </a:solidFill>
              </a:rPr>
              <a:t>Baixar / receber</a:t>
            </a:r>
            <a:endParaRPr lang="en-US" sz="1800" dirty="0"/>
          </a:p>
        </p:txBody>
      </p:sp>
      <p:sp>
        <p:nvSpPr>
          <p:cNvPr id="8" name="Text 5"/>
          <p:cNvSpPr txBox="1"/>
          <p:nvPr/>
        </p:nvSpPr>
        <p:spPr>
          <a:xfrm>
            <a:off x="822960" y="4023360"/>
            <a:ext cx="2926080" cy="868680"/>
          </a:xfrm>
          <a:prstGeom prst="rect">
            <a:avLst/>
          </a:prstGeom>
          <a:noFill/>
          <a:ln/>
        </p:spPr>
        <p:txBody>
          <a:bodyPr wrap="square" lIns="0" tIns="0" rIns="0" bIns="0" rtlCol="0" anchor="t"/>
          <a:lstStyle/>
          <a:p>
            <a:pPr indent="0" marL="0">
              <a:buNone/>
            </a:pPr>
            <a:r>
              <a:rPr lang="en-US" sz="1700" dirty="0">
                <a:solidFill>
                  <a:schemeClr val="tx1"/>
                </a:solidFill>
              </a:rPr>
              <a:t>Ver vídeo, abrir site, receber foto</a:t>
            </a:r>
            <a:endParaRPr lang="en-US" sz="1700" dirty="0"/>
          </a:p>
        </p:txBody>
      </p:sp>
      <p:sp>
        <p:nvSpPr>
          <p:cNvPr id="9" name="Text 6"/>
          <p:cNvSpPr txBox="1"/>
          <p:nvPr/>
        </p:nvSpPr>
        <p:spPr>
          <a:xfrm>
            <a:off x="822960" y="4983480"/>
            <a:ext cx="2926080" cy="457200"/>
          </a:xfrm>
          <a:prstGeom prst="rect">
            <a:avLst/>
          </a:prstGeom>
          <a:noFill/>
          <a:ln/>
        </p:spPr>
        <p:txBody>
          <a:bodyPr wrap="square" lIns="0" tIns="0" rIns="0" bIns="0" rtlCol="0" anchor="t"/>
          <a:lstStyle/>
          <a:p>
            <a:pPr indent="0" marL="0">
              <a:buNone/>
            </a:pPr>
            <a:r>
              <a:rPr lang="en-US" sz="1700" b="1" dirty="0">
                <a:solidFill>
                  <a:schemeClr val="accent1"/>
                </a:solidFill>
              </a:rPr>
              <a:t>Quanto maior, melhor</a:t>
            </a:r>
            <a:endParaRPr lang="en-US" sz="1700" dirty="0"/>
          </a:p>
        </p:txBody>
      </p:sp>
      <p:sp>
        <p:nvSpPr>
          <p:cNvPr id="10" name="Upload"/>
          <p:cNvSpPr/>
          <p:nvPr/>
        </p:nvSpPr>
        <p:spPr>
          <a:xfrm>
            <a:off x="4297680" y="2651760"/>
            <a:ext cx="3474720" cy="3108960"/>
          </a:xfrm>
          <a:prstGeom prst="roundRect">
            <a:avLst>
              <a:gd name="adj" fmla="val 4412"/>
            </a:avLst>
          </a:prstGeom>
          <a:solidFill>
            <a:schemeClr val="bg2"/>
          </a:solidFill>
          <a:ln w="12700">
            <a:solidFill>
              <a:schemeClr val="bg2"/>
            </a:solidFill>
            <a:prstDash val="solid"/>
          </a:ln>
        </p:spPr>
      </p:sp>
      <p:sp>
        <p:nvSpPr>
          <p:cNvPr id="11" name="Shape 8"/>
          <p:cNvSpPr/>
          <p:nvPr/>
        </p:nvSpPr>
        <p:spPr>
          <a:xfrm>
            <a:off x="4572000" y="2880360"/>
            <a:ext cx="914400" cy="914400"/>
          </a:xfrm>
          <a:prstGeom prst="ellipse">
            <a:avLst/>
          </a:prstGeom>
          <a:solidFill>
            <a:srgbClr val="2F9E41"/>
          </a:solidFill>
          <a:ln w="12700">
            <a:solidFill>
              <a:srgbClr val="2F9E41"/>
            </a:solidFill>
            <a:prstDash val="solid"/>
          </a:ln>
        </p:spPr>
      </p:sp>
      <p:pic>
        <p:nvPicPr>
          <p:cNvPr id="12" name="Image 1" descr="preencoded.png">    </p:cNvPr>
          <p:cNvPicPr>
            <a:picLocks noChangeAspect="1"/>
          </p:cNvPicPr>
          <p:nvPr/>
        </p:nvPicPr>
        <p:blipFill>
          <a:blip r:embed="rId2"/>
          <a:stretch>
            <a:fillRect/>
          </a:stretch>
        </p:blipFill>
        <p:spPr>
          <a:xfrm>
            <a:off x="4800600" y="3108960"/>
            <a:ext cx="457200" cy="457200"/>
          </a:xfrm>
          <a:prstGeom prst="rect">
            <a:avLst/>
          </a:prstGeom>
        </p:spPr>
      </p:pic>
      <p:sp>
        <p:nvSpPr>
          <p:cNvPr id="13" name="Text 9"/>
          <p:cNvSpPr txBox="1"/>
          <p:nvPr/>
        </p:nvSpPr>
        <p:spPr>
          <a:xfrm>
            <a:off x="5623560" y="2880360"/>
            <a:ext cx="2057400" cy="914400"/>
          </a:xfrm>
          <a:prstGeom prst="rect">
            <a:avLst/>
          </a:prstGeom>
          <a:noFill/>
          <a:ln/>
        </p:spPr>
        <p:txBody>
          <a:bodyPr wrap="square" lIns="0" tIns="0" rIns="0" bIns="0" rtlCol="0" anchor="ctr"/>
          <a:lstStyle/>
          <a:p>
            <a:pPr indent="0" marL="0">
              <a:buNone/>
            </a:pPr>
            <a:r>
              <a:rPr lang="en-US" sz="2200" b="1" dirty="0">
                <a:solidFill>
                  <a:schemeClr val="tx2"/>
                </a:solidFill>
              </a:rPr>
              <a:t>Upload</a:t>
            </a:r>
            <a:endParaRPr lang="en-US" sz="1800" dirty="0"/>
          </a:p>
          <a:p>
            <a:pPr indent="0" marL="0">
              <a:buNone/>
            </a:pPr>
            <a:r>
              <a:rPr lang="en-US" sz="1600" dirty="0">
                <a:solidFill>
                  <a:schemeClr val="accent5"/>
                </a:solidFill>
              </a:rPr>
              <a:t>Enviar</a:t>
            </a:r>
            <a:endParaRPr lang="en-US" sz="1800" dirty="0"/>
          </a:p>
        </p:txBody>
      </p:sp>
      <p:sp>
        <p:nvSpPr>
          <p:cNvPr id="14" name="Text 10"/>
          <p:cNvSpPr txBox="1"/>
          <p:nvPr/>
        </p:nvSpPr>
        <p:spPr>
          <a:xfrm>
            <a:off x="4572000" y="4023360"/>
            <a:ext cx="2926080" cy="868680"/>
          </a:xfrm>
          <a:prstGeom prst="rect">
            <a:avLst/>
          </a:prstGeom>
          <a:noFill/>
          <a:ln/>
        </p:spPr>
        <p:txBody>
          <a:bodyPr wrap="square" lIns="0" tIns="0" rIns="0" bIns="0" rtlCol="0" anchor="t"/>
          <a:lstStyle/>
          <a:p>
            <a:pPr indent="0" marL="0">
              <a:buNone/>
            </a:pPr>
            <a:r>
              <a:rPr lang="en-US" sz="1700" dirty="0">
                <a:solidFill>
                  <a:schemeClr val="tx1"/>
                </a:solidFill>
              </a:rPr>
              <a:t>Mandar foto, vídeo, fazer chamada de vídeo</a:t>
            </a:r>
            <a:endParaRPr lang="en-US" sz="1700" dirty="0"/>
          </a:p>
        </p:txBody>
      </p:sp>
      <p:sp>
        <p:nvSpPr>
          <p:cNvPr id="15" name="Text 11"/>
          <p:cNvSpPr txBox="1"/>
          <p:nvPr/>
        </p:nvSpPr>
        <p:spPr>
          <a:xfrm>
            <a:off x="4572000" y="4983480"/>
            <a:ext cx="2926080" cy="457200"/>
          </a:xfrm>
          <a:prstGeom prst="rect">
            <a:avLst/>
          </a:prstGeom>
          <a:noFill/>
          <a:ln/>
        </p:spPr>
        <p:txBody>
          <a:bodyPr wrap="square" lIns="0" tIns="0" rIns="0" bIns="0" rtlCol="0" anchor="t"/>
          <a:lstStyle/>
          <a:p>
            <a:pPr indent="0" marL="0">
              <a:buNone/>
            </a:pPr>
            <a:r>
              <a:rPr lang="en-US" sz="1700" b="1" dirty="0">
                <a:solidFill>
                  <a:schemeClr val="accent1"/>
                </a:solidFill>
              </a:rPr>
              <a:t>Quanto maior, melhor</a:t>
            </a:r>
            <a:endParaRPr lang="en-US" sz="1700" dirty="0"/>
          </a:p>
        </p:txBody>
      </p:sp>
      <p:sp>
        <p:nvSpPr>
          <p:cNvPr id="16" name="Ping (latência)"/>
          <p:cNvSpPr/>
          <p:nvPr/>
        </p:nvSpPr>
        <p:spPr>
          <a:xfrm>
            <a:off x="8046720" y="2651760"/>
            <a:ext cx="3474720" cy="3108960"/>
          </a:xfrm>
          <a:prstGeom prst="roundRect">
            <a:avLst>
              <a:gd name="adj" fmla="val 4412"/>
            </a:avLst>
          </a:prstGeom>
          <a:solidFill>
            <a:schemeClr val="bg2"/>
          </a:solidFill>
          <a:ln w="12700">
            <a:solidFill>
              <a:schemeClr val="bg2"/>
            </a:solidFill>
            <a:prstDash val="solid"/>
          </a:ln>
        </p:spPr>
      </p:sp>
      <p:sp>
        <p:nvSpPr>
          <p:cNvPr id="17" name="Shape 13"/>
          <p:cNvSpPr/>
          <p:nvPr/>
        </p:nvSpPr>
        <p:spPr>
          <a:xfrm>
            <a:off x="8321040" y="2880360"/>
            <a:ext cx="914400" cy="914400"/>
          </a:xfrm>
          <a:prstGeom prst="ellipse">
            <a:avLst/>
          </a:prstGeom>
          <a:solidFill>
            <a:srgbClr val="C8191E"/>
          </a:solidFill>
          <a:ln w="12700">
            <a:solidFill>
              <a:srgbClr val="C8191E"/>
            </a:solidFill>
            <a:prstDash val="solid"/>
          </a:ln>
        </p:spPr>
      </p:sp>
      <p:pic>
        <p:nvPicPr>
          <p:cNvPr id="18" name="Image 2" descr="preencoded.png">    </p:cNvPr>
          <p:cNvPicPr>
            <a:picLocks noChangeAspect="1"/>
          </p:cNvPicPr>
          <p:nvPr/>
        </p:nvPicPr>
        <p:blipFill>
          <a:blip r:embed="rId3"/>
          <a:stretch>
            <a:fillRect/>
          </a:stretch>
        </p:blipFill>
        <p:spPr>
          <a:xfrm>
            <a:off x="8549640" y="3108960"/>
            <a:ext cx="457200" cy="457200"/>
          </a:xfrm>
          <a:prstGeom prst="rect">
            <a:avLst/>
          </a:prstGeom>
        </p:spPr>
      </p:pic>
      <p:sp>
        <p:nvSpPr>
          <p:cNvPr id="19" name="Text 14"/>
          <p:cNvSpPr txBox="1"/>
          <p:nvPr/>
        </p:nvSpPr>
        <p:spPr>
          <a:xfrm>
            <a:off x="9372600" y="2880360"/>
            <a:ext cx="2057400" cy="914400"/>
          </a:xfrm>
          <a:prstGeom prst="rect">
            <a:avLst/>
          </a:prstGeom>
          <a:noFill/>
          <a:ln/>
        </p:spPr>
        <p:txBody>
          <a:bodyPr wrap="square" lIns="0" tIns="0" rIns="0" bIns="0" rtlCol="0" anchor="ctr"/>
          <a:lstStyle/>
          <a:p>
            <a:pPr indent="0" marL="0">
              <a:buNone/>
            </a:pPr>
            <a:r>
              <a:rPr lang="en-US" sz="2200" b="1" dirty="0">
                <a:solidFill>
                  <a:schemeClr val="tx2"/>
                </a:solidFill>
              </a:rPr>
              <a:t>Ping (latência)</a:t>
            </a:r>
            <a:endParaRPr lang="en-US" sz="1800" dirty="0"/>
          </a:p>
          <a:p>
            <a:pPr indent="0" marL="0">
              <a:buNone/>
            </a:pPr>
            <a:r>
              <a:rPr lang="en-US" sz="1600" dirty="0">
                <a:solidFill>
                  <a:schemeClr val="accent5"/>
                </a:solidFill>
              </a:rPr>
              <a:t>Tempo de resposta</a:t>
            </a:r>
            <a:endParaRPr lang="en-US" sz="1800" dirty="0"/>
          </a:p>
        </p:txBody>
      </p:sp>
      <p:sp>
        <p:nvSpPr>
          <p:cNvPr id="20" name="Text 15"/>
          <p:cNvSpPr txBox="1"/>
          <p:nvPr/>
        </p:nvSpPr>
        <p:spPr>
          <a:xfrm>
            <a:off x="8321040" y="4023360"/>
            <a:ext cx="2926080" cy="868680"/>
          </a:xfrm>
          <a:prstGeom prst="rect">
            <a:avLst/>
          </a:prstGeom>
          <a:noFill/>
          <a:ln/>
        </p:spPr>
        <p:txBody>
          <a:bodyPr wrap="square" lIns="0" tIns="0" rIns="0" bIns="0" rtlCol="0" anchor="t"/>
          <a:lstStyle/>
          <a:p>
            <a:pPr indent="0" marL="0">
              <a:buNone/>
            </a:pPr>
            <a:r>
              <a:rPr lang="en-US" sz="1700" dirty="0">
                <a:solidFill>
                  <a:schemeClr val="tx1"/>
                </a:solidFill>
              </a:rPr>
              <a:t>Importante em chamadas e jogos online</a:t>
            </a:r>
            <a:endParaRPr lang="en-US" sz="1700" dirty="0"/>
          </a:p>
        </p:txBody>
      </p:sp>
      <p:sp>
        <p:nvSpPr>
          <p:cNvPr id="21" name="Text 16"/>
          <p:cNvSpPr txBox="1"/>
          <p:nvPr/>
        </p:nvSpPr>
        <p:spPr>
          <a:xfrm>
            <a:off x="8321040" y="4983480"/>
            <a:ext cx="2926080" cy="457200"/>
          </a:xfrm>
          <a:prstGeom prst="rect">
            <a:avLst/>
          </a:prstGeom>
          <a:noFill/>
          <a:ln/>
        </p:spPr>
        <p:txBody>
          <a:bodyPr wrap="square" lIns="0" tIns="0" rIns="0" bIns="0" rtlCol="0" anchor="t"/>
          <a:lstStyle/>
          <a:p>
            <a:pPr indent="0" marL="0">
              <a:buNone/>
            </a:pPr>
            <a:r>
              <a:rPr lang="en-US" sz="1700" b="1" dirty="0">
                <a:solidFill>
                  <a:schemeClr val="accent2"/>
                </a:solidFill>
              </a:rPr>
              <a:t>Quanto MENOR, melhor</a:t>
            </a:r>
            <a:endParaRPr lang="en-US" sz="17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Velocidade x tempo para baixar</a:t>
            </a:r>
            <a:endParaRPr lang="en-US" sz="3400" dirty="0"/>
          </a:p>
        </p:txBody>
      </p:sp>
      <p:sp>
        <p:nvSpPr>
          <p:cNvPr id="3" name="Regra"/>
          <p:cNvSpPr/>
          <p:nvPr/>
        </p:nvSpPr>
        <p:spPr>
          <a:xfrm>
            <a:off x="548640" y="1371600"/>
            <a:ext cx="11091672" cy="1051560"/>
          </a:xfrm>
          <a:prstGeom prst="roundRect">
            <a:avLst>
              <a:gd name="adj" fmla="val 13043"/>
            </a:avLst>
          </a:prstGeom>
          <a:solidFill>
            <a:schemeClr val="tx2"/>
          </a:solidFill>
          <a:ln w="12700">
            <a:solidFill>
              <a:schemeClr val="tx2"/>
            </a:solidFill>
            <a:prstDash val="solid"/>
          </a:ln>
        </p:spPr>
      </p:sp>
      <p:sp>
        <p:nvSpPr>
          <p:cNvPr id="4" name="Text 2"/>
          <p:cNvSpPr txBox="1"/>
          <p:nvPr/>
        </p:nvSpPr>
        <p:spPr>
          <a:xfrm>
            <a:off x="822960" y="1371600"/>
            <a:ext cx="10607040" cy="1051560"/>
          </a:xfrm>
          <a:prstGeom prst="rect">
            <a:avLst/>
          </a:prstGeom>
          <a:noFill/>
          <a:ln/>
        </p:spPr>
        <p:txBody>
          <a:bodyPr wrap="square" lIns="0" tIns="0" rIns="0" bIns="0" rtlCol="0" anchor="ctr"/>
          <a:lstStyle/>
          <a:p>
            <a:pPr indent="0" marL="0">
              <a:buNone/>
            </a:pPr>
            <a:r>
              <a:rPr lang="en-US" sz="2400" b="1" dirty="0">
                <a:solidFill>
                  <a:schemeClr val="accent6"/>
                </a:solidFill>
              </a:rPr>
              <a:t>Regra prática:  </a:t>
            </a:r>
            <a:pPr indent="0" marL="0">
              <a:buNone/>
            </a:pPr>
            <a:r>
              <a:rPr lang="en-US" sz="2400" b="1" dirty="0">
                <a:solidFill>
                  <a:schemeClr val="bg1"/>
                </a:solidFill>
              </a:rPr>
              <a:t>Mbps ÷ 8 = MB por segundo</a:t>
            </a:r>
            <a:pPr indent="0" marL="0">
              <a:buNone/>
            </a:pPr>
            <a:r>
              <a:rPr lang="en-US" sz="1800" dirty="0">
                <a:solidFill>
                  <a:schemeClr val="bg1"/>
                </a:solidFill>
              </a:rPr>
              <a:t>    (100 Mbps baixam cerca de 12 MB a cada segundo)</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11091672" cy="914400"/>
        </p:xfrm>
        <a:graphic>
          <a:graphicData uri="http://schemas.openxmlformats.org/drawingml/2006/table">
            <a:tbl>
              <a:tblPr/>
              <a:tblGrid>
                <a:gridCol w="3931920"/>
                <a:gridCol w="2386584"/>
                <a:gridCol w="2386584"/>
                <a:gridCol w="2386584"/>
              </a:tblGrid>
              <a:tr h="585216">
                <a:tc>
                  <a:txBody>
                    <a:bodyPr/>
                    <a:lstStyle/>
                    <a:p>
                      <a:pPr algn="ctr" indent="0" marL="0">
                        <a:buNone/>
                      </a:pPr>
                      <a:r>
                        <a:rPr lang="en-US" sz="1800" b="1" dirty="0">
                          <a:solidFill>
                            <a:schemeClr val="bg1"/>
                          </a:solidFill>
                        </a:rPr>
                        <a:t>O que vou baixar</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accent1"/>
                    </a:solidFill>
                  </a:tcPr>
                </a:tc>
                <a:tc>
                  <a:txBody>
                    <a:bodyPr/>
                    <a:lstStyle/>
                    <a:p>
                      <a:pPr algn="ctr" indent="0" marL="0">
                        <a:buNone/>
                      </a:pPr>
                      <a:r>
                        <a:rPr lang="en-US" sz="1800" b="1" dirty="0">
                          <a:solidFill>
                            <a:schemeClr val="bg1"/>
                          </a:solidFill>
                        </a:rPr>
                        <a:t>10 Mbps (4G fraco)</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accent1"/>
                    </a:solidFill>
                  </a:tcPr>
                </a:tc>
                <a:tc>
                  <a:txBody>
                    <a:bodyPr/>
                    <a:lstStyle/>
                    <a:p>
                      <a:pPr algn="ctr" indent="0" marL="0">
                        <a:buNone/>
                      </a:pPr>
                      <a:r>
                        <a:rPr lang="en-US" sz="1800" b="1" dirty="0">
                          <a:solidFill>
                            <a:schemeClr val="bg1"/>
                          </a:solidFill>
                        </a:rPr>
                        <a:t>100 Mbps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accent1"/>
                    </a:solidFill>
                  </a:tcPr>
                </a:tc>
                <a:tc>
                  <a:txBody>
                    <a:bodyPr/>
                    <a:lstStyle/>
                    <a:p>
                      <a:pPr algn="ctr" indent="0" marL="0">
                        <a:buNone/>
                      </a:pPr>
                      <a:r>
                        <a:rPr lang="en-US" sz="1800" b="1" dirty="0">
                          <a:solidFill>
                            <a:schemeClr val="bg1"/>
                          </a:solidFill>
                        </a:rPr>
                        <a:t>500 Mbps (fibra)</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accent1"/>
                    </a:solidFill>
                  </a:tcPr>
                </a:tc>
              </a:tr>
              <a:tr h="585216">
                <a:tc>
                  <a:txBody>
                    <a:bodyPr/>
                    <a:lstStyle/>
                    <a:p>
                      <a:pPr algn="l" indent="0" marL="0">
                        <a:buNone/>
                      </a:pPr>
                      <a:r>
                        <a:rPr lang="en-US" sz="1800" b="1" dirty="0">
                          <a:solidFill>
                            <a:schemeClr val="tx2"/>
                          </a:solidFill>
                        </a:rPr>
                        <a:t>Foto do WhatsApp (0,2 MB)</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instantâneo</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instantâneo</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instantâneo</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r>
              <a:tr h="585216">
                <a:tc>
                  <a:txBody>
                    <a:bodyPr/>
                    <a:lstStyle/>
                    <a:p>
                      <a:pPr algn="l" indent="0" marL="0">
                        <a:buNone/>
                      </a:pPr>
                      <a:r>
                        <a:rPr lang="en-US" sz="1800" b="1" dirty="0">
                          <a:solidFill>
                            <a:schemeClr val="tx2"/>
                          </a:solidFill>
                        </a:rPr>
                        <a:t>Aplicativo (100 MB)</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1 min e 20 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8 segundos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2 segundos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r>
              <a:tr h="585216">
                <a:tc>
                  <a:txBody>
                    <a:bodyPr/>
                    <a:lstStyle/>
                    <a:p>
                      <a:pPr algn="l" indent="0" marL="0">
                        <a:buNone/>
                      </a:pPr>
                      <a:r>
                        <a:rPr lang="en-US" sz="1800" b="1" dirty="0">
                          <a:solidFill>
                            <a:schemeClr val="tx2"/>
                          </a:solidFill>
                        </a:rPr>
                        <a:t>Filme (2 GB)</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27 minutos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2 min e 40 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c>
                  <a:txBody>
                    <a:bodyPr/>
                    <a:lstStyle/>
                    <a:p>
                      <a:pPr algn="ctr" indent="0" marL="0">
                        <a:buNone/>
                      </a:pPr>
                      <a:r>
                        <a:rPr lang="en-US" sz="1800" dirty="0">
                          <a:solidFill>
                            <a:schemeClr val="tx1"/>
                          </a:solidFill>
                        </a:rPr>
                        <a:t>32 segundos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2"/>
                    </a:solidFill>
                  </a:tcPr>
                </a:tc>
              </a:tr>
              <a:tr h="585216">
                <a:tc>
                  <a:txBody>
                    <a:bodyPr/>
                    <a:lstStyle/>
                    <a:p>
                      <a:pPr algn="l" indent="0" marL="0">
                        <a:buNone/>
                      </a:pPr>
                      <a:r>
                        <a:rPr lang="en-US" sz="1800" b="1" dirty="0">
                          <a:solidFill>
                            <a:schemeClr val="tx2"/>
                          </a:solidFill>
                        </a:rPr>
                        <a:t>Atualização do celular (3 GB)</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40 minutos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4 minutos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c>
                  <a:txBody>
                    <a:bodyPr/>
                    <a:lstStyle/>
                    <a:p>
                      <a:pPr algn="ctr" indent="0" marL="0">
                        <a:buNone/>
                      </a:pPr>
                      <a:r>
                        <a:rPr lang="en-US" sz="1800" dirty="0">
                          <a:solidFill>
                            <a:schemeClr val="tx1"/>
                          </a:solidFill>
                        </a:rPr>
                        <a:t>48 segundos</a:t>
                      </a:r>
                      <a:endParaRPr lang="en-US" sz="1800" dirty="0"/>
                    </a:p>
                  </a:txBody>
                  <a:tcPr marL="109728" marR="109728" marT="0" marB="0" anchor="ctr">
                    <a:lnL w="12700" cap="flat" cmpd="sng" algn="ctr">
                      <a:solidFill>
                        <a:srgbClr val="D5E3D7"/>
                      </a:solidFill>
                      <a:prstDash val="solid"/>
                      <a:round/>
                      <a:headEnd type="none" w="med" len="med"/>
                      <a:tailEnd type="none" w="med" len="med"/>
                    </a:lnL>
                    <a:lnR w="12700" cap="flat" cmpd="sng" algn="ctr">
                      <a:solidFill>
                        <a:srgbClr val="D5E3D7"/>
                      </a:solidFill>
                      <a:prstDash val="solid"/>
                      <a:round/>
                      <a:headEnd type="none" w="med" len="med"/>
                      <a:tailEnd type="none" w="med" len="med"/>
                    </a:lnR>
                    <a:lnT w="12700" cap="flat" cmpd="sng" algn="ctr">
                      <a:solidFill>
                        <a:srgbClr val="D5E3D7"/>
                      </a:solidFill>
                      <a:prstDash val="solid"/>
                      <a:round/>
                      <a:headEnd type="none" w="med" len="med"/>
                      <a:tailEnd type="none" w="med" len="med"/>
                    </a:lnT>
                    <a:lnB w="12700" cap="flat" cmpd="sng" algn="ctr">
                      <a:solidFill>
                        <a:srgbClr val="D5E3D7"/>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48640" y="5760720"/>
            <a:ext cx="10972800" cy="320040"/>
          </a:xfrm>
          <a:prstGeom prst="rect">
            <a:avLst/>
          </a:prstGeom>
          <a:noFill/>
          <a:ln/>
        </p:spPr>
        <p:txBody>
          <a:bodyPr wrap="square" lIns="0" tIns="0" rIns="0" bIns="0" rtlCol="0" anchor="t"/>
          <a:lstStyle/>
          <a:p>
            <a:pPr indent="0" marL="0">
              <a:buNone/>
            </a:pPr>
            <a:r>
              <a:rPr lang="en-US" sz="1200" dirty="0">
                <a:solidFill>
                  <a:schemeClr val="accent5"/>
                </a:solidFill>
              </a:rPr>
              <a:t>Tempos aproximados, em condições ideais. Na vida real costuma demorar um pouco mais.</a:t>
            </a:r>
            <a:endParaRPr lang="en-US" sz="1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Franquia de dados: o que cabe em 10 GB?</a:t>
            </a:r>
            <a:endParaRPr lang="en-US" sz="3400" dirty="0"/>
          </a:p>
        </p:txBody>
      </p:sp>
      <p:sp>
        <p:nvSpPr>
          <p:cNvPr id="3" name="Franquia"/>
          <p:cNvSpPr/>
          <p:nvPr/>
        </p:nvSpPr>
        <p:spPr>
          <a:xfrm>
            <a:off x="548640" y="1417320"/>
            <a:ext cx="3931920" cy="4343400"/>
          </a:xfrm>
          <a:prstGeom prst="roundRect">
            <a:avLst>
              <a:gd name="adj" fmla="val 3488"/>
            </a:avLst>
          </a:prstGeom>
          <a:solidFill>
            <a:schemeClr val="tx2"/>
          </a:solidFill>
          <a:ln w="12700">
            <a:solidFill>
              <a:schemeClr val="tx2"/>
            </a:solidFill>
            <a:prstDash val="solid"/>
          </a:ln>
        </p:spPr>
      </p:sp>
      <p:sp>
        <p:nvSpPr>
          <p:cNvPr id="4" name="Text 2"/>
          <p:cNvSpPr txBox="1"/>
          <p:nvPr/>
        </p:nvSpPr>
        <p:spPr>
          <a:xfrm>
            <a:off x="822960" y="1645920"/>
            <a:ext cx="3383280" cy="457200"/>
          </a:xfrm>
          <a:prstGeom prst="rect">
            <a:avLst/>
          </a:prstGeom>
          <a:noFill/>
          <a:ln/>
        </p:spPr>
        <p:txBody>
          <a:bodyPr wrap="square" lIns="0" tIns="0" rIns="0" bIns="0" rtlCol="0" anchor="t"/>
          <a:lstStyle/>
          <a:p>
            <a:pPr algn="ctr" indent="0" marL="0">
              <a:buNone/>
            </a:pPr>
            <a:r>
              <a:rPr lang="en-US" sz="1800" b="1" dirty="0">
                <a:solidFill>
                  <a:schemeClr val="accent6"/>
                </a:solidFill>
              </a:rPr>
              <a:t>Seu plano de celular</a:t>
            </a:r>
            <a:endParaRPr lang="en-US" sz="1800" dirty="0"/>
          </a:p>
        </p:txBody>
      </p:sp>
      <p:sp>
        <p:nvSpPr>
          <p:cNvPr id="5" name="Text 3"/>
          <p:cNvSpPr txBox="1"/>
          <p:nvPr/>
        </p:nvSpPr>
        <p:spPr>
          <a:xfrm>
            <a:off x="822960" y="2103120"/>
            <a:ext cx="3383280" cy="1097280"/>
          </a:xfrm>
          <a:prstGeom prst="rect">
            <a:avLst/>
          </a:prstGeom>
          <a:noFill/>
          <a:ln/>
        </p:spPr>
        <p:txBody>
          <a:bodyPr wrap="square" lIns="0" tIns="0" rIns="0" bIns="0" rtlCol="0" anchor="ctr"/>
          <a:lstStyle/>
          <a:p>
            <a:pPr algn="ctr" indent="0" marL="0">
              <a:buNone/>
            </a:pPr>
            <a:r>
              <a:rPr lang="en-US" sz="6600" b="1" dirty="0">
                <a:solidFill>
                  <a:schemeClr val="bg1"/>
                </a:solidFill>
              </a:rPr>
              <a:t>10 GB</a:t>
            </a:r>
            <a:endParaRPr lang="en-US" sz="6600" dirty="0"/>
          </a:p>
        </p:txBody>
      </p:sp>
      <p:sp>
        <p:nvSpPr>
          <p:cNvPr id="6" name="Text 4"/>
          <p:cNvSpPr txBox="1"/>
          <p:nvPr/>
        </p:nvSpPr>
        <p:spPr>
          <a:xfrm>
            <a:off x="822960" y="3200400"/>
            <a:ext cx="3383280" cy="411480"/>
          </a:xfrm>
          <a:prstGeom prst="rect">
            <a:avLst/>
          </a:prstGeom>
          <a:noFill/>
          <a:ln/>
        </p:spPr>
        <p:txBody>
          <a:bodyPr wrap="square" lIns="0" tIns="0" rIns="0" bIns="0" rtlCol="0" anchor="t"/>
          <a:lstStyle/>
          <a:p>
            <a:pPr algn="ctr" indent="0" marL="0">
              <a:buNone/>
            </a:pPr>
            <a:r>
              <a:rPr lang="en-US" sz="1800" dirty="0">
                <a:solidFill>
                  <a:schemeClr val="bg1"/>
                </a:solidFill>
              </a:rPr>
              <a:t>por mês</a:t>
            </a:r>
            <a:endParaRPr lang="en-US" sz="1800" dirty="0"/>
          </a:p>
        </p:txBody>
      </p:sp>
      <p:sp>
        <p:nvSpPr>
          <p:cNvPr id="7" name="Text 5"/>
          <p:cNvSpPr txBox="1"/>
          <p:nvPr/>
        </p:nvSpPr>
        <p:spPr>
          <a:xfrm>
            <a:off x="822960" y="3840480"/>
            <a:ext cx="3383280" cy="1737360"/>
          </a:xfrm>
          <a:prstGeom prst="rect">
            <a:avLst/>
          </a:prstGeom>
          <a:noFill/>
          <a:ln/>
        </p:spPr>
        <p:txBody>
          <a:bodyPr wrap="square" lIns="0" tIns="0" rIns="0" bIns="0" rtlCol="0" anchor="ctr"/>
          <a:lstStyle/>
          <a:p>
            <a:pPr algn="ctr" indent="0" marL="0">
              <a:buNone/>
            </a:pPr>
            <a:r>
              <a:rPr lang="en-US" sz="1800" b="1" dirty="0">
                <a:solidFill>
                  <a:schemeClr val="bg1"/>
                </a:solidFill>
              </a:rPr>
              <a:t>1 GB = 1.000 MB</a:t>
            </a:r>
            <a:endParaRPr lang="en-US" sz="1800" dirty="0"/>
          </a:p>
          <a:p>
            <a:pPr algn="ctr" indent="0" marL="0">
              <a:buNone/>
            </a:pPr>
            <a:r>
              <a:rPr lang="en-US" sz="1500" dirty="0">
                <a:solidFill>
                  <a:schemeClr val="bg1"/>
                </a:solidFill>
              </a:rPr>
              <a:t>Acabou a franquia? A internet para ou fica bem lenta.</a:t>
            </a:r>
            <a:endParaRPr lang="en-US" sz="1800" dirty="0"/>
          </a:p>
        </p:txBody>
      </p:sp>
      <p:sp>
        <p:nvSpPr>
          <p:cNvPr id="8" name="Text 6"/>
          <p:cNvSpPr txBox="1"/>
          <p:nvPr/>
        </p:nvSpPr>
        <p:spPr>
          <a:xfrm>
            <a:off x="7955280" y="1417320"/>
            <a:ext cx="1737360" cy="365760"/>
          </a:xfrm>
          <a:prstGeom prst="rect">
            <a:avLst/>
          </a:prstGeom>
          <a:noFill/>
          <a:ln/>
        </p:spPr>
        <p:txBody>
          <a:bodyPr wrap="square" lIns="0" tIns="0" rIns="0" bIns="0" rtlCol="0" anchor="t"/>
          <a:lstStyle/>
          <a:p>
            <a:pPr indent="0" marL="0">
              <a:buNone/>
            </a:pPr>
            <a:r>
              <a:rPr lang="en-US" sz="1500" b="1" dirty="0">
                <a:solidFill>
                  <a:schemeClr val="accent5"/>
                </a:solidFill>
              </a:rPr>
              <a:t>Gasta</a:t>
            </a:r>
            <a:endParaRPr lang="en-US" sz="1500" dirty="0"/>
          </a:p>
        </p:txBody>
      </p:sp>
      <p:sp>
        <p:nvSpPr>
          <p:cNvPr id="9" name="Text 7"/>
          <p:cNvSpPr txBox="1"/>
          <p:nvPr/>
        </p:nvSpPr>
        <p:spPr>
          <a:xfrm>
            <a:off x="9738360" y="1417320"/>
            <a:ext cx="1920240" cy="365760"/>
          </a:xfrm>
          <a:prstGeom prst="rect">
            <a:avLst/>
          </a:prstGeom>
          <a:noFill/>
          <a:ln/>
        </p:spPr>
        <p:txBody>
          <a:bodyPr wrap="square" lIns="0" tIns="0" rIns="0" bIns="0" rtlCol="0" anchor="t"/>
          <a:lstStyle/>
          <a:p>
            <a:pPr indent="0" marL="0">
              <a:buNone/>
            </a:pPr>
            <a:r>
              <a:rPr lang="en-US" sz="1500" b="1" dirty="0">
                <a:solidFill>
                  <a:schemeClr val="accent5"/>
                </a:solidFill>
              </a:rPr>
              <a:t>Cabe em 10 GB</a:t>
            </a:r>
            <a:endParaRPr lang="en-US" sz="1500" dirty="0"/>
          </a:p>
        </p:txBody>
      </p:sp>
      <p:sp>
        <p:nvSpPr>
          <p:cNvPr id="10" name="Shape 8"/>
          <p:cNvSpPr/>
          <p:nvPr/>
        </p:nvSpPr>
        <p:spPr>
          <a:xfrm>
            <a:off x="4754880" y="1783080"/>
            <a:ext cx="6903720" cy="731520"/>
          </a:xfrm>
          <a:prstGeom prst="roundRect">
            <a:avLst>
              <a:gd name="adj" fmla="val 12500"/>
            </a:avLst>
          </a:prstGeom>
          <a:solidFill>
            <a:schemeClr val="bg2"/>
          </a:solidFill>
          <a:ln w="12700">
            <a:solidFill>
              <a:schemeClr val="bg2"/>
            </a:solidFill>
            <a:prstDash val="solid"/>
          </a:ln>
        </p:spPr>
      </p:sp>
      <p:sp>
        <p:nvSpPr>
          <p:cNvPr id="11" name="Shape 9"/>
          <p:cNvSpPr/>
          <p:nvPr/>
        </p:nvSpPr>
        <p:spPr>
          <a:xfrm>
            <a:off x="4892040" y="1856232"/>
            <a:ext cx="566928" cy="566928"/>
          </a:xfrm>
          <a:prstGeom prst="ellipse">
            <a:avLst/>
          </a:prstGeom>
          <a:solidFill>
            <a:srgbClr val="2F9E41"/>
          </a:solidFill>
          <a:ln w="12700">
            <a:solidFill>
              <a:srgbClr val="2F9E41"/>
            </a:solidFill>
            <a:prstDash val="solid"/>
          </a:ln>
        </p:spPr>
      </p:sp>
      <p:pic>
        <p:nvPicPr>
          <p:cNvPr id="12" name="Image 0" descr="preencoded.png">    </p:cNvPr>
          <p:cNvPicPr>
            <a:picLocks noChangeAspect="1"/>
          </p:cNvPicPr>
          <p:nvPr/>
        </p:nvPicPr>
        <p:blipFill>
          <a:blip r:embed="rId1"/>
          <a:stretch>
            <a:fillRect/>
          </a:stretch>
        </p:blipFill>
        <p:spPr>
          <a:xfrm>
            <a:off x="5033772" y="1997964"/>
            <a:ext cx="283464" cy="283464"/>
          </a:xfrm>
          <a:prstGeom prst="rect">
            <a:avLst/>
          </a:prstGeom>
        </p:spPr>
      </p:pic>
      <p:sp>
        <p:nvSpPr>
          <p:cNvPr id="13" name="Text 10"/>
          <p:cNvSpPr txBox="1"/>
          <p:nvPr/>
        </p:nvSpPr>
        <p:spPr>
          <a:xfrm>
            <a:off x="5623560" y="1828800"/>
            <a:ext cx="2286000" cy="640080"/>
          </a:xfrm>
          <a:prstGeom prst="rect">
            <a:avLst/>
          </a:prstGeom>
          <a:noFill/>
          <a:ln/>
        </p:spPr>
        <p:txBody>
          <a:bodyPr wrap="square" lIns="0" tIns="0" rIns="0" bIns="0" rtlCol="0" anchor="ctr"/>
          <a:lstStyle/>
          <a:p>
            <a:pPr indent="0" marL="0">
              <a:buNone/>
            </a:pPr>
            <a:r>
              <a:rPr lang="en-US" sz="1700" dirty="0">
                <a:solidFill>
                  <a:schemeClr val="tx1"/>
                </a:solidFill>
              </a:rPr>
              <a:t>1 foto no WhatsApp</a:t>
            </a:r>
            <a:endParaRPr lang="en-US" sz="1700" dirty="0"/>
          </a:p>
        </p:txBody>
      </p:sp>
      <p:sp>
        <p:nvSpPr>
          <p:cNvPr id="14" name="Text 11"/>
          <p:cNvSpPr txBox="1"/>
          <p:nvPr/>
        </p:nvSpPr>
        <p:spPr>
          <a:xfrm>
            <a:off x="7955280" y="1828800"/>
            <a:ext cx="1737360" cy="640080"/>
          </a:xfrm>
          <a:prstGeom prst="rect">
            <a:avLst/>
          </a:prstGeom>
          <a:noFill/>
          <a:ln/>
        </p:spPr>
        <p:txBody>
          <a:bodyPr wrap="square" lIns="0" tIns="0" rIns="0" bIns="0" rtlCol="0" anchor="ctr"/>
          <a:lstStyle/>
          <a:p>
            <a:pPr indent="0" marL="0">
              <a:buNone/>
            </a:pPr>
            <a:r>
              <a:rPr lang="en-US" sz="1700" dirty="0">
                <a:solidFill>
                  <a:schemeClr val="tx1"/>
                </a:solidFill>
              </a:rPr>
              <a:t>≈ 0,2 MB</a:t>
            </a:r>
            <a:endParaRPr lang="en-US" sz="1700" dirty="0"/>
          </a:p>
        </p:txBody>
      </p:sp>
      <p:sp>
        <p:nvSpPr>
          <p:cNvPr id="15" name="Text 12"/>
          <p:cNvSpPr txBox="1"/>
          <p:nvPr/>
        </p:nvSpPr>
        <p:spPr>
          <a:xfrm>
            <a:off x="9738360" y="1828800"/>
            <a:ext cx="1874520" cy="640080"/>
          </a:xfrm>
          <a:prstGeom prst="rect">
            <a:avLst/>
          </a:prstGeom>
          <a:noFill/>
          <a:ln/>
        </p:spPr>
        <p:txBody>
          <a:bodyPr wrap="square" lIns="0" tIns="0" rIns="0" bIns="0" rtlCol="0" anchor="ctr"/>
          <a:lstStyle/>
          <a:p>
            <a:pPr indent="0" marL="0">
              <a:buNone/>
            </a:pPr>
            <a:r>
              <a:rPr lang="en-US" sz="1700" b="1" dirty="0">
                <a:solidFill>
                  <a:schemeClr val="tx2"/>
                </a:solidFill>
              </a:rPr>
              <a:t>≈ 50.000 fotos</a:t>
            </a:r>
            <a:endParaRPr lang="en-US" sz="1700" dirty="0"/>
          </a:p>
        </p:txBody>
      </p:sp>
      <p:sp>
        <p:nvSpPr>
          <p:cNvPr id="16" name="Shape 13"/>
          <p:cNvSpPr/>
          <p:nvPr/>
        </p:nvSpPr>
        <p:spPr>
          <a:xfrm>
            <a:off x="4892040" y="2587752"/>
            <a:ext cx="566928" cy="566928"/>
          </a:xfrm>
          <a:prstGeom prst="ellipse">
            <a:avLst/>
          </a:prstGeom>
          <a:solidFill>
            <a:srgbClr val="2F9E41"/>
          </a:solidFill>
          <a:ln w="12700">
            <a:solidFill>
              <a:srgbClr val="2F9E41"/>
            </a:solidFill>
            <a:prstDash val="solid"/>
          </a:ln>
        </p:spPr>
      </p:sp>
      <p:pic>
        <p:nvPicPr>
          <p:cNvPr id="17" name="Image 1" descr="preencoded.png">    </p:cNvPr>
          <p:cNvPicPr>
            <a:picLocks noChangeAspect="1"/>
          </p:cNvPicPr>
          <p:nvPr/>
        </p:nvPicPr>
        <p:blipFill>
          <a:blip r:embed="rId2"/>
          <a:stretch>
            <a:fillRect/>
          </a:stretch>
        </p:blipFill>
        <p:spPr>
          <a:xfrm>
            <a:off x="5033772" y="2729484"/>
            <a:ext cx="283464" cy="283464"/>
          </a:xfrm>
          <a:prstGeom prst="rect">
            <a:avLst/>
          </a:prstGeom>
        </p:spPr>
      </p:pic>
      <p:sp>
        <p:nvSpPr>
          <p:cNvPr id="18" name="Text 14"/>
          <p:cNvSpPr txBox="1"/>
          <p:nvPr/>
        </p:nvSpPr>
        <p:spPr>
          <a:xfrm>
            <a:off x="5623560" y="2560320"/>
            <a:ext cx="2286000" cy="640080"/>
          </a:xfrm>
          <a:prstGeom prst="rect">
            <a:avLst/>
          </a:prstGeom>
          <a:noFill/>
          <a:ln/>
        </p:spPr>
        <p:txBody>
          <a:bodyPr wrap="square" lIns="0" tIns="0" rIns="0" bIns="0" rtlCol="0" anchor="ctr"/>
          <a:lstStyle/>
          <a:p>
            <a:pPr indent="0" marL="0">
              <a:buNone/>
            </a:pPr>
            <a:r>
              <a:rPr lang="en-US" sz="1700" dirty="0">
                <a:solidFill>
                  <a:schemeClr val="tx1"/>
                </a:solidFill>
              </a:rPr>
              <a:t>1 minuto de áudio</a:t>
            </a:r>
            <a:endParaRPr lang="en-US" sz="1700" dirty="0"/>
          </a:p>
        </p:txBody>
      </p:sp>
      <p:sp>
        <p:nvSpPr>
          <p:cNvPr id="19" name="Text 15"/>
          <p:cNvSpPr txBox="1"/>
          <p:nvPr/>
        </p:nvSpPr>
        <p:spPr>
          <a:xfrm>
            <a:off x="7955280" y="2560320"/>
            <a:ext cx="1737360" cy="640080"/>
          </a:xfrm>
          <a:prstGeom prst="rect">
            <a:avLst/>
          </a:prstGeom>
          <a:noFill/>
          <a:ln/>
        </p:spPr>
        <p:txBody>
          <a:bodyPr wrap="square" lIns="0" tIns="0" rIns="0" bIns="0" rtlCol="0" anchor="ctr"/>
          <a:lstStyle/>
          <a:p>
            <a:pPr indent="0" marL="0">
              <a:buNone/>
            </a:pPr>
            <a:r>
              <a:rPr lang="en-US" sz="1700" dirty="0">
                <a:solidFill>
                  <a:schemeClr val="tx1"/>
                </a:solidFill>
              </a:rPr>
              <a:t>≈ 0,1 MB</a:t>
            </a:r>
            <a:endParaRPr lang="en-US" sz="1700" dirty="0"/>
          </a:p>
        </p:txBody>
      </p:sp>
      <p:sp>
        <p:nvSpPr>
          <p:cNvPr id="20" name="Text 16"/>
          <p:cNvSpPr txBox="1"/>
          <p:nvPr/>
        </p:nvSpPr>
        <p:spPr>
          <a:xfrm>
            <a:off x="9738360" y="2560320"/>
            <a:ext cx="1874520" cy="640080"/>
          </a:xfrm>
          <a:prstGeom prst="rect">
            <a:avLst/>
          </a:prstGeom>
          <a:noFill/>
          <a:ln/>
        </p:spPr>
        <p:txBody>
          <a:bodyPr wrap="square" lIns="0" tIns="0" rIns="0" bIns="0" rtlCol="0" anchor="ctr"/>
          <a:lstStyle/>
          <a:p>
            <a:pPr indent="0" marL="0">
              <a:buNone/>
            </a:pPr>
            <a:r>
              <a:rPr lang="en-US" sz="1700" b="1" dirty="0">
                <a:solidFill>
                  <a:schemeClr val="tx2"/>
                </a:solidFill>
              </a:rPr>
              <a:t>≈ 100.000 minutos</a:t>
            </a:r>
            <a:endParaRPr lang="en-US" sz="1700" dirty="0"/>
          </a:p>
        </p:txBody>
      </p:sp>
      <p:sp>
        <p:nvSpPr>
          <p:cNvPr id="21" name="Shape 17"/>
          <p:cNvSpPr/>
          <p:nvPr/>
        </p:nvSpPr>
        <p:spPr>
          <a:xfrm>
            <a:off x="4754880" y="3246120"/>
            <a:ext cx="6903720" cy="731520"/>
          </a:xfrm>
          <a:prstGeom prst="roundRect">
            <a:avLst>
              <a:gd name="adj" fmla="val 12500"/>
            </a:avLst>
          </a:prstGeom>
          <a:solidFill>
            <a:schemeClr val="bg2"/>
          </a:solidFill>
          <a:ln w="12700">
            <a:solidFill>
              <a:schemeClr val="bg2"/>
            </a:solidFill>
            <a:prstDash val="solid"/>
          </a:ln>
        </p:spPr>
      </p:sp>
      <p:sp>
        <p:nvSpPr>
          <p:cNvPr id="22" name="Shape 18"/>
          <p:cNvSpPr/>
          <p:nvPr/>
        </p:nvSpPr>
        <p:spPr>
          <a:xfrm>
            <a:off x="4892040" y="3319272"/>
            <a:ext cx="566928" cy="566928"/>
          </a:xfrm>
          <a:prstGeom prst="ellipse">
            <a:avLst/>
          </a:prstGeom>
          <a:solidFill>
            <a:srgbClr val="2F9E41"/>
          </a:solidFill>
          <a:ln w="12700">
            <a:solidFill>
              <a:srgbClr val="2F9E41"/>
            </a:solidFill>
            <a:prstDash val="solid"/>
          </a:ln>
        </p:spPr>
      </p:sp>
      <p:pic>
        <p:nvPicPr>
          <p:cNvPr id="23" name="Image 2" descr="preencoded.png">    </p:cNvPr>
          <p:cNvPicPr>
            <a:picLocks noChangeAspect="1"/>
          </p:cNvPicPr>
          <p:nvPr/>
        </p:nvPicPr>
        <p:blipFill>
          <a:blip r:embed="rId3"/>
          <a:stretch>
            <a:fillRect/>
          </a:stretch>
        </p:blipFill>
        <p:spPr>
          <a:xfrm>
            <a:off x="5033772" y="3461004"/>
            <a:ext cx="283464" cy="283464"/>
          </a:xfrm>
          <a:prstGeom prst="rect">
            <a:avLst/>
          </a:prstGeom>
        </p:spPr>
      </p:pic>
      <p:sp>
        <p:nvSpPr>
          <p:cNvPr id="24" name="Text 19"/>
          <p:cNvSpPr txBox="1"/>
          <p:nvPr/>
        </p:nvSpPr>
        <p:spPr>
          <a:xfrm>
            <a:off x="5623560" y="3291840"/>
            <a:ext cx="2286000" cy="640080"/>
          </a:xfrm>
          <a:prstGeom prst="rect">
            <a:avLst/>
          </a:prstGeom>
          <a:noFill/>
          <a:ln/>
        </p:spPr>
        <p:txBody>
          <a:bodyPr wrap="square" lIns="0" tIns="0" rIns="0" bIns="0" rtlCol="0" anchor="ctr"/>
          <a:lstStyle/>
          <a:p>
            <a:pPr indent="0" marL="0">
              <a:buNone/>
            </a:pPr>
            <a:r>
              <a:rPr lang="en-US" sz="1700" dirty="0">
                <a:solidFill>
                  <a:schemeClr val="tx1"/>
                </a:solidFill>
              </a:rPr>
              <a:t>Baixar 1 aplicativo</a:t>
            </a:r>
            <a:endParaRPr lang="en-US" sz="1700" dirty="0"/>
          </a:p>
        </p:txBody>
      </p:sp>
      <p:sp>
        <p:nvSpPr>
          <p:cNvPr id="25" name="Text 20"/>
          <p:cNvSpPr txBox="1"/>
          <p:nvPr/>
        </p:nvSpPr>
        <p:spPr>
          <a:xfrm>
            <a:off x="7955280" y="3291840"/>
            <a:ext cx="1737360" cy="640080"/>
          </a:xfrm>
          <a:prstGeom prst="rect">
            <a:avLst/>
          </a:prstGeom>
          <a:noFill/>
          <a:ln/>
        </p:spPr>
        <p:txBody>
          <a:bodyPr wrap="square" lIns="0" tIns="0" rIns="0" bIns="0" rtlCol="0" anchor="ctr"/>
          <a:lstStyle/>
          <a:p>
            <a:pPr indent="0" marL="0">
              <a:buNone/>
            </a:pPr>
            <a:r>
              <a:rPr lang="en-US" sz="1700" dirty="0">
                <a:solidFill>
                  <a:schemeClr val="tx1"/>
                </a:solidFill>
              </a:rPr>
              <a:t>≈ 100 MB</a:t>
            </a:r>
            <a:endParaRPr lang="en-US" sz="1700" dirty="0"/>
          </a:p>
        </p:txBody>
      </p:sp>
      <p:sp>
        <p:nvSpPr>
          <p:cNvPr id="26" name="Text 21"/>
          <p:cNvSpPr txBox="1"/>
          <p:nvPr/>
        </p:nvSpPr>
        <p:spPr>
          <a:xfrm>
            <a:off x="9738360" y="3291840"/>
            <a:ext cx="1874520" cy="640080"/>
          </a:xfrm>
          <a:prstGeom prst="rect">
            <a:avLst/>
          </a:prstGeom>
          <a:noFill/>
          <a:ln/>
        </p:spPr>
        <p:txBody>
          <a:bodyPr wrap="square" lIns="0" tIns="0" rIns="0" bIns="0" rtlCol="0" anchor="ctr"/>
          <a:lstStyle/>
          <a:p>
            <a:pPr indent="0" marL="0">
              <a:buNone/>
            </a:pPr>
            <a:r>
              <a:rPr lang="en-US" sz="1700" b="1" dirty="0">
                <a:solidFill>
                  <a:schemeClr val="tx2"/>
                </a:solidFill>
              </a:rPr>
              <a:t>≈ 100 aplicativos</a:t>
            </a:r>
            <a:endParaRPr lang="en-US" sz="1700" dirty="0"/>
          </a:p>
        </p:txBody>
      </p:sp>
      <p:sp>
        <p:nvSpPr>
          <p:cNvPr id="27" name="Shape 22"/>
          <p:cNvSpPr/>
          <p:nvPr/>
        </p:nvSpPr>
        <p:spPr>
          <a:xfrm>
            <a:off x="4892040" y="4050792"/>
            <a:ext cx="566928" cy="566928"/>
          </a:xfrm>
          <a:prstGeom prst="ellipse">
            <a:avLst/>
          </a:prstGeom>
          <a:solidFill>
            <a:srgbClr val="C8191E"/>
          </a:solidFill>
          <a:ln w="12700">
            <a:solidFill>
              <a:srgbClr val="C8191E"/>
            </a:solidFill>
            <a:prstDash val="solid"/>
          </a:ln>
        </p:spPr>
      </p:sp>
      <p:pic>
        <p:nvPicPr>
          <p:cNvPr id="28" name="Image 3" descr="preencoded.png">    </p:cNvPr>
          <p:cNvPicPr>
            <a:picLocks noChangeAspect="1"/>
          </p:cNvPicPr>
          <p:nvPr/>
        </p:nvPicPr>
        <p:blipFill>
          <a:blip r:embed="rId4"/>
          <a:stretch>
            <a:fillRect/>
          </a:stretch>
        </p:blipFill>
        <p:spPr>
          <a:xfrm>
            <a:off x="5033772" y="4192524"/>
            <a:ext cx="283464" cy="283464"/>
          </a:xfrm>
          <a:prstGeom prst="rect">
            <a:avLst/>
          </a:prstGeom>
        </p:spPr>
      </p:pic>
      <p:sp>
        <p:nvSpPr>
          <p:cNvPr id="29" name="Text 23"/>
          <p:cNvSpPr txBox="1"/>
          <p:nvPr/>
        </p:nvSpPr>
        <p:spPr>
          <a:xfrm>
            <a:off x="5623560" y="4023360"/>
            <a:ext cx="2286000" cy="640080"/>
          </a:xfrm>
          <a:prstGeom prst="rect">
            <a:avLst/>
          </a:prstGeom>
          <a:noFill/>
          <a:ln/>
        </p:spPr>
        <p:txBody>
          <a:bodyPr wrap="square" lIns="0" tIns="0" rIns="0" bIns="0" rtlCol="0" anchor="ctr"/>
          <a:lstStyle/>
          <a:p>
            <a:pPr indent="0" marL="0">
              <a:buNone/>
            </a:pPr>
            <a:r>
              <a:rPr lang="en-US" sz="1700" dirty="0">
                <a:solidFill>
                  <a:schemeClr val="tx1"/>
                </a:solidFill>
              </a:rPr>
              <a:t>1 hora de vídeo</a:t>
            </a:r>
            <a:endParaRPr lang="en-US" sz="1700" dirty="0"/>
          </a:p>
        </p:txBody>
      </p:sp>
      <p:sp>
        <p:nvSpPr>
          <p:cNvPr id="30" name="Text 24"/>
          <p:cNvSpPr txBox="1"/>
          <p:nvPr/>
        </p:nvSpPr>
        <p:spPr>
          <a:xfrm>
            <a:off x="7955280" y="4023360"/>
            <a:ext cx="1737360" cy="640080"/>
          </a:xfrm>
          <a:prstGeom prst="rect">
            <a:avLst/>
          </a:prstGeom>
          <a:noFill/>
          <a:ln/>
        </p:spPr>
        <p:txBody>
          <a:bodyPr wrap="square" lIns="0" tIns="0" rIns="0" bIns="0" rtlCol="0" anchor="ctr"/>
          <a:lstStyle/>
          <a:p>
            <a:pPr indent="0" marL="0">
              <a:buNone/>
            </a:pPr>
            <a:r>
              <a:rPr lang="en-US" sz="1700" dirty="0">
                <a:solidFill>
                  <a:schemeClr val="tx1"/>
                </a:solidFill>
              </a:rPr>
              <a:t>≈ 0,5 a 1 GB</a:t>
            </a:r>
            <a:endParaRPr lang="en-US" sz="1700" dirty="0"/>
          </a:p>
        </p:txBody>
      </p:sp>
      <p:sp>
        <p:nvSpPr>
          <p:cNvPr id="31" name="Text 25"/>
          <p:cNvSpPr txBox="1"/>
          <p:nvPr/>
        </p:nvSpPr>
        <p:spPr>
          <a:xfrm>
            <a:off x="9738360" y="4023360"/>
            <a:ext cx="1874520" cy="640080"/>
          </a:xfrm>
          <a:prstGeom prst="rect">
            <a:avLst/>
          </a:prstGeom>
          <a:noFill/>
          <a:ln/>
        </p:spPr>
        <p:txBody>
          <a:bodyPr wrap="square" lIns="0" tIns="0" rIns="0" bIns="0" rtlCol="0" anchor="ctr"/>
          <a:lstStyle/>
          <a:p>
            <a:pPr indent="0" marL="0">
              <a:buNone/>
            </a:pPr>
            <a:r>
              <a:rPr lang="en-US" sz="1700" b="1" dirty="0">
                <a:solidFill>
                  <a:schemeClr val="tx2"/>
                </a:solidFill>
              </a:rPr>
              <a:t>≈ 10 a 20 horas</a:t>
            </a:r>
            <a:endParaRPr lang="en-US" sz="1700" dirty="0"/>
          </a:p>
        </p:txBody>
      </p:sp>
      <p:sp>
        <p:nvSpPr>
          <p:cNvPr id="32" name="Shape 26"/>
          <p:cNvSpPr/>
          <p:nvPr/>
        </p:nvSpPr>
        <p:spPr>
          <a:xfrm>
            <a:off x="4754880" y="4709160"/>
            <a:ext cx="6903720" cy="731520"/>
          </a:xfrm>
          <a:prstGeom prst="roundRect">
            <a:avLst>
              <a:gd name="adj" fmla="val 12500"/>
            </a:avLst>
          </a:prstGeom>
          <a:solidFill>
            <a:schemeClr val="bg2"/>
          </a:solidFill>
          <a:ln w="12700">
            <a:solidFill>
              <a:schemeClr val="bg2"/>
            </a:solidFill>
            <a:prstDash val="solid"/>
          </a:ln>
        </p:spPr>
      </p:sp>
      <p:sp>
        <p:nvSpPr>
          <p:cNvPr id="33" name="Shape 27"/>
          <p:cNvSpPr/>
          <p:nvPr/>
        </p:nvSpPr>
        <p:spPr>
          <a:xfrm>
            <a:off x="4892040" y="4782312"/>
            <a:ext cx="566928" cy="566928"/>
          </a:xfrm>
          <a:prstGeom prst="ellipse">
            <a:avLst/>
          </a:prstGeom>
          <a:solidFill>
            <a:srgbClr val="2F9E41"/>
          </a:solidFill>
          <a:ln w="12700">
            <a:solidFill>
              <a:srgbClr val="2F9E41"/>
            </a:solidFill>
            <a:prstDash val="solid"/>
          </a:ln>
        </p:spPr>
      </p:sp>
      <p:pic>
        <p:nvPicPr>
          <p:cNvPr id="34" name="Image 4" descr="preencoded.png">    </p:cNvPr>
          <p:cNvPicPr>
            <a:picLocks noChangeAspect="1"/>
          </p:cNvPicPr>
          <p:nvPr/>
        </p:nvPicPr>
        <p:blipFill>
          <a:blip r:embed="rId5"/>
          <a:stretch>
            <a:fillRect/>
          </a:stretch>
        </p:blipFill>
        <p:spPr>
          <a:xfrm>
            <a:off x="5033772" y="4924044"/>
            <a:ext cx="283464" cy="283464"/>
          </a:xfrm>
          <a:prstGeom prst="rect">
            <a:avLst/>
          </a:prstGeom>
        </p:spPr>
      </p:pic>
      <p:sp>
        <p:nvSpPr>
          <p:cNvPr id="35" name="Text 28"/>
          <p:cNvSpPr txBox="1"/>
          <p:nvPr/>
        </p:nvSpPr>
        <p:spPr>
          <a:xfrm>
            <a:off x="5623560" y="4754880"/>
            <a:ext cx="2286000" cy="640080"/>
          </a:xfrm>
          <a:prstGeom prst="rect">
            <a:avLst/>
          </a:prstGeom>
          <a:noFill/>
          <a:ln/>
        </p:spPr>
        <p:txBody>
          <a:bodyPr wrap="square" lIns="0" tIns="0" rIns="0" bIns="0" rtlCol="0" anchor="ctr"/>
          <a:lstStyle/>
          <a:p>
            <a:pPr indent="0" marL="0">
              <a:buNone/>
            </a:pPr>
            <a:r>
              <a:rPr lang="en-US" sz="1700" dirty="0">
                <a:solidFill>
                  <a:schemeClr val="tx1"/>
                </a:solidFill>
              </a:rPr>
              <a:t>1 h de videochamada</a:t>
            </a:r>
            <a:endParaRPr lang="en-US" sz="1700" dirty="0"/>
          </a:p>
        </p:txBody>
      </p:sp>
      <p:sp>
        <p:nvSpPr>
          <p:cNvPr id="36" name="Text 29"/>
          <p:cNvSpPr txBox="1"/>
          <p:nvPr/>
        </p:nvSpPr>
        <p:spPr>
          <a:xfrm>
            <a:off x="7955280" y="4754880"/>
            <a:ext cx="1737360" cy="640080"/>
          </a:xfrm>
          <a:prstGeom prst="rect">
            <a:avLst/>
          </a:prstGeom>
          <a:noFill/>
          <a:ln/>
        </p:spPr>
        <p:txBody>
          <a:bodyPr wrap="square" lIns="0" tIns="0" rIns="0" bIns="0" rtlCol="0" anchor="ctr"/>
          <a:lstStyle/>
          <a:p>
            <a:pPr indent="0" marL="0">
              <a:buNone/>
            </a:pPr>
            <a:r>
              <a:rPr lang="en-US" sz="1700" dirty="0">
                <a:solidFill>
                  <a:schemeClr val="tx1"/>
                </a:solidFill>
              </a:rPr>
              <a:t>≈ 0,5 GB</a:t>
            </a:r>
            <a:endParaRPr lang="en-US" sz="1700" dirty="0"/>
          </a:p>
        </p:txBody>
      </p:sp>
      <p:sp>
        <p:nvSpPr>
          <p:cNvPr id="37" name="Text 30"/>
          <p:cNvSpPr txBox="1"/>
          <p:nvPr/>
        </p:nvSpPr>
        <p:spPr>
          <a:xfrm>
            <a:off x="9738360" y="4754880"/>
            <a:ext cx="1874520" cy="640080"/>
          </a:xfrm>
          <a:prstGeom prst="rect">
            <a:avLst/>
          </a:prstGeom>
          <a:noFill/>
          <a:ln/>
        </p:spPr>
        <p:txBody>
          <a:bodyPr wrap="square" lIns="0" tIns="0" rIns="0" bIns="0" rtlCol="0" anchor="ctr"/>
          <a:lstStyle/>
          <a:p>
            <a:pPr indent="0" marL="0">
              <a:buNone/>
            </a:pPr>
            <a:r>
              <a:rPr lang="en-US" sz="1700" b="1" dirty="0">
                <a:solidFill>
                  <a:schemeClr val="tx2"/>
                </a:solidFill>
              </a:rPr>
              <a:t>≈ 20 horas</a:t>
            </a:r>
            <a:endParaRPr lang="en-US" sz="1700" dirty="0"/>
          </a:p>
        </p:txBody>
      </p:sp>
      <p:sp>
        <p:nvSpPr>
          <p:cNvPr id="38" name="Text 31"/>
          <p:cNvSpPr txBox="1"/>
          <p:nvPr/>
        </p:nvSpPr>
        <p:spPr>
          <a:xfrm>
            <a:off x="4754880" y="5532120"/>
            <a:ext cx="6903720" cy="502920"/>
          </a:xfrm>
          <a:prstGeom prst="rect">
            <a:avLst/>
          </a:prstGeom>
          <a:noFill/>
          <a:ln/>
        </p:spPr>
        <p:txBody>
          <a:bodyPr wrap="square" lIns="0" tIns="0" rIns="0" bIns="0" rtlCol="0" anchor="ctr"/>
          <a:lstStyle/>
          <a:p>
            <a:pPr indent="0" marL="0">
              <a:buNone/>
            </a:pPr>
            <a:r>
              <a:rPr lang="en-US" sz="1600" b="1" dirty="0">
                <a:solidFill>
                  <a:schemeClr val="accent2"/>
                </a:solidFill>
              </a:rPr>
              <a:t>Não confunda: </a:t>
            </a:r>
            <a:pPr indent="0" marL="0">
              <a:buNone/>
            </a:pPr>
            <a:r>
              <a:rPr lang="en-US" sz="1600" dirty="0">
                <a:solidFill>
                  <a:schemeClr val="tx1"/>
                </a:solidFill>
              </a:rPr>
              <a:t>velocidade é a largura do cano; franquia é o tamanho da caixa d'água.</a:t>
            </a:r>
            <a:endParaRPr lang="en-US" sz="16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Passo a passo para medir</a:t>
            </a:r>
            <a:endParaRPr lang="en-US" sz="3400" dirty="0"/>
          </a:p>
        </p:txBody>
      </p:sp>
      <p:sp>
        <p:nvSpPr>
          <p:cNvPr id="3" name="Passo 1"/>
          <p:cNvSpPr/>
          <p:nvPr/>
        </p:nvSpPr>
        <p:spPr>
          <a:xfrm>
            <a:off x="548640" y="1463040"/>
            <a:ext cx="2606040" cy="3291840"/>
          </a:xfrm>
          <a:prstGeom prst="roundRect">
            <a:avLst>
              <a:gd name="adj" fmla="val 5263"/>
            </a:avLst>
          </a:prstGeom>
          <a:solidFill>
            <a:schemeClr val="bg2"/>
          </a:solidFill>
          <a:ln w="12700">
            <a:solidFill>
              <a:schemeClr val="bg2"/>
            </a:solidFill>
            <a:prstDash val="solid"/>
          </a:ln>
        </p:spPr>
      </p:sp>
      <p:sp>
        <p:nvSpPr>
          <p:cNvPr id="4" name="Shape 2"/>
          <p:cNvSpPr/>
          <p:nvPr/>
        </p:nvSpPr>
        <p:spPr>
          <a:xfrm>
            <a:off x="1417320" y="1691640"/>
            <a:ext cx="868680" cy="868680"/>
          </a:xfrm>
          <a:prstGeom prst="ellipse">
            <a:avLst/>
          </a:prstGeom>
          <a:solidFill>
            <a:schemeClr val="accent1"/>
          </a:solidFill>
          <a:ln w="12700">
            <a:solidFill>
              <a:schemeClr val="accent1"/>
            </a:solidFill>
            <a:prstDash val="solid"/>
          </a:ln>
        </p:spPr>
      </p:sp>
      <p:sp>
        <p:nvSpPr>
          <p:cNvPr id="5" name="Text 3"/>
          <p:cNvSpPr txBox="1"/>
          <p:nvPr/>
        </p:nvSpPr>
        <p:spPr>
          <a:xfrm>
            <a:off x="1417320" y="169164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6" name="Text 4"/>
          <p:cNvSpPr txBox="1"/>
          <p:nvPr/>
        </p:nvSpPr>
        <p:spPr>
          <a:xfrm>
            <a:off x="731520" y="2743200"/>
            <a:ext cx="2240280" cy="548640"/>
          </a:xfrm>
          <a:prstGeom prst="rect">
            <a:avLst/>
          </a:prstGeom>
          <a:noFill/>
          <a:ln/>
        </p:spPr>
        <p:txBody>
          <a:bodyPr wrap="square" lIns="0" tIns="0" rIns="0" bIns="0" rtlCol="0" anchor="t"/>
          <a:lstStyle/>
          <a:p>
            <a:pPr algn="ctr" indent="0" marL="0">
              <a:buNone/>
            </a:pPr>
            <a:r>
              <a:rPr lang="en-US" sz="2000" b="1" dirty="0">
                <a:solidFill>
                  <a:schemeClr val="tx2"/>
                </a:solidFill>
              </a:rPr>
              <a:t>Abra o navegador</a:t>
            </a:r>
            <a:endParaRPr lang="en-US" sz="2000" dirty="0"/>
          </a:p>
        </p:txBody>
      </p:sp>
      <p:sp>
        <p:nvSpPr>
          <p:cNvPr id="7" name="Text 5"/>
          <p:cNvSpPr txBox="1"/>
          <p:nvPr/>
        </p:nvSpPr>
        <p:spPr>
          <a:xfrm>
            <a:off x="731520" y="3337560"/>
            <a:ext cx="2240280" cy="1280160"/>
          </a:xfrm>
          <a:prstGeom prst="rect">
            <a:avLst/>
          </a:prstGeom>
          <a:noFill/>
          <a:ln/>
        </p:spPr>
        <p:txBody>
          <a:bodyPr wrap="square" lIns="0" tIns="0" rIns="0" bIns="0" rtlCol="0" anchor="t"/>
          <a:lstStyle/>
          <a:p>
            <a:pPr algn="ctr" indent="0" marL="0">
              <a:buNone/>
            </a:pPr>
            <a:r>
              <a:rPr lang="en-US" sz="1600" dirty="0">
                <a:solidFill>
                  <a:schemeClr val="tx1"/>
                </a:solidFill>
              </a:rPr>
              <a:t>Chrome, Edge ou Firefox, no computador ou no celular</a:t>
            </a:r>
            <a:endParaRPr lang="en-US" sz="1600" dirty="0"/>
          </a:p>
        </p:txBody>
      </p:sp>
      <p:sp>
        <p:nvSpPr>
          <p:cNvPr id="8" name="Passo 2"/>
          <p:cNvSpPr/>
          <p:nvPr/>
        </p:nvSpPr>
        <p:spPr>
          <a:xfrm>
            <a:off x="3364992" y="1463040"/>
            <a:ext cx="2606040" cy="3291840"/>
          </a:xfrm>
          <a:prstGeom prst="roundRect">
            <a:avLst>
              <a:gd name="adj" fmla="val 5263"/>
            </a:avLst>
          </a:prstGeom>
          <a:solidFill>
            <a:schemeClr val="bg2"/>
          </a:solidFill>
          <a:ln w="12700">
            <a:solidFill>
              <a:schemeClr val="bg2"/>
            </a:solidFill>
            <a:prstDash val="solid"/>
          </a:ln>
        </p:spPr>
      </p:sp>
      <p:sp>
        <p:nvSpPr>
          <p:cNvPr id="9" name="Shape 7"/>
          <p:cNvSpPr/>
          <p:nvPr/>
        </p:nvSpPr>
        <p:spPr>
          <a:xfrm>
            <a:off x="4233672" y="1691640"/>
            <a:ext cx="868680" cy="868680"/>
          </a:xfrm>
          <a:prstGeom prst="ellipse">
            <a:avLst/>
          </a:prstGeom>
          <a:solidFill>
            <a:schemeClr val="accent1"/>
          </a:solidFill>
          <a:ln w="12700">
            <a:solidFill>
              <a:schemeClr val="accent1"/>
            </a:solidFill>
            <a:prstDash val="solid"/>
          </a:ln>
        </p:spPr>
      </p:sp>
      <p:sp>
        <p:nvSpPr>
          <p:cNvPr id="10" name="Text 8"/>
          <p:cNvSpPr txBox="1"/>
          <p:nvPr/>
        </p:nvSpPr>
        <p:spPr>
          <a:xfrm>
            <a:off x="4233672" y="169164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1" name="Text 9"/>
          <p:cNvSpPr txBox="1"/>
          <p:nvPr/>
        </p:nvSpPr>
        <p:spPr>
          <a:xfrm>
            <a:off x="3547872" y="2743200"/>
            <a:ext cx="2240280" cy="548640"/>
          </a:xfrm>
          <a:prstGeom prst="rect">
            <a:avLst/>
          </a:prstGeom>
          <a:noFill/>
          <a:ln/>
        </p:spPr>
        <p:txBody>
          <a:bodyPr wrap="square" lIns="0" tIns="0" rIns="0" bIns="0" rtlCol="0" anchor="t"/>
          <a:lstStyle/>
          <a:p>
            <a:pPr algn="ctr" indent="0" marL="0">
              <a:buNone/>
            </a:pPr>
            <a:r>
              <a:rPr lang="en-US" sz="2000" b="1" dirty="0">
                <a:solidFill>
                  <a:schemeClr val="tx2"/>
                </a:solidFill>
              </a:rPr>
              <a:t>Digite o endereço</a:t>
            </a:r>
            <a:endParaRPr lang="en-US" sz="2000" dirty="0"/>
          </a:p>
        </p:txBody>
      </p:sp>
      <p:sp>
        <p:nvSpPr>
          <p:cNvPr id="12" name="Text 10"/>
          <p:cNvSpPr txBox="1"/>
          <p:nvPr/>
        </p:nvSpPr>
        <p:spPr>
          <a:xfrm>
            <a:off x="3547872" y="3337560"/>
            <a:ext cx="2240280" cy="1280160"/>
          </a:xfrm>
          <a:prstGeom prst="rect">
            <a:avLst/>
          </a:prstGeom>
          <a:noFill/>
          <a:ln/>
        </p:spPr>
        <p:txBody>
          <a:bodyPr wrap="square" lIns="0" tIns="0" rIns="0" bIns="0" rtlCol="0" anchor="t"/>
          <a:lstStyle/>
          <a:p>
            <a:pPr algn="ctr" indent="0" marL="0">
              <a:buNone/>
            </a:pPr>
            <a:r>
              <a:rPr lang="en-US" sz="1600" b="1" dirty="0">
                <a:solidFill>
                  <a:schemeClr val="accent2"/>
                </a:solidFill>
              </a:rPr>
              <a:t>fast.com  ou  speedtest.net</a:t>
            </a:r>
            <a:endParaRPr lang="en-US" sz="1600" dirty="0"/>
          </a:p>
        </p:txBody>
      </p:sp>
      <p:sp>
        <p:nvSpPr>
          <p:cNvPr id="13" name="Passo 3"/>
          <p:cNvSpPr/>
          <p:nvPr/>
        </p:nvSpPr>
        <p:spPr>
          <a:xfrm>
            <a:off x="6181344" y="1463040"/>
            <a:ext cx="2606040" cy="3291840"/>
          </a:xfrm>
          <a:prstGeom prst="roundRect">
            <a:avLst>
              <a:gd name="adj" fmla="val 5263"/>
            </a:avLst>
          </a:prstGeom>
          <a:solidFill>
            <a:schemeClr val="bg2"/>
          </a:solidFill>
          <a:ln w="12700">
            <a:solidFill>
              <a:schemeClr val="bg2"/>
            </a:solidFill>
            <a:prstDash val="solid"/>
          </a:ln>
        </p:spPr>
      </p:sp>
      <p:sp>
        <p:nvSpPr>
          <p:cNvPr id="14" name="Shape 12"/>
          <p:cNvSpPr/>
          <p:nvPr/>
        </p:nvSpPr>
        <p:spPr>
          <a:xfrm>
            <a:off x="7050024" y="1691640"/>
            <a:ext cx="868680" cy="868680"/>
          </a:xfrm>
          <a:prstGeom prst="ellipse">
            <a:avLst/>
          </a:prstGeom>
          <a:solidFill>
            <a:schemeClr val="accent1"/>
          </a:solidFill>
          <a:ln w="12700">
            <a:solidFill>
              <a:schemeClr val="accent1"/>
            </a:solidFill>
            <a:prstDash val="solid"/>
          </a:ln>
        </p:spPr>
      </p:sp>
      <p:sp>
        <p:nvSpPr>
          <p:cNvPr id="15" name="Text 13"/>
          <p:cNvSpPr txBox="1"/>
          <p:nvPr/>
        </p:nvSpPr>
        <p:spPr>
          <a:xfrm>
            <a:off x="7050024" y="169164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6" name="Text 14"/>
          <p:cNvSpPr txBox="1"/>
          <p:nvPr/>
        </p:nvSpPr>
        <p:spPr>
          <a:xfrm>
            <a:off x="6364224" y="2743200"/>
            <a:ext cx="2240280" cy="548640"/>
          </a:xfrm>
          <a:prstGeom prst="rect">
            <a:avLst/>
          </a:prstGeom>
          <a:noFill/>
          <a:ln/>
        </p:spPr>
        <p:txBody>
          <a:bodyPr wrap="square" lIns="0" tIns="0" rIns="0" bIns="0" rtlCol="0" anchor="t"/>
          <a:lstStyle/>
          <a:p>
            <a:pPr algn="ctr" indent="0" marL="0">
              <a:buNone/>
            </a:pPr>
            <a:r>
              <a:rPr lang="en-US" sz="2000" b="1" dirty="0">
                <a:solidFill>
                  <a:schemeClr val="tx2"/>
                </a:solidFill>
              </a:rPr>
              <a:t>Clique em iniciar</a:t>
            </a:r>
            <a:endParaRPr lang="en-US" sz="2000" dirty="0"/>
          </a:p>
        </p:txBody>
      </p:sp>
      <p:sp>
        <p:nvSpPr>
          <p:cNvPr id="17" name="Text 15"/>
          <p:cNvSpPr txBox="1"/>
          <p:nvPr/>
        </p:nvSpPr>
        <p:spPr>
          <a:xfrm>
            <a:off x="6364224" y="3337560"/>
            <a:ext cx="2240280" cy="1280160"/>
          </a:xfrm>
          <a:prstGeom prst="rect">
            <a:avLst/>
          </a:prstGeom>
          <a:noFill/>
          <a:ln/>
        </p:spPr>
        <p:txBody>
          <a:bodyPr wrap="square" lIns="0" tIns="0" rIns="0" bIns="0" rtlCol="0" anchor="t"/>
          <a:lstStyle/>
          <a:p>
            <a:pPr algn="ctr" indent="0" marL="0">
              <a:buNone/>
            </a:pPr>
            <a:r>
              <a:rPr lang="en-US" sz="1600" dirty="0">
                <a:solidFill>
                  <a:schemeClr val="tx1"/>
                </a:solidFill>
              </a:rPr>
              <a:t>Clique em "Iniciar" ou "Go" e espere uns 30 segundos</a:t>
            </a:r>
            <a:endParaRPr lang="en-US" sz="1600" dirty="0"/>
          </a:p>
        </p:txBody>
      </p:sp>
      <p:sp>
        <p:nvSpPr>
          <p:cNvPr id="18" name="Passo 4"/>
          <p:cNvSpPr/>
          <p:nvPr/>
        </p:nvSpPr>
        <p:spPr>
          <a:xfrm>
            <a:off x="8997696" y="1463040"/>
            <a:ext cx="2606040" cy="3291840"/>
          </a:xfrm>
          <a:prstGeom prst="roundRect">
            <a:avLst>
              <a:gd name="adj" fmla="val 5263"/>
            </a:avLst>
          </a:prstGeom>
          <a:solidFill>
            <a:schemeClr val="bg2"/>
          </a:solidFill>
          <a:ln w="12700">
            <a:solidFill>
              <a:schemeClr val="bg2"/>
            </a:solidFill>
            <a:prstDash val="solid"/>
          </a:ln>
        </p:spPr>
      </p:sp>
      <p:sp>
        <p:nvSpPr>
          <p:cNvPr id="19" name="Shape 17"/>
          <p:cNvSpPr/>
          <p:nvPr/>
        </p:nvSpPr>
        <p:spPr>
          <a:xfrm>
            <a:off x="9866376" y="1691640"/>
            <a:ext cx="868680" cy="868680"/>
          </a:xfrm>
          <a:prstGeom prst="ellipse">
            <a:avLst/>
          </a:prstGeom>
          <a:solidFill>
            <a:schemeClr val="accent1"/>
          </a:solidFill>
          <a:ln w="12700">
            <a:solidFill>
              <a:schemeClr val="accent1"/>
            </a:solidFill>
            <a:prstDash val="solid"/>
          </a:ln>
        </p:spPr>
      </p:sp>
      <p:sp>
        <p:nvSpPr>
          <p:cNvPr id="20" name="Text 18"/>
          <p:cNvSpPr txBox="1"/>
          <p:nvPr/>
        </p:nvSpPr>
        <p:spPr>
          <a:xfrm>
            <a:off x="9866376" y="1691640"/>
            <a:ext cx="868680" cy="868680"/>
          </a:xfrm>
          <a:prstGeom prst="rect">
            <a:avLst/>
          </a:prstGeom>
          <a:noFill/>
          <a:ln/>
        </p:spPr>
        <p:txBody>
          <a:bodyPr wrap="square" lIns="0" tIns="0" rIns="0" bIns="0" rtlCol="0" anchor="ctr"/>
          <a:lstStyle/>
          <a:p>
            <a:pPr algn="ctr" indent="0" marL="0">
              <a:buNone/>
            </a:pPr>
            <a:r>
              <a:rPr lang="en-US" sz="3200" b="1" dirty="0">
                <a:solidFill>
                  <a:schemeClr val="bg1"/>
                </a:solidFill>
              </a:rPr>
              <a:t>4</a:t>
            </a:r>
            <a:endParaRPr lang="en-US" sz="3200" dirty="0"/>
          </a:p>
        </p:txBody>
      </p:sp>
      <p:sp>
        <p:nvSpPr>
          <p:cNvPr id="21" name="Text 19"/>
          <p:cNvSpPr txBox="1"/>
          <p:nvPr/>
        </p:nvSpPr>
        <p:spPr>
          <a:xfrm>
            <a:off x="9180576" y="2743200"/>
            <a:ext cx="2240280" cy="548640"/>
          </a:xfrm>
          <a:prstGeom prst="rect">
            <a:avLst/>
          </a:prstGeom>
          <a:noFill/>
          <a:ln/>
        </p:spPr>
        <p:txBody>
          <a:bodyPr wrap="square" lIns="0" tIns="0" rIns="0" bIns="0" rtlCol="0" anchor="t"/>
          <a:lstStyle/>
          <a:p>
            <a:pPr algn="ctr" indent="0" marL="0">
              <a:buNone/>
            </a:pPr>
            <a:r>
              <a:rPr lang="en-US" sz="2000" b="1" dirty="0">
                <a:solidFill>
                  <a:schemeClr val="tx2"/>
                </a:solidFill>
              </a:rPr>
              <a:t>Anote os números</a:t>
            </a:r>
            <a:endParaRPr lang="en-US" sz="2000" dirty="0"/>
          </a:p>
        </p:txBody>
      </p:sp>
      <p:sp>
        <p:nvSpPr>
          <p:cNvPr id="22" name="Text 20"/>
          <p:cNvSpPr txBox="1"/>
          <p:nvPr/>
        </p:nvSpPr>
        <p:spPr>
          <a:xfrm>
            <a:off x="9180576" y="3337560"/>
            <a:ext cx="2240280" cy="1280160"/>
          </a:xfrm>
          <a:prstGeom prst="rect">
            <a:avLst/>
          </a:prstGeom>
          <a:noFill/>
          <a:ln/>
        </p:spPr>
        <p:txBody>
          <a:bodyPr wrap="square" lIns="0" tIns="0" rIns="0" bIns="0" rtlCol="0" anchor="t"/>
          <a:lstStyle/>
          <a:p>
            <a:pPr algn="ctr" indent="0" marL="0">
              <a:buNone/>
            </a:pPr>
            <a:r>
              <a:rPr lang="en-US" sz="1600" dirty="0">
                <a:solidFill>
                  <a:schemeClr val="tx1"/>
                </a:solidFill>
              </a:rPr>
              <a:t>Download, upload e ping</a:t>
            </a:r>
            <a:endParaRPr lang="en-US" sz="1600" dirty="0"/>
          </a:p>
        </p:txBody>
      </p:sp>
      <p:sp>
        <p:nvSpPr>
          <p:cNvPr id="23" name="Shape 21"/>
          <p:cNvSpPr/>
          <p:nvPr/>
        </p:nvSpPr>
        <p:spPr>
          <a:xfrm>
            <a:off x="548640" y="5074920"/>
            <a:ext cx="731520" cy="731520"/>
          </a:xfrm>
          <a:prstGeom prst="ellipse">
            <a:avLst/>
          </a:prstGeom>
          <a:solidFill>
            <a:srgbClr val="F2A900"/>
          </a:solidFill>
          <a:ln w="12700">
            <a:solidFill>
              <a:srgbClr val="F2A900"/>
            </a:solidFill>
            <a:prstDash val="solid"/>
          </a:ln>
        </p:spPr>
      </p:sp>
      <p:pic>
        <p:nvPicPr>
          <p:cNvPr id="24" name="Image 0" descr="preencoded.png">    </p:cNvPr>
          <p:cNvPicPr>
            <a:picLocks noChangeAspect="1"/>
          </p:cNvPicPr>
          <p:nvPr/>
        </p:nvPicPr>
        <p:blipFill>
          <a:blip r:embed="rId1"/>
          <a:stretch>
            <a:fillRect/>
          </a:stretch>
        </p:blipFill>
        <p:spPr>
          <a:xfrm>
            <a:off x="731520" y="5257800"/>
            <a:ext cx="365760" cy="365760"/>
          </a:xfrm>
          <a:prstGeom prst="rect">
            <a:avLst/>
          </a:prstGeom>
        </p:spPr>
      </p:pic>
      <p:sp>
        <p:nvSpPr>
          <p:cNvPr id="25" name="Text 22"/>
          <p:cNvSpPr txBox="1"/>
          <p:nvPr/>
        </p:nvSpPr>
        <p:spPr>
          <a:xfrm>
            <a:off x="1463040" y="5029200"/>
            <a:ext cx="10149840" cy="822960"/>
          </a:xfrm>
          <a:prstGeom prst="rect">
            <a:avLst/>
          </a:prstGeom>
          <a:noFill/>
          <a:ln/>
        </p:spPr>
        <p:txBody>
          <a:bodyPr wrap="square" lIns="0" tIns="0" rIns="0" bIns="0" rtlCol="0" anchor="ctr"/>
          <a:lstStyle/>
          <a:p>
            <a:pPr indent="0" marL="0">
              <a:buNone/>
            </a:pPr>
            <a:r>
              <a:rPr lang="en-US" sz="1800" b="1" dirty="0">
                <a:solidFill>
                  <a:schemeClr val="tx2"/>
                </a:solidFill>
              </a:rPr>
              <a:t>Dica: </a:t>
            </a:r>
            <a:pPr indent="0" marL="0">
              <a:buNone/>
            </a:pPr>
            <a:r>
              <a:rPr lang="en-US" sz="1800" dirty="0">
                <a:solidFill>
                  <a:schemeClr val="tx1"/>
                </a:solidFill>
              </a:rPr>
              <a:t>faça o teste perto e longe do roteador, e compare com a velocidade do plano que aparece na conta.</a:t>
            </a:r>
            <a:endParaRPr lang="en-US" sz="18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Prática 1: teste a sua conexão</a:t>
            </a:r>
            <a:endParaRPr lang="en-US" sz="3400" dirty="0"/>
          </a:p>
        </p:txBody>
      </p:sp>
      <p:sp>
        <p:nvSpPr>
          <p:cNvPr id="3" name="Selo atividade"/>
          <p:cNvSpPr/>
          <p:nvPr/>
        </p:nvSpPr>
        <p:spPr>
          <a:xfrm>
            <a:off x="8503920" y="502920"/>
            <a:ext cx="2377440" cy="502920"/>
          </a:xfrm>
          <a:prstGeom prst="roundRect">
            <a:avLst>
              <a:gd name="adj" fmla="val 49091"/>
            </a:avLst>
          </a:prstGeom>
          <a:solidFill>
            <a:schemeClr val="accent2"/>
          </a:solidFill>
          <a:ln w="12700">
            <a:solidFill>
              <a:schemeClr val="accent2"/>
            </a:solidFill>
            <a:prstDash val="solid"/>
          </a:ln>
        </p:spPr>
      </p:sp>
      <p:sp>
        <p:nvSpPr>
          <p:cNvPr id="4" name="Text 2"/>
          <p:cNvSpPr txBox="1"/>
          <p:nvPr/>
        </p:nvSpPr>
        <p:spPr>
          <a:xfrm>
            <a:off x="8503920" y="50292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rPr>
              <a:t>NO COMPUTADOR</a:t>
            </a:r>
            <a:endParaRPr lang="en-US" sz="1500" dirty="0"/>
          </a:p>
        </p:txBody>
      </p:sp>
      <p:sp>
        <p:nvSpPr>
          <p:cNvPr id="5" name="Text 3"/>
          <p:cNvSpPr txBox="1"/>
          <p:nvPr/>
        </p:nvSpPr>
        <p:spPr>
          <a:xfrm>
            <a:off x="548640" y="1371600"/>
            <a:ext cx="7315200" cy="457200"/>
          </a:xfrm>
          <a:prstGeom prst="rect">
            <a:avLst/>
          </a:prstGeom>
          <a:noFill/>
          <a:ln/>
        </p:spPr>
        <p:txBody>
          <a:bodyPr wrap="square" lIns="0" tIns="0" rIns="0" bIns="0" rtlCol="0" anchor="t"/>
          <a:lstStyle/>
          <a:p>
            <a:pPr indent="0" marL="0">
              <a:buNone/>
            </a:pPr>
            <a:r>
              <a:rPr lang="en-US" sz="2000" b="1" dirty="0">
                <a:solidFill>
                  <a:schemeClr val="tx2"/>
                </a:solidFill>
              </a:rPr>
              <a:t>Faça o teste e anote no caderno:</a:t>
            </a:r>
            <a:endParaRPr lang="en-US" sz="2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3931920"/>
                <a:gridCol w="2386584"/>
                <a:gridCol w="2386584"/>
                <a:gridCol w="2386584"/>
              </a:tblGrid>
              <a:tr h="731520">
                <a:tc>
                  <a:txBody>
                    <a:bodyPr/>
                    <a:lstStyle/>
                    <a:p>
                      <a:pPr indent="0" marL="0">
                        <a:buNone/>
                      </a:pPr>
                      <a:r>
                        <a:rPr lang="en-US" sz="1800" b="1" dirty="0">
                          <a:solidFill>
                            <a:schemeClr val="bg1"/>
                          </a:solidFill>
                        </a:rPr>
                        <a:t>Onde testei</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Download (Mbps)</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Upload (Mbps)</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Ping (ms)</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r>
              <a:tr h="731520">
                <a:tc>
                  <a:txBody>
                    <a:bodyPr/>
                    <a:lstStyle/>
                    <a:p>
                      <a:pPr indent="0" marL="0">
                        <a:buNone/>
                      </a:pPr>
                      <a:r>
                        <a:rPr lang="en-US" sz="1800" b="1" dirty="0">
                          <a:solidFill>
                            <a:schemeClr val="tx2"/>
                          </a:solidFill>
                        </a:rPr>
                        <a:t>Computador da escola (cabo)</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r>
              <a:tr h="731520">
                <a:tc>
                  <a:txBody>
                    <a:bodyPr/>
                    <a:lstStyle/>
                    <a:p>
                      <a:pPr indent="0" marL="0">
                        <a:buNone/>
                      </a:pPr>
                      <a:r>
                        <a:rPr lang="en-US" sz="1800" b="1" dirty="0">
                          <a:solidFill>
                            <a:schemeClr val="tx2"/>
                          </a:solidFill>
                        </a:rPr>
                        <a:t>Celular no Wi-Fi da escola</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r>
              <a:tr h="731520">
                <a:tc>
                  <a:txBody>
                    <a:bodyPr/>
                    <a:lstStyle/>
                    <a:p>
                      <a:pPr indent="0" marL="0">
                        <a:buNone/>
                      </a:pPr>
                      <a:r>
                        <a:rPr lang="en-US" sz="1800" b="1" dirty="0">
                          <a:solidFill>
                            <a:schemeClr val="tx2"/>
                          </a:solidFill>
                        </a:rPr>
                        <a:t>Celular no 4G/5G (dados)</a:t>
                      </a: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109728" marR="109728"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r>
            </a:tbl>
          </a:graphicData>
        </a:graphic>
      </p:graphicFrame>
      <p:sp>
        <p:nvSpPr>
          <p:cNvPr id="7" name="Shape 4"/>
          <p:cNvSpPr/>
          <p:nvPr/>
        </p:nvSpPr>
        <p:spPr>
          <a:xfrm>
            <a:off x="548640" y="5074920"/>
            <a:ext cx="731520" cy="731520"/>
          </a:xfrm>
          <a:prstGeom prst="ellipse">
            <a:avLst/>
          </a:prstGeom>
          <a:solidFill>
            <a:srgbClr val="C8191E"/>
          </a:solidFill>
          <a:ln w="12700">
            <a:solidFill>
              <a:srgbClr val="C8191E"/>
            </a:solidFill>
            <a:prstDash val="solid"/>
          </a:ln>
        </p:spPr>
      </p:sp>
      <p:pic>
        <p:nvPicPr>
          <p:cNvPr id="8" name="Image 0" descr="preencoded.png">    </p:cNvPr>
          <p:cNvPicPr>
            <a:picLocks noChangeAspect="1"/>
          </p:cNvPicPr>
          <p:nvPr/>
        </p:nvPicPr>
        <p:blipFill>
          <a:blip r:embed="rId1"/>
          <a:stretch>
            <a:fillRect/>
          </a:stretch>
        </p:blipFill>
        <p:spPr>
          <a:xfrm>
            <a:off x="731520" y="5257800"/>
            <a:ext cx="365760" cy="365760"/>
          </a:xfrm>
          <a:prstGeom prst="rect">
            <a:avLst/>
          </a:prstGeom>
        </p:spPr>
      </p:pic>
      <p:sp>
        <p:nvSpPr>
          <p:cNvPr id="9" name="Text 5"/>
          <p:cNvSpPr txBox="1"/>
          <p:nvPr/>
        </p:nvSpPr>
        <p:spPr>
          <a:xfrm>
            <a:off x="1463040" y="5029200"/>
            <a:ext cx="10149840" cy="822960"/>
          </a:xfrm>
          <a:prstGeom prst="rect">
            <a:avLst/>
          </a:prstGeom>
          <a:noFill/>
          <a:ln/>
        </p:spPr>
        <p:txBody>
          <a:bodyPr wrap="square" lIns="0" tIns="0" rIns="0" bIns="0" rtlCol="0" anchor="ctr"/>
          <a:lstStyle/>
          <a:p>
            <a:pPr indent="0" marL="0">
              <a:buNone/>
            </a:pPr>
            <a:r>
              <a:rPr lang="en-US" sz="2000" b="1" dirty="0">
                <a:solidFill>
                  <a:schemeClr val="tx2"/>
                </a:solidFill>
              </a:rPr>
              <a:t>Pense: </a:t>
            </a:r>
            <a:pPr indent="0" marL="0">
              <a:buNone/>
            </a:pPr>
            <a:r>
              <a:rPr lang="en-US" sz="2000" dirty="0">
                <a:solidFill>
                  <a:schemeClr val="tx1"/>
                </a:solidFill>
              </a:rPr>
              <a:t>qual foi a mais rápida? Por que você acha que deu diferença?</a:t>
            </a:r>
            <a:endParaRPr lang="en-US" sz="20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Prática 2: pesquise planos</a:t>
            </a:r>
            <a:endParaRPr lang="en-US" sz="3400" dirty="0"/>
          </a:p>
        </p:txBody>
      </p:sp>
      <p:sp>
        <p:nvSpPr>
          <p:cNvPr id="3" name="Selo atividade"/>
          <p:cNvSpPr/>
          <p:nvPr/>
        </p:nvSpPr>
        <p:spPr>
          <a:xfrm>
            <a:off x="8503920" y="502920"/>
            <a:ext cx="2377440" cy="502920"/>
          </a:xfrm>
          <a:prstGeom prst="roundRect">
            <a:avLst>
              <a:gd name="adj" fmla="val 49091"/>
            </a:avLst>
          </a:prstGeom>
          <a:solidFill>
            <a:schemeClr val="accent2"/>
          </a:solidFill>
          <a:ln w="12700">
            <a:solidFill>
              <a:schemeClr val="accent2"/>
            </a:solidFill>
            <a:prstDash val="solid"/>
          </a:ln>
        </p:spPr>
      </p:sp>
      <p:sp>
        <p:nvSpPr>
          <p:cNvPr id="4" name="Text 2"/>
          <p:cNvSpPr txBox="1"/>
          <p:nvPr/>
        </p:nvSpPr>
        <p:spPr>
          <a:xfrm>
            <a:off x="8503920" y="50292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rPr>
              <a:t>NO COMPUTADOR</a:t>
            </a:r>
            <a:endParaRPr lang="en-US" sz="1500" dirty="0"/>
          </a:p>
        </p:txBody>
      </p:sp>
      <p:sp>
        <p:nvSpPr>
          <p:cNvPr id="5" name="Text 3"/>
          <p:cNvSpPr txBox="1"/>
          <p:nvPr/>
        </p:nvSpPr>
        <p:spPr>
          <a:xfrm>
            <a:off x="548640" y="1417320"/>
            <a:ext cx="5212080" cy="429768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Abra o Google e pesquise: internet fibra + nome da sua cidade</a:t>
            </a:r>
            <a:endParaRPr lang="en-US" sz="1800" dirty="0"/>
          </a:p>
          <a:p>
            <a:pPr marL="342900" indent="-342900">
              <a:spcAft>
                <a:spcPts val="1000"/>
              </a:spcAft>
              <a:buSzPct val="100000"/>
              <a:buChar char="•"/>
            </a:pPr>
            <a:r>
              <a:rPr lang="en-US" sz="1800" dirty="0">
                <a:solidFill>
                  <a:schemeClr val="tx1"/>
                </a:solidFill>
              </a:rPr>
              <a:t>Escolha 2 empresas e veja os planos</a:t>
            </a:r>
            <a:endParaRPr lang="en-US" sz="1800" dirty="0"/>
          </a:p>
          <a:p>
            <a:pPr marL="342900" indent="-342900">
              <a:spcAft>
                <a:spcPts val="1000"/>
              </a:spcAft>
              <a:buSzPct val="100000"/>
              <a:buChar char="•"/>
            </a:pPr>
            <a:r>
              <a:rPr lang="en-US" sz="1800" dirty="0">
                <a:solidFill>
                  <a:schemeClr val="tx1"/>
                </a:solidFill>
              </a:rPr>
              <a:t>Pesquise também um plano de internet via satélite (ex.: Starlink)</a:t>
            </a:r>
            <a:endParaRPr lang="en-US" sz="1800" dirty="0"/>
          </a:p>
          <a:p>
            <a:pPr marL="342900" indent="-342900">
              <a:spcAft>
                <a:spcPts val="1000"/>
              </a:spcAft>
              <a:buSzPct val="100000"/>
              <a:buChar char="•"/>
            </a:pPr>
            <a:r>
              <a:rPr lang="en-US" sz="1800" dirty="0">
                <a:solidFill>
                  <a:schemeClr val="tx1"/>
                </a:solidFill>
              </a:rPr>
              <a:t>Preencha a tabela e compare: qual vale mais a pena?</a:t>
            </a:r>
            <a:endParaRPr lang="en-US" sz="1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126480" y="1463040"/>
          <a:ext cx="5513832" cy="914400"/>
        </p:xfrm>
        <a:graphic>
          <a:graphicData uri="http://schemas.openxmlformats.org/drawingml/2006/table">
            <a:tbl>
              <a:tblPr/>
              <a:tblGrid>
                <a:gridCol w="1737360"/>
                <a:gridCol w="1371600"/>
                <a:gridCol w="1097280"/>
                <a:gridCol w="1307592"/>
              </a:tblGrid>
              <a:tr h="731520">
                <a:tc>
                  <a:txBody>
                    <a:bodyPr/>
                    <a:lstStyle/>
                    <a:p>
                      <a:pPr indent="0" marL="0">
                        <a:buNone/>
                      </a:pPr>
                      <a:r>
                        <a:rPr lang="en-US" sz="1800" b="1" dirty="0">
                          <a:solidFill>
                            <a:schemeClr val="bg1"/>
                          </a:solidFill>
                        </a:rPr>
                        <a:t>Empresa</a:t>
                      </a: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Tipo</a:t>
                      </a: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Mbps</a:t>
                      </a: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c>
                  <a:txBody>
                    <a:bodyPr/>
                    <a:lstStyle/>
                    <a:p>
                      <a:pPr indent="0" marL="0">
                        <a:buNone/>
                      </a:pPr>
                      <a:r>
                        <a:rPr lang="en-US" sz="1800" b="1" dirty="0">
                          <a:solidFill>
                            <a:schemeClr val="bg1"/>
                          </a:solidFill>
                        </a:rPr>
                        <a:t>R$/mês</a:t>
                      </a: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solidFill>
                      <a:schemeClr val="tx2"/>
                    </a:solidFill>
                  </a:tcPr>
                </a:tc>
              </a:tr>
              <a:tr h="731520">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r>
              <a:tr h="731520">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r>
              <a:tr h="731520">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c>
                  <a:txBody>
                    <a:bodyPr/>
                    <a:lstStyle/>
                    <a:p>
                      <a:pPr indent="0" marL="0">
                        <a:buNone/>
                      </a:pPr>
                      <a:endParaRPr lang="en-US" sz="1800" dirty="0"/>
                    </a:p>
                  </a:txBody>
                  <a:tcPr marL="91440" marR="91440" marT="0" marB="0" anchor="ctr">
                    <a:lnL w="12700" cap="flat" cmpd="sng" algn="ctr">
                      <a:solidFill>
                        <a:srgbClr val="BFD6C2"/>
                      </a:solidFill>
                      <a:prstDash val="solid"/>
                      <a:round/>
                      <a:headEnd type="none" w="med" len="med"/>
                      <a:tailEnd type="none" w="med" len="med"/>
                    </a:lnL>
                    <a:lnR w="12700" cap="flat" cmpd="sng" algn="ctr">
                      <a:solidFill>
                        <a:srgbClr val="BFD6C2"/>
                      </a:solidFill>
                      <a:prstDash val="solid"/>
                      <a:round/>
                      <a:headEnd type="none" w="med" len="med"/>
                      <a:tailEnd type="none" w="med" len="med"/>
                    </a:lnR>
                    <a:lnT w="12700" cap="flat" cmpd="sng" algn="ctr">
                      <a:solidFill>
                        <a:srgbClr val="BFD6C2"/>
                      </a:solidFill>
                      <a:prstDash val="solid"/>
                      <a:round/>
                      <a:headEnd type="none" w="med" len="med"/>
                      <a:tailEnd type="none" w="med" len="med"/>
                    </a:lnT>
                    <a:lnB w="12700" cap="flat" cmpd="sng" algn="ctr">
                      <a:solidFill>
                        <a:srgbClr val="BFD6C2"/>
                      </a:solidFill>
                      <a:prstDash val="solid"/>
                      <a:round/>
                      <a:headEnd type="none" w="med" len="med"/>
                      <a:tailEnd type="none" w="med" len="med"/>
                    </a:lnB>
                  </a:tcPr>
                </a:tc>
              </a:tr>
            </a:tbl>
          </a:graphicData>
        </a:graphic>
      </p:graphicFrame>
      <p:sp>
        <p:nvSpPr>
          <p:cNvPr id="7" name="Pergunta final"/>
          <p:cNvSpPr/>
          <p:nvPr/>
        </p:nvSpPr>
        <p:spPr>
          <a:xfrm>
            <a:off x="6126480" y="4572000"/>
            <a:ext cx="5513832" cy="1188720"/>
          </a:xfrm>
          <a:prstGeom prst="roundRect">
            <a:avLst>
              <a:gd name="adj" fmla="val 11538"/>
            </a:avLst>
          </a:prstGeom>
          <a:solidFill>
            <a:schemeClr val="bg2"/>
          </a:solidFill>
          <a:ln w="12700">
            <a:solidFill>
              <a:schemeClr val="bg2"/>
            </a:solidFill>
            <a:prstDash val="solid"/>
          </a:ln>
        </p:spPr>
      </p:sp>
      <p:sp>
        <p:nvSpPr>
          <p:cNvPr id="8" name="Text 5"/>
          <p:cNvSpPr txBox="1"/>
          <p:nvPr/>
        </p:nvSpPr>
        <p:spPr>
          <a:xfrm>
            <a:off x="6355080" y="4681728"/>
            <a:ext cx="5074920" cy="1005840"/>
          </a:xfrm>
          <a:prstGeom prst="rect">
            <a:avLst/>
          </a:prstGeom>
          <a:noFill/>
          <a:ln/>
        </p:spPr>
        <p:txBody>
          <a:bodyPr wrap="square" lIns="0" tIns="0" rIns="0" bIns="0" rtlCol="0" anchor="ctr"/>
          <a:lstStyle/>
          <a:p>
            <a:pPr indent="0" marL="0">
              <a:buNone/>
            </a:pPr>
            <a:r>
              <a:rPr lang="en-US" sz="1700" b="1" dirty="0">
                <a:solidFill>
                  <a:schemeClr val="tx2"/>
                </a:solidFill>
              </a:rPr>
              <a:t>Para responder: </a:t>
            </a:r>
            <a:pPr indent="0" marL="0">
              <a:buNone/>
            </a:pPr>
            <a:r>
              <a:rPr lang="en-US" sz="1700" dirty="0">
                <a:solidFill>
                  <a:schemeClr val="tx1"/>
                </a:solidFill>
              </a:rPr>
              <a:t>quanto custa cada 100 Mbps? Qual plano você escolheria para a sua casa?</a:t>
            </a:r>
            <a:endParaRPr lang="en-US" sz="17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548640" y="365760"/>
            <a:ext cx="10241280" cy="777240"/>
          </a:xfrm>
          <a:prstGeom prst="rect">
            <a:avLst/>
          </a:prstGeom>
          <a:noFill/>
          <a:ln/>
        </p:spPr>
        <p:txBody>
          <a:bodyPr wrap="square" lIns="0" tIns="0" rIns="0" bIns="0" rtlCol="0" anchor="ctr"/>
          <a:lstStyle/>
          <a:p>
            <a:pPr algn="l" indent="0" marL="0">
              <a:buNone/>
            </a:pPr>
            <a:r>
              <a:rPr lang="en-US" sz="3400" b="1" dirty="0">
                <a:solidFill>
                  <a:schemeClr val="tx2"/>
                </a:solidFill>
              </a:rPr>
              <a:t>O que aprendemos hoje</a:t>
            </a:r>
            <a:endParaRPr lang="en-US" sz="3400" dirty="0"/>
          </a:p>
        </p:txBody>
      </p:sp>
      <p:sp>
        <p:nvSpPr>
          <p:cNvPr id="3" name="Shape 1"/>
          <p:cNvSpPr/>
          <p:nvPr/>
        </p:nvSpPr>
        <p:spPr>
          <a:xfrm>
            <a:off x="731520" y="1463040"/>
            <a:ext cx="777240" cy="7772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932688" y="1645920"/>
            <a:ext cx="411480" cy="411480"/>
          </a:xfrm>
          <a:prstGeom prst="rect">
            <a:avLst/>
          </a:prstGeom>
        </p:spPr>
      </p:pic>
      <p:sp>
        <p:nvSpPr>
          <p:cNvPr id="5" name="Text 2"/>
          <p:cNvSpPr txBox="1"/>
          <p:nvPr/>
        </p:nvSpPr>
        <p:spPr>
          <a:xfrm>
            <a:off x="1828800" y="1463040"/>
            <a:ext cx="9692640" cy="777240"/>
          </a:xfrm>
          <a:prstGeom prst="rect">
            <a:avLst/>
          </a:prstGeom>
          <a:noFill/>
          <a:ln/>
        </p:spPr>
        <p:txBody>
          <a:bodyPr wrap="square" lIns="0" tIns="0" rIns="0" bIns="0" rtlCol="0" anchor="ctr"/>
          <a:lstStyle/>
          <a:p>
            <a:pPr indent="0" marL="0">
              <a:buNone/>
            </a:pPr>
            <a:r>
              <a:rPr lang="en-US" sz="2200" b="1" dirty="0">
                <a:solidFill>
                  <a:schemeClr val="tx2"/>
                </a:solidFill>
              </a:rPr>
              <a:t>Rede: </a:t>
            </a:r>
            <a:pPr indent="0" marL="0">
              <a:buNone/>
            </a:pPr>
            <a:r>
              <a:rPr lang="en-US" sz="2200" dirty="0">
                <a:solidFill>
                  <a:schemeClr val="tx1"/>
                </a:solidFill>
              </a:rPr>
              <a:t>são aparelhos ligados para trocar informações e dividir recursos</a:t>
            </a:r>
            <a:endParaRPr lang="en-US" sz="2200" dirty="0"/>
          </a:p>
        </p:txBody>
      </p:sp>
      <p:sp>
        <p:nvSpPr>
          <p:cNvPr id="6" name="Shape 3"/>
          <p:cNvSpPr/>
          <p:nvPr/>
        </p:nvSpPr>
        <p:spPr>
          <a:xfrm>
            <a:off x="731520" y="2542032"/>
            <a:ext cx="777240" cy="777240"/>
          </a:xfrm>
          <a:prstGeom prst="ellipse">
            <a:avLst/>
          </a:prstGeom>
          <a:solidFill>
            <a:schemeClr val="accent1"/>
          </a:solidFill>
          <a:ln w="12700">
            <a:solidFill>
              <a:schemeClr val="accent1"/>
            </a:solidFill>
            <a:prstDash val="solid"/>
          </a:ln>
        </p:spPr>
      </p:sp>
      <p:pic>
        <p:nvPicPr>
          <p:cNvPr id="7" name="Image 1" descr="preencoded.png">    </p:cNvPr>
          <p:cNvPicPr>
            <a:picLocks noChangeAspect="1"/>
          </p:cNvPicPr>
          <p:nvPr/>
        </p:nvPicPr>
        <p:blipFill>
          <a:blip r:embed="rId2"/>
          <a:stretch>
            <a:fillRect/>
          </a:stretch>
        </p:blipFill>
        <p:spPr>
          <a:xfrm>
            <a:off x="932688" y="2724912"/>
            <a:ext cx="411480" cy="411480"/>
          </a:xfrm>
          <a:prstGeom prst="rect">
            <a:avLst/>
          </a:prstGeom>
        </p:spPr>
      </p:pic>
      <p:sp>
        <p:nvSpPr>
          <p:cNvPr id="8" name="Text 4"/>
          <p:cNvSpPr txBox="1"/>
          <p:nvPr/>
        </p:nvSpPr>
        <p:spPr>
          <a:xfrm>
            <a:off x="1828800" y="2542032"/>
            <a:ext cx="9692640" cy="777240"/>
          </a:xfrm>
          <a:prstGeom prst="rect">
            <a:avLst/>
          </a:prstGeom>
          <a:noFill/>
          <a:ln/>
        </p:spPr>
        <p:txBody>
          <a:bodyPr wrap="square" lIns="0" tIns="0" rIns="0" bIns="0" rtlCol="0" anchor="ctr"/>
          <a:lstStyle/>
          <a:p>
            <a:pPr indent="0" marL="0">
              <a:buNone/>
            </a:pPr>
            <a:r>
              <a:rPr lang="en-US" sz="2200" b="1" dirty="0">
                <a:solidFill>
                  <a:schemeClr val="tx2"/>
                </a:solidFill>
              </a:rPr>
              <a:t>Elementos: </a:t>
            </a:r>
            <a:pPr indent="0" marL="0">
              <a:buNone/>
            </a:pPr>
            <a:r>
              <a:rPr lang="en-US" sz="2200" dirty="0">
                <a:solidFill>
                  <a:schemeClr val="tx1"/>
                </a:solidFill>
              </a:rPr>
              <a:t>aparelhos, cabos/Wi-Fi, roteador, regras, informação e provedor</a:t>
            </a:r>
            <a:endParaRPr lang="en-US" sz="2200" dirty="0"/>
          </a:p>
        </p:txBody>
      </p:sp>
      <p:sp>
        <p:nvSpPr>
          <p:cNvPr id="9" name="Shape 5"/>
          <p:cNvSpPr/>
          <p:nvPr/>
        </p:nvSpPr>
        <p:spPr>
          <a:xfrm>
            <a:off x="731520" y="3621024"/>
            <a:ext cx="777240" cy="777240"/>
          </a:xfrm>
          <a:prstGeom prst="ellipse">
            <a:avLst/>
          </a:prstGeom>
          <a:solidFill>
            <a:schemeClr val="accent1"/>
          </a:solidFill>
          <a:ln w="12700">
            <a:solidFill>
              <a:schemeClr val="accent1"/>
            </a:solidFill>
            <a:prstDash val="solid"/>
          </a:ln>
        </p:spPr>
      </p:sp>
      <p:pic>
        <p:nvPicPr>
          <p:cNvPr id="10" name="Image 2" descr="preencoded.png">    </p:cNvPr>
          <p:cNvPicPr>
            <a:picLocks noChangeAspect="1"/>
          </p:cNvPicPr>
          <p:nvPr/>
        </p:nvPicPr>
        <p:blipFill>
          <a:blip r:embed="rId3"/>
          <a:stretch>
            <a:fillRect/>
          </a:stretch>
        </p:blipFill>
        <p:spPr>
          <a:xfrm>
            <a:off x="932688" y="3803904"/>
            <a:ext cx="411480" cy="411480"/>
          </a:xfrm>
          <a:prstGeom prst="rect">
            <a:avLst/>
          </a:prstGeom>
        </p:spPr>
      </p:pic>
      <p:sp>
        <p:nvSpPr>
          <p:cNvPr id="11" name="Text 6"/>
          <p:cNvSpPr txBox="1"/>
          <p:nvPr/>
        </p:nvSpPr>
        <p:spPr>
          <a:xfrm>
            <a:off x="1828800" y="3621024"/>
            <a:ext cx="9692640" cy="777240"/>
          </a:xfrm>
          <a:prstGeom prst="rect">
            <a:avLst/>
          </a:prstGeom>
          <a:noFill/>
          <a:ln/>
        </p:spPr>
        <p:txBody>
          <a:bodyPr wrap="square" lIns="0" tIns="0" rIns="0" bIns="0" rtlCol="0" anchor="ctr"/>
          <a:lstStyle/>
          <a:p>
            <a:pPr indent="0" marL="0">
              <a:buNone/>
            </a:pPr>
            <a:r>
              <a:rPr lang="en-US" sz="2200" b="1" dirty="0">
                <a:solidFill>
                  <a:schemeClr val="tx2"/>
                </a:solidFill>
              </a:rPr>
              <a:t>Conexões: </a:t>
            </a:r>
            <a:pPr indent="0" marL="0">
              <a:buNone/>
            </a:pPr>
            <a:r>
              <a:rPr lang="en-US" sz="2200" dirty="0">
                <a:solidFill>
                  <a:schemeClr val="tx1"/>
                </a:solidFill>
              </a:rPr>
              <a:t>rede local, ADSL, fibra, 3G/4G/5G e satélite</a:t>
            </a:r>
            <a:endParaRPr lang="en-US" sz="2200" dirty="0"/>
          </a:p>
        </p:txBody>
      </p:sp>
      <p:sp>
        <p:nvSpPr>
          <p:cNvPr id="12" name="Shape 7"/>
          <p:cNvSpPr/>
          <p:nvPr/>
        </p:nvSpPr>
        <p:spPr>
          <a:xfrm>
            <a:off x="731520" y="4700016"/>
            <a:ext cx="777240" cy="777240"/>
          </a:xfrm>
          <a:prstGeom prst="ellipse">
            <a:avLst/>
          </a:prstGeom>
          <a:solidFill>
            <a:schemeClr val="accent1"/>
          </a:solidFill>
          <a:ln w="12700">
            <a:solidFill>
              <a:schemeClr val="accent1"/>
            </a:solidFill>
            <a:prstDash val="solid"/>
          </a:ln>
        </p:spPr>
      </p:sp>
      <p:pic>
        <p:nvPicPr>
          <p:cNvPr id="13" name="Image 3" descr="preencoded.png">    </p:cNvPr>
          <p:cNvPicPr>
            <a:picLocks noChangeAspect="1"/>
          </p:cNvPicPr>
          <p:nvPr/>
        </p:nvPicPr>
        <p:blipFill>
          <a:blip r:embed="rId4"/>
          <a:stretch>
            <a:fillRect/>
          </a:stretch>
        </p:blipFill>
        <p:spPr>
          <a:xfrm>
            <a:off x="932688" y="4882896"/>
            <a:ext cx="411480" cy="411480"/>
          </a:xfrm>
          <a:prstGeom prst="rect">
            <a:avLst/>
          </a:prstGeom>
        </p:spPr>
      </p:pic>
      <p:sp>
        <p:nvSpPr>
          <p:cNvPr id="14" name="Text 8"/>
          <p:cNvSpPr txBox="1"/>
          <p:nvPr/>
        </p:nvSpPr>
        <p:spPr>
          <a:xfrm>
            <a:off x="1828800" y="4700016"/>
            <a:ext cx="9692640" cy="777240"/>
          </a:xfrm>
          <a:prstGeom prst="rect">
            <a:avLst/>
          </a:prstGeom>
          <a:noFill/>
          <a:ln/>
        </p:spPr>
        <p:txBody>
          <a:bodyPr wrap="square" lIns="0" tIns="0" rIns="0" bIns="0" rtlCol="0" anchor="ctr"/>
          <a:lstStyle/>
          <a:p>
            <a:pPr indent="0" marL="0">
              <a:buNone/>
            </a:pPr>
            <a:r>
              <a:rPr lang="en-US" sz="2200" b="1" dirty="0">
                <a:solidFill>
                  <a:schemeClr val="tx2"/>
                </a:solidFill>
              </a:rPr>
              <a:t>Velocidade: </a:t>
            </a:r>
            <a:pPr indent="0" marL="0">
              <a:buNone/>
            </a:pPr>
            <a:r>
              <a:rPr lang="en-US" sz="2200" dirty="0">
                <a:solidFill>
                  <a:schemeClr val="tx1"/>
                </a:solidFill>
              </a:rPr>
              <a:t>medida em Mbps: download, upload e ping</a:t>
            </a:r>
            <a:endParaRPr lang="en-US" sz="2200" dirty="0"/>
          </a:p>
        </p:txBody>
      </p:sp>
      <p:sp>
        <p:nvSpPr>
          <p:cNvPr id="25" name="Slide Number Placeholder 0"/>
          <p:cNvSpPr>
            <a:spLocks noGrp="1"/>
          </p:cNvSpPr>
          <p:nvPr>
            <p:ph type="sldNum" sz="quarter" idx="4294967295"/>
          </p:nvPr>
        </p:nvSpPr>
        <p:spPr>
          <a:xfrm>
            <a:off x="11155680" y="635508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body" hasCustomPrompt="1"/>
          </p:nvPr>
        </p:nvSpPr>
        <p:spPr>
          <a:xfrm>
            <a:off x="731520" y="1280160"/>
            <a:ext cx="8229600" cy="457200"/>
          </a:xfrm>
          <a:prstGeom prst="rect">
            <a:avLst/>
          </a:prstGeom>
          <a:noFill/>
          <a:ln/>
        </p:spPr>
        <p:txBody>
          <a:bodyPr wrap="square" lIns="0" tIns="0" rIns="0" bIns="0" rtlCol="0"/>
          <a:lstStyle/>
          <a:p>
            <a:pPr algn="l" indent="0" marL="0">
              <a:buNone/>
            </a:pPr>
            <a:r>
              <a:rPr lang="en-US" sz="1800" b="1" dirty="0">
                <a:solidFill>
                  <a:schemeClr val="accent6"/>
                </a:solidFill>
              </a:rPr>
              <a:t>Informática  •  EJA</a:t>
            </a:r>
            <a:endParaRPr lang="en-US" sz="1800" dirty="0"/>
          </a:p>
        </p:txBody>
      </p:sp>
      <p:sp>
        <p:nvSpPr>
          <p:cNvPr id="3" name="Text 0"/>
          <p:cNvSpPr/>
          <p:nvPr>
            <p:ph idx="102" type="title" hasCustomPrompt="1"/>
          </p:nvPr>
        </p:nvSpPr>
        <p:spPr>
          <a:xfrm>
            <a:off x="731520" y="1828800"/>
            <a:ext cx="8412480" cy="2011680"/>
          </a:xfrm>
          <a:prstGeom prst="rect">
            <a:avLst/>
          </a:prstGeom>
          <a:noFill/>
          <a:ln/>
        </p:spPr>
        <p:txBody>
          <a:bodyPr wrap="square" lIns="0" tIns="0" rIns="0" bIns="0" rtlCol="0" anchor="t"/>
          <a:lstStyle/>
          <a:p>
            <a:pPr algn="l" indent="0" marL="0">
              <a:buNone/>
            </a:pPr>
            <a:r>
              <a:rPr lang="en-US" sz="5400" b="1" dirty="0">
                <a:solidFill>
                  <a:schemeClr val="bg1"/>
                </a:solidFill>
              </a:rPr>
              <a:t>Obrigado! Alguma dúvida?</a:t>
            </a:r>
            <a:endParaRPr lang="en-US" sz="5400" dirty="0"/>
          </a:p>
        </p:txBody>
      </p:sp>
      <p:sp>
        <p:nvSpPr>
          <p:cNvPr id="4" name="Text 0"/>
          <p:cNvSpPr/>
          <p:nvPr>
            <p:ph idx="103" type="body" hasCustomPrompt="1"/>
          </p:nvPr>
        </p:nvSpPr>
        <p:spPr>
          <a:xfrm>
            <a:off x="731520" y="4114800"/>
            <a:ext cx="8229600" cy="1280160"/>
          </a:xfrm>
          <a:prstGeom prst="rect">
            <a:avLst/>
          </a:prstGeom>
          <a:noFill/>
          <a:ln/>
        </p:spPr>
        <p:txBody>
          <a:bodyPr wrap="square" lIns="0" tIns="0" rIns="0" bIns="0" rtlCol="0" anchor="t"/>
          <a:lstStyle/>
          <a:p>
            <a:pPr algn="l" indent="0" marL="0">
              <a:buNone/>
            </a:pPr>
            <a:r>
              <a:rPr lang="en-US" sz="2200" dirty="0">
                <a:solidFill>
                  <a:schemeClr val="bg1"/>
                </a:solidFill>
              </a:rPr>
              <a:t>Para casa: descubra que tipo de internet você usa e meça a velocidade dela.</a:t>
            </a:r>
            <a:endParaRPr lang="en-US" sz="2200" dirty="0"/>
          </a:p>
        </p:txBody>
      </p:sp>
    </p:spTree>
  </p:cSld>
  <p:clrMapOvr>
    <a:masterClrMapping/>
  </p:clrMapOvr>
</p:sld>
</file>

<file path=ppt/theme/theme1.xml><?xml version="1.0" encoding="utf-8"?>
<a:theme xmlns:a="http://schemas.openxmlformats.org/drawingml/2006/main" name="Instituto Federal - EJA">
  <a:themeElements>
    <a:clrScheme name="Instituto Federal - EJA">
      <a:dk1>
        <a:srgbClr val="1E2B22"/>
      </a:dk1>
      <a:lt1>
        <a:srgbClr val="FFFFFF"/>
      </a:lt1>
      <a:dk2>
        <a:srgbClr val="1B5E20"/>
      </a:dk2>
      <a:lt2>
        <a:srgbClr val="EAF5EC"/>
      </a:lt2>
      <a:accent1>
        <a:srgbClr val="2F9E41"/>
      </a:accent1>
      <a:accent2>
        <a:srgbClr val="C8191E"/>
      </a:accent2>
      <a:accent3>
        <a:srgbClr val="F2A900"/>
      </a:accent3>
      <a:accent4>
        <a:srgbClr val="0B6E8C"/>
      </a:accent4>
      <a:accent5>
        <a:srgbClr val="5F6B62"/>
      </a:accent5>
      <a:accent6>
        <a:srgbClr val="A5D6A7"/>
      </a:accent6>
      <a:hlink>
        <a:srgbClr val="0B6E8C"/>
      </a:hlink>
      <a:folHlink>
        <a:srgbClr val="6A1B9A"/>
      </a:folHlink>
    </a:clrScheme>
    <a:fontScheme name="Instituto Federal - EJ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de Computadores - Informática EJA</dc:title>
  <dc:subject>1.5 Redes de computadores</dc:subject>
  <dc:creator>PptxGenJS</dc:creator>
  <cp:lastModifiedBy>PptxGenJS</cp:lastModifiedBy>
  <cp:revision>1</cp:revision>
  <dcterms:created xsi:type="dcterms:W3CDTF">2026-10-09T23:45:17Z</dcterms:created>
  <dcterms:modified xsi:type="dcterms:W3CDTF">2026-10-09T23:45:17Z</dcterms:modified>
</cp:coreProperties>
</file>